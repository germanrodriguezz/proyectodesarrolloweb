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y="5143500" cx="9144000"/>
  <p:notesSz cx="6858000" cy="9144000"/>
  <p:embeddedFontLst>
    <p:embeddedFont>
      <p:font typeface="Helvetica Neue"/>
      <p:regular r:id="rId47"/>
      <p:bold r:id="rId48"/>
      <p:italic r:id="rId49"/>
      <p:boldItalic r:id="rId50"/>
    </p:embeddedFont>
    <p:embeddedFont>
      <p:font typeface="Helvetica Neue Light"/>
      <p:regular r:id="rId51"/>
      <p:bold r:id="rId52"/>
      <p:italic r:id="rId53"/>
      <p:boldItalic r:id="rId54"/>
    </p:embeddedFont>
    <p:embeddedFont>
      <p:font typeface="Roboto Mono"/>
      <p:regular r:id="rId55"/>
      <p:bold r:id="rId56"/>
      <p:italic r:id="rId57"/>
      <p:boldItalic r:id="rId58"/>
    </p:embeddedFont>
    <p:embeddedFont>
      <p:font typeface="DM Sans"/>
      <p:regular r:id="rId59"/>
      <p:bold r:id="rId60"/>
      <p:italic r:id="rId61"/>
      <p:boldItalic r:id="rId6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95">
          <p15:clr>
            <a:srgbClr val="A4A3A4"/>
          </p15:clr>
        </p15:guide>
        <p15:guide id="2" pos="5460">
          <p15:clr>
            <a:srgbClr val="A4A3A4"/>
          </p15:clr>
        </p15:guide>
        <p15:guide id="3" pos="300">
          <p15:clr>
            <a:srgbClr val="9AA0A6"/>
          </p15:clr>
        </p15:guide>
        <p15:guide id="4" orient="horz" pos="2892">
          <p15:clr>
            <a:srgbClr val="9AA0A6"/>
          </p15:clr>
        </p15:guide>
      </p15:sldGuideLst>
    </p:ext>
    <p:ext uri="GoogleSlidesCustomDataVersion2">
      <go:slidesCustomData xmlns:go="http://customooxmlschemas.google.com/" r:id="rId63" roundtripDataSignature="AMtx7mifxQtxdKHumlKqWpPFmd0YDfTQy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95" orient="horz"/>
        <p:guide pos="5460"/>
        <p:guide pos="300"/>
        <p:guide pos="2892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HelveticaNeue-bold.fntdata"/><Relationship Id="rId47" Type="http://schemas.openxmlformats.org/officeDocument/2006/relationships/font" Target="fonts/HelveticaNeue-regular.fntdata"/><Relationship Id="rId49" Type="http://schemas.openxmlformats.org/officeDocument/2006/relationships/font" Target="fonts/HelveticaNeue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DMSans-boldItalic.fntdata"/><Relationship Id="rId61" Type="http://schemas.openxmlformats.org/officeDocument/2006/relationships/font" Target="fonts/DMSans-italic.fntdata"/><Relationship Id="rId20" Type="http://schemas.openxmlformats.org/officeDocument/2006/relationships/slide" Target="slides/slide14.xml"/><Relationship Id="rId63" Type="http://customschemas.google.com/relationships/presentationmetadata" Target="meta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font" Target="fonts/DMSans-bold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HelveticaNeueLight-regular.fntdata"/><Relationship Id="rId50" Type="http://schemas.openxmlformats.org/officeDocument/2006/relationships/font" Target="fonts/HelveticaNeue-boldItalic.fntdata"/><Relationship Id="rId53" Type="http://schemas.openxmlformats.org/officeDocument/2006/relationships/font" Target="fonts/HelveticaNeueLight-italic.fntdata"/><Relationship Id="rId52" Type="http://schemas.openxmlformats.org/officeDocument/2006/relationships/font" Target="fonts/HelveticaNeueLight-bold.fntdata"/><Relationship Id="rId11" Type="http://schemas.openxmlformats.org/officeDocument/2006/relationships/slide" Target="slides/slide5.xml"/><Relationship Id="rId55" Type="http://schemas.openxmlformats.org/officeDocument/2006/relationships/font" Target="fonts/RobotoMono-regular.fntdata"/><Relationship Id="rId10" Type="http://schemas.openxmlformats.org/officeDocument/2006/relationships/slide" Target="slides/slide4.xml"/><Relationship Id="rId54" Type="http://schemas.openxmlformats.org/officeDocument/2006/relationships/font" Target="fonts/HelveticaNeueLight-boldItalic.fntdata"/><Relationship Id="rId13" Type="http://schemas.openxmlformats.org/officeDocument/2006/relationships/slide" Target="slides/slide7.xml"/><Relationship Id="rId57" Type="http://schemas.openxmlformats.org/officeDocument/2006/relationships/font" Target="fonts/RobotoMono-italic.fntdata"/><Relationship Id="rId12" Type="http://schemas.openxmlformats.org/officeDocument/2006/relationships/slide" Target="slides/slide6.xml"/><Relationship Id="rId56" Type="http://schemas.openxmlformats.org/officeDocument/2006/relationships/font" Target="fonts/RobotoMono-bold.fntdata"/><Relationship Id="rId15" Type="http://schemas.openxmlformats.org/officeDocument/2006/relationships/slide" Target="slides/slide9.xml"/><Relationship Id="rId59" Type="http://schemas.openxmlformats.org/officeDocument/2006/relationships/font" Target="fonts/DMSans-regular.fntdata"/><Relationship Id="rId14" Type="http://schemas.openxmlformats.org/officeDocument/2006/relationships/slide" Target="slides/slide8.xml"/><Relationship Id="rId58" Type="http://schemas.openxmlformats.org/officeDocument/2006/relationships/font" Target="fonts/RobotoMono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Colocar todas las clases.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Utilizar esta slide para Live Session </a:t>
            </a:r>
            <a:r>
              <a:rPr lang="es">
                <a:solidFill>
                  <a:schemeClr val="dk1"/>
                </a:solidFill>
                <a:highlight>
                  <a:srgbClr val="DEFC52"/>
                </a:highlight>
                <a:latin typeface="DM Sans"/>
                <a:ea typeface="DM Sans"/>
                <a:cs typeface="DM Sans"/>
                <a:sym typeface="DM Sans"/>
              </a:rPr>
              <a:t>(OPCIÓN DASH)</a:t>
            </a:r>
            <a:endParaRPr>
              <a:highlight>
                <a:srgbClr val="DEFC52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Obligatoria siempre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highlight>
                <a:srgbClr val="DEFC52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11f1f2806b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g211f1f2806b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66164292fe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g366164292fe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66164292fe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g366164292fe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66164292fe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g366164292fe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66164292fe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g366164292fe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11f1f2806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g211f1f2806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highlight>
                <a:srgbClr val="DEFC52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latin typeface="DM Sans"/>
                <a:ea typeface="DM Sans"/>
                <a:cs typeface="DM Sans"/>
                <a:sym typeface="DM Sans"/>
              </a:rPr>
              <a:t>Profesor considerar que: Este micro desafío permitiría a los estudiantes practicar las pseudoclases básicas de CSS y aprender a utilizar Bootstrap para crear diseños responsive y añadir estilos predefinidos a los elementos de la página. 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i="1" lang="es">
                <a:latin typeface="DM Sans"/>
                <a:ea typeface="DM Sans"/>
                <a:cs typeface="DM Sans"/>
                <a:sym typeface="DM Sans"/>
              </a:rPr>
              <a:t>Profesor: La idea aquí es repasar la instalación de Git y resolver cualquier duda que haya quedado entre los estudiantes</a:t>
            </a:r>
            <a:endParaRPr i="1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i="1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i="1" lang="es">
                <a:latin typeface="DM Sans"/>
                <a:ea typeface="DM Sans"/>
                <a:cs typeface="DM Sans"/>
                <a:sym typeface="DM Sans"/>
              </a:rPr>
              <a:t>Profesor: Aqui es clave poder mostrar git init, git add, git status, git commit -m “”, para poder recorrer el flujo y utilización de la herramienta</a:t>
            </a:r>
            <a:endParaRPr i="1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i="1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Actividades individuales. </a:t>
            </a:r>
            <a:r>
              <a:rPr lang="es">
                <a:solidFill>
                  <a:schemeClr val="dk1"/>
                </a:solidFill>
                <a:highlight>
                  <a:srgbClr val="EA90FF"/>
                </a:highlight>
                <a:latin typeface="DM Sans"/>
                <a:ea typeface="DM Sans"/>
                <a:cs typeface="DM Sans"/>
                <a:sym typeface="DM Sans"/>
              </a:rPr>
              <a:t>Profe/tutor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: La duración que se sugiere para que los</a:t>
            </a:r>
            <a:r>
              <a:rPr b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estudiantes realicen la actividad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es de 15 minutos. A ellos se le suman </a:t>
            </a:r>
            <a:r>
              <a:rPr lang="es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5 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 </a:t>
            </a:r>
            <a:r>
              <a:rPr b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puesta en común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 Por ello, el total dedicado a la actividad completa será de aproximadamente 10 </a:t>
            </a:r>
            <a:r>
              <a:rPr b="1" lang="es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minutos.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66164292fe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g366164292fe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El objetivo de esta práctica no es repetir lo ya visto, sino </a:t>
            </a:r>
            <a:r>
              <a:rPr b="1" lang="es">
                <a:solidFill>
                  <a:schemeClr val="dk1"/>
                </a:solidFill>
              </a:rPr>
              <a:t>entrenar la confianza en Git</a:t>
            </a:r>
            <a:r>
              <a:rPr lang="es">
                <a:solidFill>
                  <a:schemeClr val="dk1"/>
                </a:solidFill>
              </a:rPr>
              <a:t>, entendiendo cómo recuperar el control del proyecto incluso cuando se cometen errores.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8394554c3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g38394554c3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El objetivo de esta práctica no es repetir lo ya visto, sino </a:t>
            </a:r>
            <a:r>
              <a:rPr b="1" lang="es">
                <a:solidFill>
                  <a:schemeClr val="dk1"/>
                </a:solidFill>
              </a:rPr>
              <a:t>entrenar la confianza en Git</a:t>
            </a:r>
            <a:r>
              <a:rPr lang="es">
                <a:solidFill>
                  <a:schemeClr val="dk1"/>
                </a:solidFill>
              </a:rPr>
              <a:t>, entendiendo cómo recuperar el control del proyecto incluso cuando se cometen errores.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9b48d9e5a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g39b48d9e5a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El objetivo de esta práctica no es repetir lo ya visto, sino </a:t>
            </a:r>
            <a:r>
              <a:rPr b="1" lang="es">
                <a:solidFill>
                  <a:schemeClr val="dk1"/>
                </a:solidFill>
              </a:rPr>
              <a:t>entrenar la confianza en Git</a:t>
            </a:r>
            <a:r>
              <a:rPr lang="es">
                <a:solidFill>
                  <a:schemeClr val="dk1"/>
                </a:solidFill>
              </a:rPr>
              <a:t>, entendiendo cómo recuperar el control del proyecto incluso cuando se cometen errores.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9b48d9e5a4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g39b48d9e5a4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El objetivo de esta práctica no es repetir lo ya visto, sino </a:t>
            </a:r>
            <a:r>
              <a:rPr b="1" lang="es">
                <a:solidFill>
                  <a:schemeClr val="dk1"/>
                </a:solidFill>
              </a:rPr>
              <a:t>entrenar la confianza en Git</a:t>
            </a:r>
            <a:r>
              <a:rPr lang="es">
                <a:solidFill>
                  <a:schemeClr val="dk1"/>
                </a:solidFill>
              </a:rPr>
              <a:t>, entendiendo cómo recuperar el control del proyecto incluso cuando se cometen errores.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1" name="Google Shape;31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i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Profesor, considerar los siguientes pasos:</a:t>
            </a:r>
            <a:endParaRPr i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"/>
              <a:buAutoNum type="arabicPeriod"/>
            </a:pPr>
            <a:r>
              <a:rPr i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Utiliza git init, git add + archivo con cambios y git add . (punto) para ver la diferencia entre ambos </a:t>
            </a:r>
            <a:endParaRPr i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"/>
              <a:buAutoNum type="arabicPeriod"/>
            </a:pPr>
            <a:r>
              <a:rPr i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git status y git log para tener conocimiento de las versiones</a:t>
            </a:r>
            <a:endParaRPr i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"/>
              <a:buAutoNum type="arabicPeriod"/>
            </a:pPr>
            <a:r>
              <a:rPr i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git log –oneline para acomodar el contenido </a:t>
            </a:r>
            <a:endParaRPr i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i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1" name="Google Shape;32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latin typeface="DM Sans"/>
                <a:ea typeface="DM Sans"/>
                <a:cs typeface="DM Sans"/>
                <a:sym typeface="DM Sans"/>
              </a:rPr>
              <a:t>Considerar dar 5 o 10 minutos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7" name="Google Shape;32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Actividades individuales. </a:t>
            </a:r>
            <a:r>
              <a:rPr lang="es">
                <a:solidFill>
                  <a:schemeClr val="dk1"/>
                </a:solidFill>
                <a:highlight>
                  <a:srgbClr val="EA90FF"/>
                </a:highlight>
                <a:latin typeface="DM Sans"/>
                <a:ea typeface="DM Sans"/>
                <a:cs typeface="DM Sans"/>
                <a:sym typeface="DM Sans"/>
              </a:rPr>
              <a:t>Profe/tutor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: La duración que se sugiere para que los</a:t>
            </a:r>
            <a:r>
              <a:rPr b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estudiantes realicen la actividad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es de 15 minutos. A ellos se le suman </a:t>
            </a:r>
            <a:r>
              <a:rPr lang="es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5 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 </a:t>
            </a:r>
            <a:r>
              <a:rPr b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puesta en común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 Por ello, el total dedicado a la actividad completa será de aproximadamente 10 </a:t>
            </a:r>
            <a:r>
              <a:rPr b="1" lang="es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minutos.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9" name="Google Shape;339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3" name="Google Shape;353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i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Profesor, considerar los siguientes pasos:</a:t>
            </a:r>
            <a:endParaRPr i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"/>
              <a:buAutoNum type="arabicPeriod"/>
            </a:pPr>
            <a:r>
              <a:rPr i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Crear una rama nueva desde la rama principal de tu repositorio local utilizando el comando git branch nueva-rama.</a:t>
            </a:r>
            <a:endParaRPr i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"/>
              <a:buAutoNum type="arabicPeriod"/>
            </a:pPr>
            <a:r>
              <a:rPr i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Realizar algunos cambios en tus archivos en esa nueva rama, ya sea modificando el contenido o agregando archivos nuevos utilizando los comandos de Git como git add y git commit.</a:t>
            </a:r>
            <a:endParaRPr i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"/>
              <a:buAutoNum type="arabicPeriod"/>
            </a:pPr>
            <a:r>
              <a:rPr i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Regresar a la rama principal utilizando el comando git checkout nombre-rama-principal.</a:t>
            </a:r>
            <a:endParaRPr i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"/>
              <a:buAutoNum type="arabicPeriod"/>
            </a:pPr>
            <a:r>
              <a:rPr i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Fusionar la rama nueva que has creado con la principal utilizando el comando git merge nueva-rama.</a:t>
            </a:r>
            <a:endParaRPr i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"/>
              <a:buAutoNum type="arabicPeriod"/>
            </a:pPr>
            <a:r>
              <a:rPr i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Verificar que los cambios se hayan fusionado correctamente en la rama principal y que no haya conflictos utilizando el comando git log.</a:t>
            </a:r>
            <a:endParaRPr i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3" name="Google Shape;363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i="1" lang="es">
                <a:latin typeface="DM Sans"/>
                <a:ea typeface="DM Sans"/>
                <a:cs typeface="DM Sans"/>
                <a:sym typeface="DM Sans"/>
              </a:rPr>
              <a:t>Profesor: Aqui es clave poder mostrar Git merge, Git reset y Git rebase</a:t>
            </a:r>
            <a:endParaRPr i="1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i="1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i="1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6" name="Google Shape;376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Actividades individuales. </a:t>
            </a:r>
            <a:r>
              <a:rPr lang="es">
                <a:solidFill>
                  <a:schemeClr val="dk1"/>
                </a:solidFill>
                <a:highlight>
                  <a:srgbClr val="EA90FF"/>
                </a:highlight>
                <a:latin typeface="DM Sans"/>
                <a:ea typeface="DM Sans"/>
                <a:cs typeface="DM Sans"/>
                <a:sym typeface="DM Sans"/>
              </a:rPr>
              <a:t>Profe/tutor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: La duración que se sugiere para que los</a:t>
            </a:r>
            <a:r>
              <a:rPr b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estudiantes realicen la actividad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es de 10 minutos. A ellos se le suman </a:t>
            </a:r>
            <a:r>
              <a:rPr lang="es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5 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 </a:t>
            </a:r>
            <a:r>
              <a:rPr b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puesta en común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 Por ello, el total dedicado a la actividad completa será de aproximadamente 15 </a:t>
            </a:r>
            <a:r>
              <a:rPr b="1" lang="es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minutos.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" name="Google Shape;388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latin typeface="DM Sans"/>
                <a:ea typeface="DM Sans"/>
                <a:cs typeface="DM Sans"/>
                <a:sym typeface="DM Sans"/>
              </a:rPr>
              <a:t>Profesor: Recuerda que en este punto pueden surgir errores de configuración, el inicio de sesión y aceptación del uso en sus computadoras por primera vez. 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66164292f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2" name="Google Shape;402;g366164292f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latin typeface="DM Sans"/>
                <a:ea typeface="DM Sans"/>
                <a:cs typeface="DM Sans"/>
                <a:sym typeface="DM Sans"/>
              </a:rPr>
              <a:t>Profesor: Recuerda que en este punto pueden surgir errores de configuración, el inicio de sesión y aceptación del uso en sus computadoras por primera vez. 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66164292fe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5" name="Google Shape;415;g366164292f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latin typeface="DM Sans"/>
                <a:ea typeface="DM Sans"/>
                <a:cs typeface="DM Sans"/>
                <a:sym typeface="DM Sans"/>
              </a:rPr>
              <a:t>Profesor: Recuerda que en este punto pueden surgir errores de configuración, el inicio de sesión y aceptación del uso en sus computadoras por primera vez. 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66164292fe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8" name="Google Shape;428;g366164292fe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latin typeface="DM Sans"/>
                <a:ea typeface="DM Sans"/>
                <a:cs typeface="DM Sans"/>
                <a:sym typeface="DM Sans"/>
              </a:rPr>
              <a:t>Profesor: Recuerda que en este punto pueden surgir errores de configuración, el inicio de sesión y aceptación del uso en sus computadoras por primera vez. 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0" name="Google Shape;440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highlight>
                <a:srgbClr val="EA90FF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6" name="Google Shape;446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i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Profesor, considerar los siguientes pasos:</a:t>
            </a:r>
            <a:endParaRPr i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"/>
              <a:buAutoNum type="arabicPeriod"/>
            </a:pPr>
            <a:r>
              <a:rPr i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Compartir el enlace al repositorio creado en GitHub con el grupo o el instructor para que puedan revisarlo.</a:t>
            </a:r>
            <a:endParaRPr i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"/>
              <a:buAutoNum type="arabicPeriod"/>
            </a:pPr>
            <a:r>
              <a:rPr i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Conecta de manera remota siguiendo los pasos de github, ese repositorio con tu proyecto local</a:t>
            </a:r>
            <a:endParaRPr i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"/>
              <a:buAutoNum type="arabicPeriod"/>
            </a:pPr>
            <a:r>
              <a:rPr i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Muestra el proceso de creación del repositorio y vinculación con el proyecto, explicando los pasos que se siguieron y las configuraciones que se establecieron.</a:t>
            </a:r>
            <a:endParaRPr i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"/>
              <a:buAutoNum type="arabicPeriod"/>
            </a:pPr>
            <a:r>
              <a:rPr i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Invitar a otros miembros del grupo a colaborar en el repositorio y hacer pruebas de merge de ramas y resolución de conflictos en GitHub. </a:t>
            </a:r>
            <a:endParaRPr i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8394554c3f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6" name="Google Shape;456;g38394554c3f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highlight>
                  <a:srgbClr val="EA90FF"/>
                </a:highlight>
                <a:latin typeface="DM Sans"/>
                <a:ea typeface="DM Sans"/>
                <a:cs typeface="DM Sans"/>
                <a:sym typeface="DM Sans"/>
              </a:rPr>
              <a:t>Profesor: Aquí la idea es dejar en claro cómo se hará la entrega del primer preentregable y resolver todas las dudas que surjan al respecto.</a:t>
            </a:r>
            <a:endParaRPr>
              <a:highlight>
                <a:srgbClr val="EA90FF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2" name="Google Shape;462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Obligatoria siempre. Completar el resumen con palabras claves de lo visto. En caso de cerrar con el “mapa de conceptos” se puede sacar. 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8" name="Google Shape;468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Obligatoria siempre.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3" name="Google Shape;473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Todas las clases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66164292fe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8" name="Google Shape;478;g366164292fe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Todas las clases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9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5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9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5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Relationship Id="rId3" Type="http://schemas.openxmlformats.org/officeDocument/2006/relationships/image" Target="../media/image5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5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5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14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-A">
  <p:cSld name="SECTION_HEADER_1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42" title="logo coderhouse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-B">
  <p:cSld name="SECTION_HEADER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43" title="logo coderhouse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74775" y="4720250"/>
            <a:ext cx="1024025" cy="2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co 1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DM Sans"/>
              <a:buNone/>
              <a:defRPr b="1" sz="4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p4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elvetica Neue Light"/>
              <a:buNone/>
              <a:defRPr sz="20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pic>
        <p:nvPicPr>
          <p:cNvPr id="16" name="Google Shape;16;p46" title="logo CoderHouse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ndo blanco">
  <p:cSld name="SECTION_HEADER_1_1_1_1_1_1_1_1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47" title="logo coderhouse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-B 5">
  <p:cSld name="SECTION_HEADER_1_1_1_1_1_1_1_1_1_8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44" title="logo coderhouse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-B">
  <p:cSld name="SECTION_HEADER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45" title="logo coderhouse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-A">
  <p:cSld name="SECTION_HEADER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50" title="logo coderhouse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50"/>
          <p:cNvSpPr/>
          <p:nvPr/>
        </p:nvSpPr>
        <p:spPr>
          <a:xfrm>
            <a:off x="1089900" y="995400"/>
            <a:ext cx="6964200" cy="3152700"/>
          </a:xfrm>
          <a:prstGeom prst="rect">
            <a:avLst/>
          </a:prstGeom>
          <a:solidFill>
            <a:srgbClr val="B5B5B5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 imagen">
  <p:cSld name="SECTION_HEADER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1"/>
          <p:cNvSpPr/>
          <p:nvPr/>
        </p:nvSpPr>
        <p:spPr>
          <a:xfrm>
            <a:off x="6592475" y="0"/>
            <a:ext cx="2551500" cy="5143500"/>
          </a:xfrm>
          <a:prstGeom prst="rect">
            <a:avLst/>
          </a:prstGeom>
          <a:solidFill>
            <a:srgbClr val="EAFF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" name="Google Shape;28;p51" title="logo coderhouse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-A 1">
  <p:cSld name="SECTION_HEADER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52" title="logo coderhouse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-B 1">
  <p:cSld name="SECTION_HEADER_1_2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53" title="logo coderhouse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74775" y="4720250"/>
            <a:ext cx="1024025" cy="2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adro">
  <p:cSld name="SECTION_HEADER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4" title="logo coderhouse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-B">
  <p:cSld name="SECTION_HEADER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49" title="logo coderhouse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74775" y="4720250"/>
            <a:ext cx="1024025" cy="2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co 1" type="title">
  <p:cSld name="TITLE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DM Sans"/>
              <a:buNone/>
              <a:defRPr b="1" sz="4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3" name="Google Shape;43;p5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elvetica Neue Light"/>
              <a:buNone/>
              <a:defRPr sz="20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pic>
        <p:nvPicPr>
          <p:cNvPr id="44" name="Google Shape;44;p55" title="logo CoderHouse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-A">
  <p:cSld name="SECTION_HEADER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56" title="logo coderhouse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56"/>
          <p:cNvSpPr/>
          <p:nvPr/>
        </p:nvSpPr>
        <p:spPr>
          <a:xfrm>
            <a:off x="1089900" y="995400"/>
            <a:ext cx="6964200" cy="3152700"/>
          </a:xfrm>
          <a:prstGeom prst="rect">
            <a:avLst/>
          </a:prstGeom>
          <a:solidFill>
            <a:srgbClr val="B5B5B5">
              <a:alpha val="941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-A 1">
  <p:cSld name="SECTION_HEADER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57" title="logo coderhouse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adro">
  <p:cSld name="SECTION_HEADER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58" title="logo coderhouse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 imagen">
  <p:cSld name="SECTION_HEADER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9"/>
          <p:cNvSpPr/>
          <p:nvPr/>
        </p:nvSpPr>
        <p:spPr>
          <a:xfrm>
            <a:off x="6592475" y="0"/>
            <a:ext cx="2551500" cy="5143500"/>
          </a:xfrm>
          <a:prstGeom prst="rect">
            <a:avLst/>
          </a:prstGeom>
          <a:solidFill>
            <a:srgbClr val="EAFF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" name="Google Shape;54;p59" title="logo coderhouse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ndo blanco">
  <p:cSld name="SECTION_HEADER_1_1_1_1_1_1_1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60" title="logo coderhouse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-B">
  <p:cSld name="SECTION_HEADER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61" title="logo coderhouse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-A">
  <p:cSld name="SECTION_HEADER_1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62" title="logo coderhouse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-B 5">
  <p:cSld name="SECTION_HEADER_1_1_1_1_1_1_1_1_1_8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63" title="logo coderhouse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-B 1">
  <p:cSld name="SECTION_HEADER_1_2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64" title="logo coderhouse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74775" y="4720250"/>
            <a:ext cx="1024025" cy="2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" name="Google Shape;37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" name="Google Shape;38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1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5.jpg"/><Relationship Id="rId4" Type="http://schemas.openxmlformats.org/officeDocument/2006/relationships/image" Target="../media/image12.png"/><Relationship Id="rId5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Relationship Id="rId4" Type="http://schemas.openxmlformats.org/officeDocument/2006/relationships/image" Target="../media/image2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jpg"/><Relationship Id="rId4" Type="http://schemas.openxmlformats.org/officeDocument/2006/relationships/image" Target="../media/image12.png"/><Relationship Id="rId5" Type="http://schemas.openxmlformats.org/officeDocument/2006/relationships/image" Target="../media/image5.png"/><Relationship Id="rId6" Type="http://schemas.openxmlformats.org/officeDocument/2006/relationships/hyperlink" Target="https://unsplash.com/es/fotos/Bss5nhYnLKU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9.jpg"/><Relationship Id="rId4" Type="http://schemas.openxmlformats.org/officeDocument/2006/relationships/image" Target="../media/image12.png"/><Relationship Id="rId5" Type="http://schemas.openxmlformats.org/officeDocument/2006/relationships/image" Target="../media/image5.png"/><Relationship Id="rId6" Type="http://schemas.openxmlformats.org/officeDocument/2006/relationships/hyperlink" Target="https://unsplash.com/es/fotos/Bss5nhYnLKU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9.jpg"/><Relationship Id="rId4" Type="http://schemas.openxmlformats.org/officeDocument/2006/relationships/image" Target="../media/image12.png"/><Relationship Id="rId5" Type="http://schemas.openxmlformats.org/officeDocument/2006/relationships/image" Target="../media/image5.png"/><Relationship Id="rId6" Type="http://schemas.openxmlformats.org/officeDocument/2006/relationships/hyperlink" Target="https://unsplash.com/es/fotos/Bss5nhYnLKU" TargetMode="Externa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2.png"/><Relationship Id="rId4" Type="http://schemas.openxmlformats.org/officeDocument/2006/relationships/image" Target="../media/image5.png"/><Relationship Id="rId5" Type="http://schemas.openxmlformats.org/officeDocument/2006/relationships/image" Target="../media/image2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"/>
          <p:cNvSpPr txBox="1"/>
          <p:nvPr/>
        </p:nvSpPr>
        <p:spPr>
          <a:xfrm>
            <a:off x="1461300" y="1925250"/>
            <a:ext cx="6221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" sz="4000" u="none" cap="none" strike="noStrike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¡Les damos la bienvenida!</a:t>
            </a:r>
            <a:endParaRPr b="1" i="0" sz="4000" u="none" cap="none" strike="noStrike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0" name="Google Shape;70;p1"/>
          <p:cNvSpPr txBox="1"/>
          <p:nvPr/>
        </p:nvSpPr>
        <p:spPr>
          <a:xfrm>
            <a:off x="3315900" y="3421350"/>
            <a:ext cx="2512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¿Comenzamos?</a:t>
            </a:r>
            <a:endParaRPr b="0" i="0" sz="20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descr="Man Dancing on Apple iOS 12.2" id="71" name="Google Shape;7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33900" y="808750"/>
            <a:ext cx="876200" cy="8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62988" y="3567300"/>
            <a:ext cx="3818026" cy="157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"/>
          <p:cNvSpPr/>
          <p:nvPr/>
        </p:nvSpPr>
        <p:spPr>
          <a:xfrm>
            <a:off x="3080700" y="2547525"/>
            <a:ext cx="2982600" cy="7938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2"/>
          <p:cNvSpPr txBox="1"/>
          <p:nvPr/>
        </p:nvSpPr>
        <p:spPr>
          <a:xfrm>
            <a:off x="1461300" y="1802163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" sz="40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Esta clase va a ser</a:t>
            </a:r>
            <a:endParaRPr b="1" i="0" sz="4000" u="none" cap="none" strike="noStrike">
              <a:solidFill>
                <a:srgbClr val="DEFC5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9" name="Google Shape;79;p2"/>
          <p:cNvSpPr txBox="1"/>
          <p:nvPr/>
        </p:nvSpPr>
        <p:spPr>
          <a:xfrm>
            <a:off x="3655975" y="2541075"/>
            <a:ext cx="2467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" sz="4000" u="none" cap="none" strike="noStrike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grabada</a:t>
            </a:r>
            <a:endParaRPr b="1" i="0" sz="4000" u="none" cap="none" strike="noStrike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0" name="Google Shape;80;p2"/>
          <p:cNvSpPr/>
          <p:nvPr/>
        </p:nvSpPr>
        <p:spPr>
          <a:xfrm>
            <a:off x="3293875" y="2844525"/>
            <a:ext cx="199800" cy="199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"/>
          <p:cNvSpPr txBox="1"/>
          <p:nvPr/>
        </p:nvSpPr>
        <p:spPr>
          <a:xfrm>
            <a:off x="2356491" y="1427150"/>
            <a:ext cx="4431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i="0" lang="es" sz="4000" u="none" cap="none" strike="noStrike">
                <a:solidFill>
                  <a:schemeClr val="accent6"/>
                </a:solidFill>
                <a:latin typeface="DM Sans"/>
                <a:ea typeface="DM Sans"/>
                <a:cs typeface="DM Sans"/>
                <a:sym typeface="DM Sans"/>
              </a:rPr>
              <a:t>Clase práctica en vivo</a:t>
            </a:r>
            <a:endParaRPr b="1" i="0" sz="4000" u="none" cap="none" strike="noStrike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6" name="Google Shape;86;p3"/>
          <p:cNvSpPr txBox="1"/>
          <p:nvPr/>
        </p:nvSpPr>
        <p:spPr>
          <a:xfrm>
            <a:off x="3124950" y="2897100"/>
            <a:ext cx="28941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s" sz="135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¿Comenzamos?</a:t>
            </a:r>
            <a:endParaRPr b="0" i="0" sz="135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7" name="Google Shape;87;p3"/>
          <p:cNvSpPr txBox="1"/>
          <p:nvPr/>
        </p:nvSpPr>
        <p:spPr>
          <a:xfrm>
            <a:off x="467600" y="471175"/>
            <a:ext cx="52968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s" sz="13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DESARROLLO WEB</a:t>
            </a:r>
            <a:endParaRPr b="0" i="0" sz="1350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88" name="Google Shape;8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2988" y="3567300"/>
            <a:ext cx="3818026" cy="157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"/>
          <p:cNvSpPr txBox="1"/>
          <p:nvPr/>
        </p:nvSpPr>
        <p:spPr>
          <a:xfrm>
            <a:off x="1461300" y="2252975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" sz="4000" u="none" cap="none" strike="noStrike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Git y GitHub</a:t>
            </a:r>
            <a:endParaRPr b="1" i="0" sz="4000" u="none" cap="none" strike="noStrike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4" name="Google Shape;94;p4"/>
          <p:cNvSpPr txBox="1"/>
          <p:nvPr/>
        </p:nvSpPr>
        <p:spPr>
          <a:xfrm>
            <a:off x="1461300" y="1665250"/>
            <a:ext cx="622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Unidad </a:t>
            </a:r>
            <a:r>
              <a:rPr b="1" lang="es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6</a:t>
            </a:r>
            <a:r>
              <a:rPr b="1" i="0" lang="es" sz="18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r>
              <a:rPr b="0" i="0" lang="es" sz="18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DESARROLLO WEB</a:t>
            </a:r>
            <a:endParaRPr b="0" i="0" sz="16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95" name="Google Shape;9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2988" y="3567300"/>
            <a:ext cx="3818026" cy="157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7"/>
          <p:cNvGrpSpPr/>
          <p:nvPr/>
        </p:nvGrpSpPr>
        <p:grpSpPr>
          <a:xfrm>
            <a:off x="4202551" y="1088764"/>
            <a:ext cx="738900" cy="738974"/>
            <a:chOff x="974706" y="2467173"/>
            <a:chExt cx="738900" cy="738900"/>
          </a:xfrm>
        </p:grpSpPr>
        <p:sp>
          <p:nvSpPr>
            <p:cNvPr id="101" name="Google Shape;101;p7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rgbClr val="EAFF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02" name="Google Shape;102;p7" title="ícono de actividad en clase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3" name="Google Shape;103;p7"/>
          <p:cNvSpPr txBox="1"/>
          <p:nvPr/>
        </p:nvSpPr>
        <p:spPr>
          <a:xfrm>
            <a:off x="714263" y="2082050"/>
            <a:ext cx="7715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" sz="4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Respaldando la información</a:t>
            </a:r>
            <a:endParaRPr b="1" i="0" sz="4000" u="none" cap="none" strike="noStrike">
              <a:solidFill>
                <a:schemeClr val="dk1"/>
              </a:solidFill>
              <a:highlight>
                <a:srgbClr val="EAFF6A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4" name="Google Shape;104;p7"/>
          <p:cNvSpPr txBox="1"/>
          <p:nvPr/>
        </p:nvSpPr>
        <p:spPr>
          <a:xfrm>
            <a:off x="987300" y="3287388"/>
            <a:ext cx="716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rPr>
              <a:t>¡Vamos a recuperar lo trabajado durante la semana! </a:t>
            </a:r>
            <a:endParaRPr b="0" i="0" sz="2000" u="none" cap="none" strike="noStrike">
              <a:solidFill>
                <a:srgbClr val="999999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5" name="Google Shape;105;p7"/>
          <p:cNvSpPr txBox="1"/>
          <p:nvPr/>
        </p:nvSpPr>
        <p:spPr>
          <a:xfrm>
            <a:off x="987300" y="3849138"/>
            <a:ext cx="7169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rgbClr val="83AEFB"/>
                </a:solidFill>
                <a:latin typeface="DM Sans"/>
                <a:ea typeface="DM Sans"/>
                <a:cs typeface="DM Sans"/>
                <a:sym typeface="DM Sans"/>
              </a:rPr>
              <a:t>Duración: </a:t>
            </a:r>
            <a:r>
              <a:rPr b="1" i="0" lang="es" sz="1800" u="none" cap="none" strike="noStrike">
                <a:solidFill>
                  <a:srgbClr val="83AEFB"/>
                </a:solidFill>
                <a:latin typeface="DM Sans"/>
                <a:ea typeface="DM Sans"/>
                <a:cs typeface="DM Sans"/>
                <a:sym typeface="DM Sans"/>
              </a:rPr>
              <a:t>10 minutos</a:t>
            </a:r>
            <a:r>
              <a:rPr b="0" i="0" lang="es" sz="1800" u="none" cap="none" strike="noStrike">
                <a:solidFill>
                  <a:srgbClr val="83AEFB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b="0" i="0" sz="1800" u="none" cap="none" strike="noStrike">
              <a:solidFill>
                <a:srgbClr val="83AEF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06" name="Google Shape;106;p7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107" name="Google Shape;107;p7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8" name="Google Shape;108;p7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6919" y="-6775"/>
            <a:ext cx="3428163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4" name="Google Shape;114;p8"/>
          <p:cNvGrpSpPr/>
          <p:nvPr/>
        </p:nvGrpSpPr>
        <p:grpSpPr>
          <a:xfrm>
            <a:off x="475504" y="468236"/>
            <a:ext cx="431074" cy="431148"/>
            <a:chOff x="974706" y="2467173"/>
            <a:chExt cx="738900" cy="738900"/>
          </a:xfrm>
        </p:grpSpPr>
        <p:sp>
          <p:nvSpPr>
            <p:cNvPr id="115" name="Google Shape;115;p8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rgbClr val="EAFF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16" name="Google Shape;116;p8" title="ícono de actividad en clase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7" name="Google Shape;117;p8"/>
          <p:cNvSpPr txBox="1"/>
          <p:nvPr/>
        </p:nvSpPr>
        <p:spPr>
          <a:xfrm>
            <a:off x="548250" y="1127563"/>
            <a:ext cx="49872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" sz="4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Respaldando la información</a:t>
            </a:r>
            <a:endParaRPr b="1" i="0" sz="40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18" name="Google Shape;118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8"/>
          <p:cNvSpPr txBox="1"/>
          <p:nvPr/>
        </p:nvSpPr>
        <p:spPr>
          <a:xfrm>
            <a:off x="930550" y="468275"/>
            <a:ext cx="3823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ACTIVIDAD</a:t>
            </a:r>
            <a:endParaRPr b="0" i="0" sz="16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0" name="Google Shape;120;p8"/>
          <p:cNvSpPr txBox="1"/>
          <p:nvPr/>
        </p:nvSpPr>
        <p:spPr>
          <a:xfrm>
            <a:off x="548250" y="2648750"/>
            <a:ext cx="4753200" cy="8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35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Vamos a respaldar nuestro proyecto con Git y GitHub en </a:t>
            </a:r>
            <a:r>
              <a:rPr b="1" i="0" lang="es" sz="135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3 bloques principales</a:t>
            </a:r>
            <a:r>
              <a:rPr b="0" i="0" lang="es" sz="135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b="0" i="0" sz="135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oogle Shape;125;g211f1f2806b_0_13"/>
          <p:cNvGrpSpPr/>
          <p:nvPr/>
        </p:nvGrpSpPr>
        <p:grpSpPr>
          <a:xfrm>
            <a:off x="475504" y="468237"/>
            <a:ext cx="431074" cy="431148"/>
            <a:chOff x="974706" y="2467173"/>
            <a:chExt cx="738900" cy="738900"/>
          </a:xfrm>
        </p:grpSpPr>
        <p:sp>
          <p:nvSpPr>
            <p:cNvPr id="126" name="Google Shape;126;g211f1f2806b_0_13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rgbClr val="EAFF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27" name="Google Shape;127;g211f1f2806b_0_13" title="ícono de actividad en clase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8" name="Google Shape;128;g211f1f2806b_0_13"/>
          <p:cNvSpPr txBox="1"/>
          <p:nvPr/>
        </p:nvSpPr>
        <p:spPr>
          <a:xfrm>
            <a:off x="475500" y="1154038"/>
            <a:ext cx="57903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" sz="4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Bloque 1: Crear repositorio y clonar</a:t>
            </a:r>
            <a:endParaRPr b="1" i="0" sz="40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29" name="Google Shape;129;g211f1f2806b_0_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g211f1f2806b_0_13"/>
          <p:cNvSpPr txBox="1"/>
          <p:nvPr/>
        </p:nvSpPr>
        <p:spPr>
          <a:xfrm>
            <a:off x="930550" y="468275"/>
            <a:ext cx="3823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ACTIVIDAD</a:t>
            </a:r>
            <a:endParaRPr b="0" i="0" sz="16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1" name="Google Shape;131;g211f1f2806b_0_13"/>
          <p:cNvSpPr txBox="1"/>
          <p:nvPr/>
        </p:nvSpPr>
        <p:spPr>
          <a:xfrm>
            <a:off x="476250" y="2701700"/>
            <a:ext cx="6263400" cy="13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4325" lvl="0" marL="45720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DM Sans"/>
              <a:buAutoNum type="arabicPeriod"/>
            </a:pPr>
            <a:r>
              <a:rPr b="0" i="0" lang="es" sz="135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Crea un nuevo repositorio en GitHub.</a:t>
            </a:r>
            <a:br>
              <a:rPr b="0" i="0" lang="es" sz="135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b="0" i="0" sz="135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432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DM Sans"/>
              <a:buAutoNum type="arabicPeriod"/>
            </a:pPr>
            <a:r>
              <a:rPr b="0" i="0" lang="es" sz="135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Clónalo en tu computadora:</a:t>
            </a:r>
            <a:endParaRPr b="0" i="0" sz="135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4325" lvl="2" marL="1371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1350"/>
              <a:buFont typeface="DM Sans"/>
              <a:buChar char="■"/>
            </a:pPr>
            <a:r>
              <a:rPr b="0" i="0" lang="es" sz="1350" u="none" cap="none" strike="noStrike">
                <a:solidFill>
                  <a:srgbClr val="188038"/>
                </a:solidFill>
                <a:highlight>
                  <a:srgbClr val="E8E7E3"/>
                </a:highlight>
                <a:latin typeface="DM Sans"/>
                <a:ea typeface="DM Sans"/>
                <a:cs typeface="DM Sans"/>
                <a:sym typeface="DM Sans"/>
              </a:rPr>
              <a:t>git clone https://github.com/usuario/mi-proyecto.git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g366164292fe_0_73"/>
          <p:cNvGrpSpPr/>
          <p:nvPr/>
        </p:nvGrpSpPr>
        <p:grpSpPr>
          <a:xfrm>
            <a:off x="475504" y="468238"/>
            <a:ext cx="431074" cy="431148"/>
            <a:chOff x="974706" y="2467173"/>
            <a:chExt cx="738900" cy="738900"/>
          </a:xfrm>
        </p:grpSpPr>
        <p:sp>
          <p:nvSpPr>
            <p:cNvPr id="137" name="Google Shape;137;g366164292fe_0_73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rgbClr val="EAFF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38" name="Google Shape;138;g366164292fe_0_73" title="ícono de actividad en clase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9" name="Google Shape;139;g366164292fe_0_73"/>
          <p:cNvSpPr txBox="1"/>
          <p:nvPr/>
        </p:nvSpPr>
        <p:spPr>
          <a:xfrm>
            <a:off x="475500" y="927125"/>
            <a:ext cx="49872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" sz="4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Bloque 2: Crear archivos y commit</a:t>
            </a:r>
            <a:endParaRPr b="1" i="0" sz="40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40" name="Google Shape;140;g366164292fe_0_7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g366164292fe_0_73"/>
          <p:cNvSpPr txBox="1"/>
          <p:nvPr/>
        </p:nvSpPr>
        <p:spPr>
          <a:xfrm>
            <a:off x="930550" y="468275"/>
            <a:ext cx="3823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ACTIVIDAD</a:t>
            </a:r>
            <a:endParaRPr b="0" i="0" sz="16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2" name="Google Shape;142;g366164292fe_0_73"/>
          <p:cNvSpPr txBox="1"/>
          <p:nvPr/>
        </p:nvSpPr>
        <p:spPr>
          <a:xfrm>
            <a:off x="600250" y="2440175"/>
            <a:ext cx="6263400" cy="19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4325" lvl="0" marL="45720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350"/>
              <a:buFont typeface="DM Sans"/>
              <a:buAutoNum type="arabicPeriod"/>
            </a:pPr>
            <a:r>
              <a:rPr b="0" i="0" lang="es" sz="135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Dentro del repositorio, crea un archivo </a:t>
            </a:r>
            <a:r>
              <a:rPr b="0" i="0" lang="es" sz="1350" u="none" cap="none" strike="noStrike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index.html</a:t>
            </a:r>
            <a:r>
              <a:rPr b="0" i="0" lang="es" sz="135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y un archivo </a:t>
            </a:r>
            <a:r>
              <a:rPr b="0" i="0" lang="es" sz="1350" u="none" cap="none" strike="noStrike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style.css</a:t>
            </a:r>
            <a:r>
              <a:rPr b="0" i="0" lang="es" sz="135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b="0" i="0" sz="135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432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DM Sans"/>
              <a:buAutoNum type="arabicPeriod"/>
            </a:pPr>
            <a:r>
              <a:rPr b="0" i="0" lang="es" sz="135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Añade código básico en cada archivo.</a:t>
            </a:r>
            <a:endParaRPr b="0" i="0" sz="135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432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DM Sans"/>
              <a:buAutoNum type="arabicPeriod"/>
            </a:pPr>
            <a:r>
              <a:rPr b="0" i="0" lang="es" sz="135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Guarda los cambios y súbelos al área de preparación y luego confirma:</a:t>
            </a:r>
            <a:endParaRPr b="0" i="0" sz="135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4325" lvl="2" marL="1371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1350"/>
              <a:buFont typeface="DM Sans"/>
              <a:buChar char="■"/>
            </a:pPr>
            <a:r>
              <a:rPr b="0" i="0" lang="es" sz="1350" u="none" cap="none" strike="noStrike">
                <a:solidFill>
                  <a:srgbClr val="188038"/>
                </a:solidFill>
                <a:highlight>
                  <a:srgbClr val="E8E7E3"/>
                </a:highlight>
                <a:latin typeface="DM Sans"/>
                <a:ea typeface="DM Sans"/>
                <a:cs typeface="DM Sans"/>
                <a:sym typeface="DM Sans"/>
              </a:rPr>
              <a:t>git add .</a:t>
            </a:r>
            <a:endParaRPr b="0" i="0" sz="1350" u="none" cap="none" strike="noStrike">
              <a:solidFill>
                <a:srgbClr val="188038"/>
              </a:solidFill>
              <a:highlight>
                <a:srgbClr val="E8E7E3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-314325" lvl="2" marL="1371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1350"/>
              <a:buFont typeface="DM Sans"/>
              <a:buChar char="■"/>
            </a:pPr>
            <a:r>
              <a:rPr b="0" i="0" lang="es" sz="1350" u="none" cap="none" strike="noStrike">
                <a:solidFill>
                  <a:srgbClr val="188038"/>
                </a:solidFill>
                <a:highlight>
                  <a:srgbClr val="E8E7E3"/>
                </a:highlight>
                <a:latin typeface="DM Sans"/>
                <a:ea typeface="DM Sans"/>
                <a:cs typeface="DM Sans"/>
                <a:sym typeface="DM Sans"/>
              </a:rPr>
              <a:t>git commit -m "Primer commit con HTML y CSS"</a:t>
            </a:r>
            <a:endParaRPr b="0" i="0" sz="1350" u="none" cap="none" strike="noStrike">
              <a:solidFill>
                <a:srgbClr val="188038"/>
              </a:solidFill>
              <a:highlight>
                <a:srgbClr val="E8E7E3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" name="Google Shape;147;g366164292fe_0_85"/>
          <p:cNvGrpSpPr/>
          <p:nvPr/>
        </p:nvGrpSpPr>
        <p:grpSpPr>
          <a:xfrm>
            <a:off x="475504" y="468238"/>
            <a:ext cx="431074" cy="431148"/>
            <a:chOff x="974706" y="2467173"/>
            <a:chExt cx="738900" cy="738900"/>
          </a:xfrm>
        </p:grpSpPr>
        <p:sp>
          <p:nvSpPr>
            <p:cNvPr id="148" name="Google Shape;148;g366164292fe_0_85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rgbClr val="EAFF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49" name="Google Shape;149;g366164292fe_0_85" title="ícono de actividad en clase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0" name="Google Shape;150;g366164292fe_0_85"/>
          <p:cNvSpPr txBox="1"/>
          <p:nvPr/>
        </p:nvSpPr>
        <p:spPr>
          <a:xfrm>
            <a:off x="475500" y="1067400"/>
            <a:ext cx="49872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" sz="4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Bloque 3: Rama, merge y push</a:t>
            </a:r>
            <a:endParaRPr b="1" i="0" sz="40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51" name="Google Shape;151;g366164292fe_0_8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66164292fe_0_85"/>
          <p:cNvSpPr txBox="1"/>
          <p:nvPr/>
        </p:nvSpPr>
        <p:spPr>
          <a:xfrm>
            <a:off x="930550" y="468275"/>
            <a:ext cx="3823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ACTIVIDAD</a:t>
            </a:r>
            <a:endParaRPr b="0" i="0" sz="16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3" name="Google Shape;153;g366164292fe_0_85"/>
          <p:cNvSpPr txBox="1"/>
          <p:nvPr/>
        </p:nvSpPr>
        <p:spPr>
          <a:xfrm>
            <a:off x="587650" y="2528425"/>
            <a:ext cx="6263400" cy="16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4325" lvl="0" marL="457200" marR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DM Sans"/>
              <a:buAutoNum type="arabicPeriod"/>
            </a:pPr>
            <a:r>
              <a:rPr b="0" i="0" lang="es" sz="135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Crea una nueva rama:</a:t>
            </a:r>
            <a:endParaRPr b="0" i="0" sz="135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4325" lvl="2" marL="13716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1350"/>
              <a:buFont typeface="DM Sans"/>
              <a:buChar char="■"/>
            </a:pPr>
            <a:r>
              <a:rPr b="0" i="0" lang="es" sz="1350" u="none" cap="none" strike="noStrike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git checkout -b nueva-funcionalidad</a:t>
            </a:r>
            <a:endParaRPr b="0" i="0" sz="1350" u="none" cap="none" strike="noStrike">
              <a:solidFill>
                <a:srgbClr val="18803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4325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50"/>
              <a:buFont typeface="DM Sans"/>
              <a:buAutoNum type="arabicPeriod"/>
            </a:pPr>
            <a:r>
              <a:rPr b="0" i="0" lang="es" sz="135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Añade un archivo </a:t>
            </a:r>
            <a:r>
              <a:rPr b="0" i="0" lang="es" sz="1350" u="none" cap="none" strike="noStrike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funcionalidad.html</a:t>
            </a:r>
            <a:r>
              <a:rPr b="0" i="0" lang="es" sz="135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con contenido básico y 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confirmalo.</a:t>
            </a:r>
            <a:endParaRPr b="0" i="0" sz="135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" name="Google Shape;158;g366164292fe_0_98"/>
          <p:cNvGrpSpPr/>
          <p:nvPr/>
        </p:nvGrpSpPr>
        <p:grpSpPr>
          <a:xfrm>
            <a:off x="475504" y="468238"/>
            <a:ext cx="431074" cy="431148"/>
            <a:chOff x="974706" y="2467173"/>
            <a:chExt cx="738900" cy="738900"/>
          </a:xfrm>
        </p:grpSpPr>
        <p:sp>
          <p:nvSpPr>
            <p:cNvPr id="159" name="Google Shape;159;g366164292fe_0_98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rgbClr val="EAFF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60" name="Google Shape;160;g366164292fe_0_98" title="ícono de actividad en clase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1" name="Google Shape;161;g366164292fe_0_98"/>
          <p:cNvSpPr txBox="1"/>
          <p:nvPr/>
        </p:nvSpPr>
        <p:spPr>
          <a:xfrm>
            <a:off x="475500" y="927125"/>
            <a:ext cx="49872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" sz="4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Bloque 3: Rama, merge y push</a:t>
            </a:r>
            <a:endParaRPr b="1" i="0" sz="40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62" name="Google Shape;162;g366164292fe_0_9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g366164292fe_0_98"/>
          <p:cNvSpPr txBox="1"/>
          <p:nvPr/>
        </p:nvSpPr>
        <p:spPr>
          <a:xfrm>
            <a:off x="930550" y="468275"/>
            <a:ext cx="3823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ACTIVIDAD</a:t>
            </a:r>
            <a:endParaRPr b="0" i="0" sz="16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4" name="Google Shape;164;g366164292fe_0_98"/>
          <p:cNvSpPr txBox="1"/>
          <p:nvPr/>
        </p:nvSpPr>
        <p:spPr>
          <a:xfrm>
            <a:off x="600250" y="2440175"/>
            <a:ext cx="6263400" cy="16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4325" lvl="0" marL="45720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350"/>
              <a:buFont typeface="DM Sans"/>
              <a:buAutoNum type="arabicPeriod"/>
            </a:pPr>
            <a:r>
              <a:rPr b="0" i="0" lang="es" sz="135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Vuelve a </a:t>
            </a:r>
            <a:r>
              <a:rPr b="0" i="0" lang="es" sz="1350" u="none" cap="none" strike="noStrike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main</a:t>
            </a:r>
            <a:r>
              <a:rPr b="0" i="0" lang="es" sz="135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y fusiona la rama:</a:t>
            </a:r>
            <a:endParaRPr b="0" i="0" sz="135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4325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1350"/>
              <a:buFont typeface="DM Sans"/>
              <a:buAutoNum type="alphaLcPeriod"/>
            </a:pPr>
            <a:r>
              <a:rPr b="0" i="0" lang="es" sz="1350" u="none" cap="none" strike="noStrike">
                <a:solidFill>
                  <a:srgbClr val="188038"/>
                </a:solidFill>
                <a:highlight>
                  <a:srgbClr val="E8E7E3"/>
                </a:highlight>
                <a:latin typeface="DM Sans"/>
                <a:ea typeface="DM Sans"/>
                <a:cs typeface="DM Sans"/>
                <a:sym typeface="DM Sans"/>
              </a:rPr>
              <a:t>git checkout main</a:t>
            </a:r>
            <a:endParaRPr b="0" i="0" sz="1350" u="none" cap="none" strike="noStrike">
              <a:solidFill>
                <a:srgbClr val="188038"/>
              </a:solidFill>
              <a:highlight>
                <a:srgbClr val="E8E7E3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-314325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1350"/>
              <a:buFont typeface="DM Sans"/>
              <a:buAutoNum type="alphaLcPeriod"/>
            </a:pPr>
            <a:r>
              <a:rPr b="0" i="0" lang="es" sz="1350" u="none" cap="none" strike="noStrike">
                <a:solidFill>
                  <a:srgbClr val="188038"/>
                </a:solidFill>
                <a:highlight>
                  <a:srgbClr val="E8E7E3"/>
                </a:highlight>
                <a:latin typeface="DM Sans"/>
                <a:ea typeface="DM Sans"/>
                <a:cs typeface="DM Sans"/>
                <a:sym typeface="DM Sans"/>
              </a:rPr>
              <a:t>git merge nueva-funcionalidad</a:t>
            </a:r>
            <a:endParaRPr b="0" i="0" sz="1350" u="none" cap="none" strike="noStrike">
              <a:solidFill>
                <a:srgbClr val="188038"/>
              </a:solidFill>
              <a:highlight>
                <a:srgbClr val="E8E7E3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-31432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DM Sans"/>
              <a:buAutoNum type="arabicPeriod"/>
            </a:pPr>
            <a:r>
              <a:rPr b="0" i="0" lang="es" sz="135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Sube los cambios al repositorio remoto:</a:t>
            </a:r>
            <a:endParaRPr b="0" i="0" sz="135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4325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1350"/>
              <a:buFont typeface="DM Sans"/>
              <a:buAutoNum type="alphaLcPeriod"/>
            </a:pPr>
            <a:r>
              <a:rPr b="0" i="0" lang="es" sz="1350" u="none" cap="none" strike="noStrike">
                <a:solidFill>
                  <a:srgbClr val="188038"/>
                </a:solidFill>
                <a:highlight>
                  <a:srgbClr val="E8E7E3"/>
                </a:highlight>
                <a:latin typeface="DM Sans"/>
                <a:ea typeface="DM Sans"/>
                <a:cs typeface="DM Sans"/>
                <a:sym typeface="DM Sans"/>
              </a:rPr>
              <a:t>git push -u origin main</a:t>
            </a:r>
            <a:endParaRPr b="0" i="0" sz="135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" name="Google Shape;169;g366164292fe_0_113"/>
          <p:cNvGrpSpPr/>
          <p:nvPr/>
        </p:nvGrpSpPr>
        <p:grpSpPr>
          <a:xfrm>
            <a:off x="475504" y="468238"/>
            <a:ext cx="431074" cy="431148"/>
            <a:chOff x="974706" y="2467173"/>
            <a:chExt cx="738900" cy="738900"/>
          </a:xfrm>
        </p:grpSpPr>
        <p:sp>
          <p:nvSpPr>
            <p:cNvPr id="170" name="Google Shape;170;g366164292fe_0_113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rgbClr val="EAFF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1" name="Google Shape;171;g366164292fe_0_113" title="ícono de actividad en clase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2" name="Google Shape;172;g366164292fe_0_113"/>
          <p:cNvSpPr txBox="1"/>
          <p:nvPr/>
        </p:nvSpPr>
        <p:spPr>
          <a:xfrm>
            <a:off x="475500" y="1212375"/>
            <a:ext cx="62142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" sz="4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Checklist de validación (¿qué logré hoy?):</a:t>
            </a:r>
            <a:endParaRPr b="1" i="0" sz="40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73" name="Google Shape;173;g366164292fe_0_1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g366164292fe_0_113"/>
          <p:cNvSpPr txBox="1"/>
          <p:nvPr/>
        </p:nvSpPr>
        <p:spPr>
          <a:xfrm>
            <a:off x="930550" y="468275"/>
            <a:ext cx="3823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ACTIVIDAD</a:t>
            </a:r>
            <a:endParaRPr b="0" i="0" sz="16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5" name="Google Shape;175;g366164292fe_0_113"/>
          <p:cNvSpPr txBox="1"/>
          <p:nvPr/>
        </p:nvSpPr>
        <p:spPr>
          <a:xfrm>
            <a:off x="612850" y="2818375"/>
            <a:ext cx="6263400" cy="13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4325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DM Sans"/>
              <a:buChar char="❏"/>
            </a:pPr>
            <a:r>
              <a:rPr b="0" i="0" lang="es" sz="135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Creé un repositorio y lo cloné en mi computadora.</a:t>
            </a:r>
            <a:br>
              <a:rPr b="0" i="0" lang="es" sz="135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b="0" i="0" sz="135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432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DM Sans"/>
              <a:buChar char="❏"/>
            </a:pPr>
            <a:r>
              <a:rPr b="0" i="0" lang="es" sz="135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Añadí archivos iniciales y confirmé cambios con Git.</a:t>
            </a:r>
            <a:br>
              <a:rPr b="0" i="0" lang="es" sz="135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b="0" i="0" sz="135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432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DM Sans"/>
              <a:buChar char="❏"/>
            </a:pPr>
            <a:r>
              <a:rPr b="0" i="0" lang="es" sz="135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Practiqué la creación de ramas, hice un merge y subí todo a GitHub.</a:t>
            </a:r>
            <a:endParaRPr b="0" i="0" sz="135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0" name="Google Shape;180;g211f1f2806b_0_0"/>
          <p:cNvGrpSpPr/>
          <p:nvPr/>
        </p:nvGrpSpPr>
        <p:grpSpPr>
          <a:xfrm>
            <a:off x="4202551" y="1088764"/>
            <a:ext cx="738900" cy="738974"/>
            <a:chOff x="974706" y="2467173"/>
            <a:chExt cx="738900" cy="738900"/>
          </a:xfrm>
        </p:grpSpPr>
        <p:sp>
          <p:nvSpPr>
            <p:cNvPr id="181" name="Google Shape;181;g211f1f2806b_0_0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rgbClr val="EAFF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82" name="Google Shape;182;g211f1f2806b_0_0" title="ícono de actividad en clase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3" name="Google Shape;183;g211f1f2806b_0_0"/>
          <p:cNvSpPr txBox="1"/>
          <p:nvPr/>
        </p:nvSpPr>
        <p:spPr>
          <a:xfrm>
            <a:off x="1547025" y="1925250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" sz="4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Puesta en común </a:t>
            </a:r>
            <a:endParaRPr b="1" i="0" sz="4000" u="none" cap="none" strike="noStrike">
              <a:solidFill>
                <a:schemeClr val="dk1"/>
              </a:solidFill>
              <a:highlight>
                <a:srgbClr val="EAFF6A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4" name="Google Shape;184;g211f1f2806b_0_0"/>
          <p:cNvSpPr txBox="1"/>
          <p:nvPr/>
        </p:nvSpPr>
        <p:spPr>
          <a:xfrm>
            <a:off x="987300" y="3287388"/>
            <a:ext cx="716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rPr>
              <a:t>¡Vamos a recuperar lo trabajado durante la semana! </a:t>
            </a:r>
            <a:endParaRPr b="0" i="0" sz="2000" u="none" cap="none" strike="noStrike">
              <a:solidFill>
                <a:srgbClr val="999999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5" name="Google Shape;185;g211f1f2806b_0_0"/>
          <p:cNvSpPr txBox="1"/>
          <p:nvPr/>
        </p:nvSpPr>
        <p:spPr>
          <a:xfrm>
            <a:off x="987300" y="3849138"/>
            <a:ext cx="7169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rgbClr val="83AEFB"/>
                </a:solidFill>
                <a:latin typeface="DM Sans"/>
                <a:ea typeface="DM Sans"/>
                <a:cs typeface="DM Sans"/>
                <a:sym typeface="DM Sans"/>
              </a:rPr>
              <a:t>Duración: </a:t>
            </a:r>
            <a:r>
              <a:rPr b="1" i="0" lang="es" sz="1800" u="none" cap="none" strike="noStrike">
                <a:solidFill>
                  <a:srgbClr val="83AEFB"/>
                </a:solidFill>
                <a:latin typeface="DM Sans"/>
                <a:ea typeface="DM Sans"/>
                <a:cs typeface="DM Sans"/>
                <a:sym typeface="DM Sans"/>
              </a:rPr>
              <a:t>5/10 minutos</a:t>
            </a:r>
            <a:r>
              <a:rPr b="0" i="0" lang="es" sz="1800" u="none" cap="none" strike="noStrike">
                <a:solidFill>
                  <a:srgbClr val="83AEFB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b="0" i="0" sz="1800" u="none" cap="none" strike="noStrike">
              <a:solidFill>
                <a:srgbClr val="83AEF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86" name="Google Shape;186;g211f1f2806b_0_0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187" name="Google Shape;187;g211f1f2806b_0_0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88" name="Google Shape;188;g211f1f2806b_0_0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9"/>
          <p:cNvSpPr txBox="1"/>
          <p:nvPr/>
        </p:nvSpPr>
        <p:spPr>
          <a:xfrm>
            <a:off x="589225" y="4680375"/>
            <a:ext cx="3180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s" sz="1350" u="none" cap="none" strike="noStrike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rPr>
              <a:t>Imagen: Doc HTML</a:t>
            </a:r>
            <a:endParaRPr b="1" i="0" sz="1350" u="none" cap="none" strike="noStrike">
              <a:solidFill>
                <a:srgbClr val="999999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4" name="Google Shape;194;p9"/>
          <p:cNvSpPr txBox="1"/>
          <p:nvPr/>
        </p:nvSpPr>
        <p:spPr>
          <a:xfrm>
            <a:off x="589225" y="2527100"/>
            <a:ext cx="3558600" cy="13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43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50"/>
              <a:buFont typeface="DM Sans"/>
              <a:buChar char="●"/>
            </a:pPr>
            <a:r>
              <a:rPr b="1" i="0" lang="es" sz="1350" u="none" cap="none" strike="noStrike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rPr>
              <a:t>¿Te pareció complicado utilizar Git y Github?</a:t>
            </a:r>
            <a:endParaRPr b="1" i="0" sz="1350" u="none" cap="none" strike="noStrike">
              <a:solidFill>
                <a:srgbClr val="999999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4325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999999"/>
              </a:buClr>
              <a:buSzPts val="1350"/>
              <a:buFont typeface="DM Sans"/>
              <a:buChar char="●"/>
            </a:pPr>
            <a:r>
              <a:rPr b="1" i="0" lang="es" sz="1350" u="none" cap="none" strike="noStrike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rPr>
              <a:t>¿Qué dificultades se te presentaron y cómo las resolviste?</a:t>
            </a:r>
            <a:endParaRPr b="1" i="0" sz="1350" u="none" cap="none" strike="noStrike">
              <a:solidFill>
                <a:srgbClr val="999999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5" name="Google Shape;195;p9"/>
          <p:cNvSpPr txBox="1"/>
          <p:nvPr/>
        </p:nvSpPr>
        <p:spPr>
          <a:xfrm>
            <a:off x="930550" y="468275"/>
            <a:ext cx="3823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RESULTADOS</a:t>
            </a:r>
            <a:endParaRPr b="0" i="0" sz="14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6" name="Google Shape;196;p9"/>
          <p:cNvSpPr txBox="1"/>
          <p:nvPr/>
        </p:nvSpPr>
        <p:spPr>
          <a:xfrm>
            <a:off x="488850" y="931400"/>
            <a:ext cx="41622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i="0" lang="es" sz="4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Mejorando el diseño</a:t>
            </a:r>
            <a:endParaRPr b="1" i="0" sz="40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97" name="Google Shape;197;p9"/>
          <p:cNvGrpSpPr/>
          <p:nvPr/>
        </p:nvGrpSpPr>
        <p:grpSpPr>
          <a:xfrm>
            <a:off x="475504" y="468236"/>
            <a:ext cx="431074" cy="431148"/>
            <a:chOff x="974706" y="2467173"/>
            <a:chExt cx="738900" cy="738900"/>
          </a:xfrm>
        </p:grpSpPr>
        <p:sp>
          <p:nvSpPr>
            <p:cNvPr id="198" name="Google Shape;198;p9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rgbClr val="EAFF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99" name="Google Shape;199;p9" title="ícono de actividad en clase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00" name="Google Shape;200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59600" y="1353750"/>
            <a:ext cx="4308138" cy="2614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0"/>
          <p:cNvSpPr txBox="1"/>
          <p:nvPr/>
        </p:nvSpPr>
        <p:spPr>
          <a:xfrm>
            <a:off x="1461288" y="2202300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" sz="40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Git</a:t>
            </a:r>
            <a:endParaRPr b="1" i="0" sz="4000" u="none" cap="none" strike="noStrike">
              <a:solidFill>
                <a:schemeClr val="accent6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2"/>
          <p:cNvSpPr txBox="1"/>
          <p:nvPr/>
        </p:nvSpPr>
        <p:spPr>
          <a:xfrm>
            <a:off x="1447300" y="537575"/>
            <a:ext cx="71694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s" sz="35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Ejemplo en vivo</a:t>
            </a:r>
            <a:endParaRPr b="1" i="0" sz="35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1" name="Google Shape;211;p12"/>
          <p:cNvSpPr txBox="1"/>
          <p:nvPr/>
        </p:nvSpPr>
        <p:spPr>
          <a:xfrm>
            <a:off x="475500" y="1474850"/>
            <a:ext cx="7169400" cy="21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" sz="2500" u="none" cap="none" strike="noStrik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Chequeo de correcta instalación de la herramienta y configuración de user.name y user.email </a:t>
            </a:r>
            <a:endParaRPr b="0" i="0" sz="2500" u="none" cap="none" strike="noStrike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1" i="0" sz="2500" u="none" cap="none" strike="noStrike">
              <a:solidFill>
                <a:srgbClr val="B7B7B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212" name="Google Shape;212;p12"/>
          <p:cNvGrpSpPr/>
          <p:nvPr/>
        </p:nvGrpSpPr>
        <p:grpSpPr>
          <a:xfrm>
            <a:off x="475501" y="468273"/>
            <a:ext cx="738900" cy="738900"/>
            <a:chOff x="473351" y="619523"/>
            <a:chExt cx="738900" cy="738900"/>
          </a:xfrm>
        </p:grpSpPr>
        <p:sp>
          <p:nvSpPr>
            <p:cNvPr id="213" name="Google Shape;213;p12"/>
            <p:cNvSpPr/>
            <p:nvPr/>
          </p:nvSpPr>
          <p:spPr>
            <a:xfrm>
              <a:off x="473351" y="61952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14" name="Google Shape;214;p12" title="ícono de ejemplo en vivo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6475" y="762650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5" name="Google Shape;215;p12"/>
          <p:cNvSpPr txBox="1"/>
          <p:nvPr/>
        </p:nvSpPr>
        <p:spPr>
          <a:xfrm>
            <a:off x="475500" y="3829300"/>
            <a:ext cx="716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Duración: </a:t>
            </a:r>
            <a:r>
              <a:rPr b="1" i="0" lang="es" sz="2000" u="none" cap="none" strike="noStrik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10 minutos</a:t>
            </a:r>
            <a:endParaRPr b="1" i="0" sz="2000" u="none" cap="none" strike="noStrike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16" name="Google Shape;216;p12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217" name="Google Shape;217;p12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18" name="Google Shape;218;p12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4"/>
          <p:cNvSpPr txBox="1"/>
          <p:nvPr/>
        </p:nvSpPr>
        <p:spPr>
          <a:xfrm>
            <a:off x="1447300" y="537575"/>
            <a:ext cx="71694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s" sz="35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Ejemplo en vivo</a:t>
            </a:r>
            <a:endParaRPr b="1" i="0" sz="35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4" name="Google Shape;224;p14"/>
          <p:cNvSpPr txBox="1"/>
          <p:nvPr/>
        </p:nvSpPr>
        <p:spPr>
          <a:xfrm>
            <a:off x="475500" y="1474850"/>
            <a:ext cx="7169400" cy="21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" sz="2500" u="none" cap="none" strike="noStrik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Inicializamos Git en nuestro proyecto y recorremos los distintos estados utilizando el flujo de git </a:t>
            </a:r>
            <a:endParaRPr b="0" i="0" sz="2500" u="none" cap="none" strike="noStrike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1" i="0" sz="2500" u="none" cap="none" strike="noStrike">
              <a:solidFill>
                <a:srgbClr val="B7B7B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225" name="Google Shape;225;p14"/>
          <p:cNvGrpSpPr/>
          <p:nvPr/>
        </p:nvGrpSpPr>
        <p:grpSpPr>
          <a:xfrm>
            <a:off x="475501" y="468273"/>
            <a:ext cx="738900" cy="738900"/>
            <a:chOff x="473351" y="619523"/>
            <a:chExt cx="738900" cy="738900"/>
          </a:xfrm>
        </p:grpSpPr>
        <p:sp>
          <p:nvSpPr>
            <p:cNvPr id="226" name="Google Shape;226;p14"/>
            <p:cNvSpPr/>
            <p:nvPr/>
          </p:nvSpPr>
          <p:spPr>
            <a:xfrm>
              <a:off x="473351" y="61952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27" name="Google Shape;227;p14" title="ícono de ejemplo en vivo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6475" y="762650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8" name="Google Shape;228;p14"/>
          <p:cNvSpPr txBox="1"/>
          <p:nvPr/>
        </p:nvSpPr>
        <p:spPr>
          <a:xfrm>
            <a:off x="475500" y="3829300"/>
            <a:ext cx="716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Duración: </a:t>
            </a:r>
            <a:r>
              <a:rPr b="1" i="0" lang="es" sz="2000" u="none" cap="none" strike="noStrik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10 minutos</a:t>
            </a:r>
            <a:endParaRPr b="1" i="0" sz="2000" u="none" cap="none" strike="noStrike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29" name="Google Shape;229;p14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230" name="Google Shape;230;p14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31" name="Google Shape;231;p14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6" name="Google Shape;236;p15"/>
          <p:cNvGrpSpPr/>
          <p:nvPr/>
        </p:nvGrpSpPr>
        <p:grpSpPr>
          <a:xfrm>
            <a:off x="4202556" y="994173"/>
            <a:ext cx="738900" cy="738900"/>
            <a:chOff x="974706" y="2467173"/>
            <a:chExt cx="738900" cy="738900"/>
          </a:xfrm>
        </p:grpSpPr>
        <p:sp>
          <p:nvSpPr>
            <p:cNvPr id="237" name="Google Shape;237;p15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38" name="Google Shape;238;p15" title="ícono de actividad en clase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9" name="Google Shape;239;p15"/>
          <p:cNvSpPr txBox="1"/>
          <p:nvPr/>
        </p:nvSpPr>
        <p:spPr>
          <a:xfrm>
            <a:off x="1461300" y="2208625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" sz="4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Practicando con Git</a:t>
            </a:r>
            <a:endParaRPr b="1" i="0" sz="4000" u="none" cap="none" strike="noStrike">
              <a:solidFill>
                <a:schemeClr val="dk1"/>
              </a:solidFill>
              <a:highlight>
                <a:srgbClr val="EAFF6A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0" name="Google Shape;240;p15"/>
          <p:cNvSpPr txBox="1"/>
          <p:nvPr/>
        </p:nvSpPr>
        <p:spPr>
          <a:xfrm>
            <a:off x="987263" y="3818588"/>
            <a:ext cx="716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Duración: </a:t>
            </a:r>
            <a:r>
              <a:rPr b="1" i="0" lang="es" sz="2000" u="none" cap="none" strike="noStrik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5/10 minutos</a:t>
            </a:r>
            <a:endParaRPr b="1" i="0" sz="2000" u="none" cap="none" strike="noStrike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41" name="Google Shape;241;p15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242" name="Google Shape;242;p15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43" name="Google Shape;243;p15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24525" y="0"/>
            <a:ext cx="3719483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9" name="Google Shape;249;p16"/>
          <p:cNvGrpSpPr/>
          <p:nvPr/>
        </p:nvGrpSpPr>
        <p:grpSpPr>
          <a:xfrm>
            <a:off x="457347" y="468298"/>
            <a:ext cx="431074" cy="431074"/>
            <a:chOff x="974706" y="2467173"/>
            <a:chExt cx="738900" cy="738900"/>
          </a:xfrm>
        </p:grpSpPr>
        <p:sp>
          <p:nvSpPr>
            <p:cNvPr id="250" name="Google Shape;250;p16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51" name="Google Shape;251;p16" title="ícono de actividad en clase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2" name="Google Shape;252;p16"/>
          <p:cNvSpPr txBox="1"/>
          <p:nvPr/>
        </p:nvSpPr>
        <p:spPr>
          <a:xfrm>
            <a:off x="501450" y="1081750"/>
            <a:ext cx="49872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" sz="4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extLst>
                  <a:ext uri="http://customooxmlschemas.google.com/">
                    <go:slidesCustomData xmlns:go="http://customooxmlschemas.google.com/" textRoundtripDataId="1"/>
                  </a:ext>
                </a:extLst>
              </a:rPr>
              <a:t>Practicando con Git</a:t>
            </a:r>
            <a:endParaRPr b="1" i="0" sz="40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53" name="Google Shape;25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6"/>
          <p:cNvSpPr txBox="1"/>
          <p:nvPr/>
        </p:nvSpPr>
        <p:spPr>
          <a:xfrm>
            <a:off x="501450" y="2505200"/>
            <a:ext cx="4127700" cy="15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s" sz="135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Descripción de la actividad.</a:t>
            </a:r>
            <a:endParaRPr b="1" sz="135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1" sz="135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s" sz="135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Inicializa un nuevo repositorio en una carpeta aparte de tu proyecto. El objetivo aquí es </a:t>
            </a:r>
            <a:r>
              <a:rPr b="1" i="0" lang="es" sz="135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probar libremente el flujo de Git</a:t>
            </a:r>
            <a:r>
              <a:rPr b="0" i="0" lang="es" sz="135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sin riesgo de romper tu proyecto principal.</a:t>
            </a:r>
            <a:endParaRPr b="0" i="0" sz="135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5" name="Google Shape;255;p16"/>
          <p:cNvSpPr txBox="1"/>
          <p:nvPr/>
        </p:nvSpPr>
        <p:spPr>
          <a:xfrm>
            <a:off x="930550" y="468275"/>
            <a:ext cx="2461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ACTIVIDAD</a:t>
            </a:r>
            <a:endParaRPr b="0" i="0" sz="14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56" name="Google Shape;25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16"/>
          <p:cNvSpPr txBox="1"/>
          <p:nvPr/>
        </p:nvSpPr>
        <p:spPr>
          <a:xfrm>
            <a:off x="501450" y="4649063"/>
            <a:ext cx="6631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100" u="none" cap="none" strike="noStrike">
                <a:solidFill>
                  <a:srgbClr val="595959"/>
                </a:solidFill>
                <a:latin typeface="DM Sans"/>
                <a:ea typeface="DM Sans"/>
                <a:cs typeface="DM Sans"/>
                <a:sym typeface="DM Sans"/>
              </a:rPr>
              <a:t>Fuente de la imagen: </a:t>
            </a:r>
            <a:r>
              <a:rPr b="0" i="0" lang="es" sz="1100" u="sng" cap="none" strike="noStrike">
                <a:solidFill>
                  <a:srgbClr val="83AEFB"/>
                </a:solidFill>
                <a:latin typeface="DM Sans"/>
                <a:ea typeface="DM Sans"/>
                <a:cs typeface="DM Sans"/>
                <a:sym typeface="DM Sans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Amza Andrei</a:t>
            </a:r>
            <a:endParaRPr b="0" i="0" sz="1100" u="none" cap="none" strike="noStrike">
              <a:solidFill>
                <a:srgbClr val="595959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2" name="Google Shape;262;g366164292fe_0_54"/>
          <p:cNvGrpSpPr/>
          <p:nvPr/>
        </p:nvGrpSpPr>
        <p:grpSpPr>
          <a:xfrm>
            <a:off x="457347" y="468299"/>
            <a:ext cx="431074" cy="431074"/>
            <a:chOff x="974706" y="2467173"/>
            <a:chExt cx="738900" cy="738900"/>
          </a:xfrm>
        </p:grpSpPr>
        <p:sp>
          <p:nvSpPr>
            <p:cNvPr id="263" name="Google Shape;263;g366164292fe_0_54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64" name="Google Shape;264;g366164292fe_0_54" title="ícono de actividad en clase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5" name="Google Shape;265;g366164292fe_0_54"/>
          <p:cNvSpPr txBox="1"/>
          <p:nvPr/>
        </p:nvSpPr>
        <p:spPr>
          <a:xfrm>
            <a:off x="476250" y="1167063"/>
            <a:ext cx="4987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" sz="4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Pasos sugeridos</a:t>
            </a:r>
            <a:endParaRPr b="1" i="0" sz="40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66" name="Google Shape;266;g366164292fe_0_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g366164292fe_0_54"/>
          <p:cNvSpPr txBox="1"/>
          <p:nvPr/>
        </p:nvSpPr>
        <p:spPr>
          <a:xfrm>
            <a:off x="930550" y="468275"/>
            <a:ext cx="2461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ACTIVIDAD</a:t>
            </a:r>
            <a:endParaRPr b="0" i="0" sz="14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68" name="Google Shape;268;g366164292fe_0_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g366164292fe_0_54"/>
          <p:cNvSpPr txBox="1"/>
          <p:nvPr/>
        </p:nvSpPr>
        <p:spPr>
          <a:xfrm>
            <a:off x="457350" y="2173650"/>
            <a:ext cx="7841400" cy="12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4325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50"/>
              <a:buFont typeface="DM Sans"/>
              <a:buAutoNum type="arabicPeriod"/>
            </a:pPr>
            <a:r>
              <a:rPr b="0" i="0" lang="es" sz="135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Inicializa un repositorio con </a:t>
            </a:r>
            <a:r>
              <a:rPr b="0" i="0" lang="es" sz="1350" u="none" cap="none" strike="noStrike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git init</a:t>
            </a:r>
            <a:r>
              <a:rPr b="0" i="0" lang="es" sz="135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b="0" i="0" sz="135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4325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50"/>
              <a:buFont typeface="DM Sans"/>
              <a:buAutoNum type="arabicPeriod"/>
            </a:pPr>
            <a:r>
              <a:rPr b="0" i="0" lang="es" sz="135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Crea un archivo de prueba, agrégalo con </a:t>
            </a:r>
            <a:r>
              <a:rPr b="0" i="0" lang="es" sz="1350" u="none" cap="none" strike="noStrike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git add</a:t>
            </a:r>
            <a:r>
              <a:rPr b="0" i="0" lang="es" sz="135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y confírmalo con </a:t>
            </a:r>
            <a:r>
              <a:rPr b="0" i="0" lang="es" sz="1350" u="none" cap="none" strike="noStrike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git commit</a:t>
            </a:r>
            <a:r>
              <a:rPr b="0" i="0" lang="es" sz="135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b="0" i="0" sz="135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4325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50"/>
              <a:buFont typeface="DM Sans"/>
              <a:buAutoNum type="arabicPeriod"/>
            </a:pPr>
            <a:r>
              <a:rPr b="0" i="0" lang="es" sz="135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Haz modificaciones y usa </a:t>
            </a:r>
            <a:r>
              <a:rPr b="0" i="0" lang="es" sz="1350" u="none" cap="none" strike="noStrike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git status</a:t>
            </a:r>
            <a:r>
              <a:rPr b="0" i="0" lang="es" sz="135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para revisar cambios.</a:t>
            </a:r>
            <a:endParaRPr b="1" i="0" sz="135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0" name="Google Shape;270;g366164292fe_0_54"/>
          <p:cNvSpPr txBox="1"/>
          <p:nvPr/>
        </p:nvSpPr>
        <p:spPr>
          <a:xfrm>
            <a:off x="134450" y="3824050"/>
            <a:ext cx="6977100" cy="11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💬 </a:t>
            </a:r>
            <a:r>
              <a:rPr b="1"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Comentario: </a:t>
            </a:r>
            <a:r>
              <a:rPr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s" sz="13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git add .</a:t>
            </a:r>
            <a:r>
              <a:rPr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agrega </a:t>
            </a:r>
            <a:r>
              <a:rPr b="1"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todos los archivos modificados</a:t>
            </a:r>
            <a:r>
              <a:rPr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mientras que </a:t>
            </a:r>
            <a:r>
              <a:rPr lang="es" sz="13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git add -p</a:t>
            </a:r>
            <a:r>
              <a:rPr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permite </a:t>
            </a:r>
            <a:r>
              <a:rPr b="1"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revisar y agregar por partes</a:t>
            </a:r>
            <a:r>
              <a:rPr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lo cual da más control sobre lo que se confirma.</a:t>
            </a:r>
            <a:endParaRPr sz="13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Además, es recomendable usar </a:t>
            </a:r>
            <a:r>
              <a:rPr b="1"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mensajes de commit claros y descriptivos</a:t>
            </a:r>
            <a:r>
              <a:rPr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siguiendo convenciones como </a:t>
            </a:r>
            <a:r>
              <a:rPr i="1"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Conventional Commits</a:t>
            </a:r>
            <a:r>
              <a:rPr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13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5" name="Google Shape;275;g38394554c3f_0_0"/>
          <p:cNvGrpSpPr/>
          <p:nvPr/>
        </p:nvGrpSpPr>
        <p:grpSpPr>
          <a:xfrm>
            <a:off x="457347" y="468300"/>
            <a:ext cx="431074" cy="431074"/>
            <a:chOff x="974706" y="2467173"/>
            <a:chExt cx="738900" cy="738900"/>
          </a:xfrm>
        </p:grpSpPr>
        <p:sp>
          <p:nvSpPr>
            <p:cNvPr id="276" name="Google Shape;276;g38394554c3f_0_0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77" name="Google Shape;277;g38394554c3f_0_0" title="ícono de actividad en clase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8" name="Google Shape;278;g38394554c3f_0_0"/>
          <p:cNvSpPr txBox="1"/>
          <p:nvPr/>
        </p:nvSpPr>
        <p:spPr>
          <a:xfrm>
            <a:off x="501450" y="1081750"/>
            <a:ext cx="4987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" sz="4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Pasos sugeridos</a:t>
            </a:r>
            <a:endParaRPr b="1" i="0" sz="40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79" name="Google Shape;279;g38394554c3f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g38394554c3f_0_0"/>
          <p:cNvSpPr txBox="1"/>
          <p:nvPr/>
        </p:nvSpPr>
        <p:spPr>
          <a:xfrm>
            <a:off x="930550" y="468275"/>
            <a:ext cx="2461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ACTIVIDAD</a:t>
            </a:r>
            <a:endParaRPr b="0" i="0" sz="14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81" name="Google Shape;281;g38394554c3f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g38394554c3f_0_0"/>
          <p:cNvSpPr txBox="1"/>
          <p:nvPr/>
        </p:nvSpPr>
        <p:spPr>
          <a:xfrm>
            <a:off x="457350" y="2085400"/>
            <a:ext cx="7841400" cy="22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432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DM Sans"/>
              <a:buAutoNum type="arabicPeriod"/>
            </a:pPr>
            <a:r>
              <a:rPr b="0" i="0" lang="es" sz="135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Practica </a:t>
            </a:r>
            <a:r>
              <a:rPr b="1" i="0" lang="es" sz="135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deshacer y rehacer</a:t>
            </a:r>
            <a:r>
              <a:rPr b="0" i="0" lang="es" sz="135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con comandos como:</a:t>
            </a:r>
            <a:br>
              <a:rPr b="0" i="0" lang="es" sz="135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b="0" i="0" sz="135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4325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50"/>
              <a:buFont typeface="DM Sans"/>
              <a:buAutoNum type="alphaLcPeriod"/>
            </a:pPr>
            <a:r>
              <a:rPr b="0" i="0" lang="es" sz="1350" u="none" cap="none" strike="noStrike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git checkout -- archivo.txt</a:t>
            </a:r>
            <a:r>
              <a:rPr b="0" i="0" lang="es" sz="135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(descartar cambios en un archivo).</a:t>
            </a:r>
            <a:br>
              <a:rPr b="0" i="0" lang="es" sz="135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b="0" i="0" sz="135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4325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50"/>
              <a:buFont typeface="DM Sans"/>
              <a:buAutoNum type="alphaLcPeriod"/>
            </a:pPr>
            <a:r>
              <a:rPr b="0" i="0" lang="es" sz="1350" u="none" cap="none" strike="noStrike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git reset HEAD archivo.txt</a:t>
            </a:r>
            <a:r>
              <a:rPr b="0" i="0" lang="es" sz="135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(sacar un archivo del staging).</a:t>
            </a:r>
            <a:br>
              <a:rPr b="0" i="0" lang="es" sz="135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b="0" i="0" sz="135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4325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50"/>
              <a:buFont typeface="DM Sans"/>
              <a:buAutoNum type="alphaLcPeriod"/>
            </a:pPr>
            <a:r>
              <a:rPr b="0" i="0" lang="es" sz="1350" u="none" cap="none" strike="noStrike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git log</a:t>
            </a:r>
            <a:r>
              <a:rPr b="0" i="0" lang="es" sz="135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y </a:t>
            </a:r>
            <a:r>
              <a:rPr b="0" i="0" lang="es" sz="1350" u="none" cap="none" strike="noStrike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git revert</a:t>
            </a:r>
            <a:r>
              <a:rPr b="0" i="0" lang="es" sz="135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(volver a un commit anterior).</a:t>
            </a:r>
            <a:endParaRPr b="1" i="0" sz="135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7" name="Google Shape;287;g39b48d9e5a4_0_0"/>
          <p:cNvGrpSpPr/>
          <p:nvPr/>
        </p:nvGrpSpPr>
        <p:grpSpPr>
          <a:xfrm>
            <a:off x="457347" y="468300"/>
            <a:ext cx="431074" cy="431074"/>
            <a:chOff x="974706" y="2467173"/>
            <a:chExt cx="738900" cy="738900"/>
          </a:xfrm>
        </p:grpSpPr>
        <p:sp>
          <p:nvSpPr>
            <p:cNvPr id="288" name="Google Shape;288;g39b48d9e5a4_0_0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89" name="Google Shape;289;g39b48d9e5a4_0_0" title="ícono de actividad en clase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0" name="Google Shape;290;g39b48d9e5a4_0_0"/>
          <p:cNvSpPr txBox="1"/>
          <p:nvPr/>
        </p:nvSpPr>
        <p:spPr>
          <a:xfrm>
            <a:off x="501450" y="1081750"/>
            <a:ext cx="8331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Deshacer y rehacer cambios</a:t>
            </a:r>
            <a:endParaRPr b="1" i="0" sz="40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91" name="Google Shape;291;g39b48d9e5a4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g39b48d9e5a4_0_0"/>
          <p:cNvSpPr txBox="1"/>
          <p:nvPr/>
        </p:nvSpPr>
        <p:spPr>
          <a:xfrm>
            <a:off x="930550" y="468275"/>
            <a:ext cx="2461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ACTIVIDAD</a:t>
            </a:r>
            <a:endParaRPr b="0" i="0" sz="14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93" name="Google Shape;293;g39b48d9e5a4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g39b48d9e5a4_0_0"/>
          <p:cNvSpPr txBox="1"/>
          <p:nvPr/>
        </p:nvSpPr>
        <p:spPr>
          <a:xfrm>
            <a:off x="457350" y="2085400"/>
            <a:ext cx="7841400" cy="21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Estos comandos te permiten </a:t>
            </a:r>
            <a:r>
              <a:rPr b="1"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volver atrás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en distintas etapas del flujo de trabajo: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git checkout -- archivo.txt     # descartar cambios en un archivo</a:t>
            </a:r>
            <a:endParaRPr sz="13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git reset HEAD archivo.txt      # sacar un archivo del staging</a:t>
            </a:r>
            <a:endParaRPr sz="13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git log                         # ver historial de commits</a:t>
            </a:r>
            <a:endParaRPr sz="13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git revert &lt;id-del-commit&gt;      # revertir un commit anterior</a:t>
            </a:r>
            <a:endParaRPr sz="13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95" name="Google Shape;295;g39b48d9e5a4_0_0"/>
          <p:cNvSpPr txBox="1"/>
          <p:nvPr/>
        </p:nvSpPr>
        <p:spPr>
          <a:xfrm>
            <a:off x="501450" y="3963100"/>
            <a:ext cx="6981900" cy="9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💡 </a:t>
            </a:r>
            <a:r>
              <a:rPr b="1"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Consejo:</a:t>
            </a:r>
            <a:r>
              <a:rPr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Estos comandos son útiles para practicar cómo manejar errores comunes (por ejemplo, si agregaste o modificaste algo por accidente).</a:t>
            </a:r>
            <a:endParaRPr sz="13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Recordá que </a:t>
            </a:r>
            <a:r>
              <a:rPr lang="es" sz="13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revert</a:t>
            </a:r>
            <a:r>
              <a:rPr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crea un nuevo commit que deshace los cambios, mientras que </a:t>
            </a:r>
            <a:r>
              <a:rPr lang="es" sz="130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reset</a:t>
            </a:r>
            <a:r>
              <a:rPr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modifica el historial local.</a:t>
            </a:r>
            <a:endParaRPr sz="20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0" name="Google Shape;300;g39b48d9e5a4_0_17"/>
          <p:cNvGrpSpPr/>
          <p:nvPr/>
        </p:nvGrpSpPr>
        <p:grpSpPr>
          <a:xfrm>
            <a:off x="457347" y="468300"/>
            <a:ext cx="431074" cy="431074"/>
            <a:chOff x="974706" y="2467173"/>
            <a:chExt cx="738900" cy="738900"/>
          </a:xfrm>
        </p:grpSpPr>
        <p:sp>
          <p:nvSpPr>
            <p:cNvPr id="301" name="Google Shape;301;g39b48d9e5a4_0_17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02" name="Google Shape;302;g39b48d9e5a4_0_17" title="ícono de actividad en clase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3" name="Google Shape;303;g39b48d9e5a4_0_17"/>
          <p:cNvSpPr txBox="1"/>
          <p:nvPr/>
        </p:nvSpPr>
        <p:spPr>
          <a:xfrm>
            <a:off x="501450" y="1081750"/>
            <a:ext cx="8331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Crear y moverse a una rama</a:t>
            </a:r>
            <a:endParaRPr b="1" i="0" sz="40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304" name="Google Shape;304;g39b48d9e5a4_0_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g39b48d9e5a4_0_17"/>
          <p:cNvSpPr txBox="1"/>
          <p:nvPr/>
        </p:nvSpPr>
        <p:spPr>
          <a:xfrm>
            <a:off x="930550" y="468275"/>
            <a:ext cx="2461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ACTIVIDAD</a:t>
            </a:r>
            <a:endParaRPr b="0" i="0" sz="14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306" name="Google Shape;306;g39b48d9e5a4_0_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g39b48d9e5a4_0_17"/>
          <p:cNvSpPr txBox="1"/>
          <p:nvPr/>
        </p:nvSpPr>
        <p:spPr>
          <a:xfrm>
            <a:off x="476250" y="1900875"/>
            <a:ext cx="7841400" cy="15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git checkout -b nueva-funcionalidad</a:t>
            </a:r>
            <a:endParaRPr sz="13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git switch -c nueva-funcionalidad</a:t>
            </a:r>
            <a:endParaRPr sz="13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308" name="Google Shape;308;g39b48d9e5a4_0_17"/>
          <p:cNvSpPr txBox="1"/>
          <p:nvPr/>
        </p:nvSpPr>
        <p:spPr>
          <a:xfrm>
            <a:off x="501450" y="3695375"/>
            <a:ext cx="6981900" cy="12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💬 </a:t>
            </a:r>
            <a:r>
              <a:rPr b="1"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Comentario: 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Aunque </a:t>
            </a:r>
            <a:r>
              <a:rPr lang="es" sz="135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git checkout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1"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 sigue utilizando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Git recomienda hoy </a:t>
            </a:r>
            <a:r>
              <a:rPr b="1" lang="es" sz="135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git switch</a:t>
            </a:r>
            <a:r>
              <a:rPr b="1"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y </a:t>
            </a:r>
            <a:r>
              <a:rPr b="1" lang="es" sz="135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git restore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por ser más claros y seguros.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En esta etapa podés enseñar ambos, explicando que </a:t>
            </a:r>
            <a:r>
              <a:rPr lang="es" sz="135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switch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es el comando moderno para crear o cambiar de rama, mientras que </a:t>
            </a:r>
            <a:r>
              <a:rPr lang="es" sz="135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checkout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se mantiene por compatibilidad con versiones anteriores</a:t>
            </a:r>
            <a:r>
              <a:rPr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15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" name="Google Shape;31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4" name="Google Shape;314;p17"/>
          <p:cNvGrpSpPr/>
          <p:nvPr/>
        </p:nvGrpSpPr>
        <p:grpSpPr>
          <a:xfrm>
            <a:off x="4243306" y="1320073"/>
            <a:ext cx="738900" cy="738900"/>
            <a:chOff x="974706" y="2467173"/>
            <a:chExt cx="738900" cy="738900"/>
          </a:xfrm>
        </p:grpSpPr>
        <p:sp>
          <p:nvSpPr>
            <p:cNvPr id="315" name="Google Shape;315;p17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16" name="Google Shape;316;p17" title="ícono de actividad en clase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7" name="Google Shape;317;p17"/>
          <p:cNvSpPr txBox="1"/>
          <p:nvPr/>
        </p:nvSpPr>
        <p:spPr>
          <a:xfrm>
            <a:off x="1502050" y="2406788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" sz="4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Puesta en común</a:t>
            </a:r>
            <a:endParaRPr b="1" i="0" sz="4000" u="none" cap="none" strike="noStrike">
              <a:solidFill>
                <a:schemeClr val="dk1"/>
              </a:solidFill>
              <a:highlight>
                <a:srgbClr val="EAFF6A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18" name="Google Shape;318;p17"/>
          <p:cNvSpPr txBox="1"/>
          <p:nvPr/>
        </p:nvSpPr>
        <p:spPr>
          <a:xfrm>
            <a:off x="2179625" y="3493500"/>
            <a:ext cx="506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Duración: </a:t>
            </a:r>
            <a:r>
              <a:rPr b="1" i="0" lang="es" sz="2000" u="none" cap="none" strike="noStrik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5 minutos</a:t>
            </a:r>
            <a:endParaRPr b="1" i="0" sz="2000" u="none" cap="none" strike="noStrike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8"/>
          <p:cNvSpPr txBox="1"/>
          <p:nvPr/>
        </p:nvSpPr>
        <p:spPr>
          <a:xfrm>
            <a:off x="1461300" y="1598325"/>
            <a:ext cx="6221400" cy="14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s" sz="5000" u="none" cap="none" strike="noStrike">
                <a:solidFill>
                  <a:srgbClr val="E8E7E3"/>
                </a:solidFill>
                <a:latin typeface="Arial"/>
                <a:ea typeface="Arial"/>
                <a:cs typeface="Arial"/>
                <a:sym typeface="Arial"/>
              </a:rPr>
              <a:t>☕</a:t>
            </a:r>
            <a:endParaRPr b="0" i="0" sz="5000" u="none" cap="none" strike="noStrike">
              <a:solidFill>
                <a:srgbClr val="E8E7E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" sz="4000" u="none" cap="none" strike="noStrike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Break</a:t>
            </a:r>
            <a:endParaRPr b="1" i="0" sz="40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24" name="Google Shape;324;p18"/>
          <p:cNvSpPr txBox="1"/>
          <p:nvPr/>
        </p:nvSpPr>
        <p:spPr>
          <a:xfrm>
            <a:off x="2809200" y="2971950"/>
            <a:ext cx="3525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¡En unos minutos volvemos!</a:t>
            </a:r>
            <a:endParaRPr b="0" i="0" sz="20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9" name="Google Shape;329;p20"/>
          <p:cNvGrpSpPr/>
          <p:nvPr/>
        </p:nvGrpSpPr>
        <p:grpSpPr>
          <a:xfrm>
            <a:off x="4202556" y="994173"/>
            <a:ext cx="738900" cy="738900"/>
            <a:chOff x="974706" y="2467173"/>
            <a:chExt cx="738900" cy="738900"/>
          </a:xfrm>
        </p:grpSpPr>
        <p:sp>
          <p:nvSpPr>
            <p:cNvPr id="330" name="Google Shape;330;p20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31" name="Google Shape;331;p20" title="ícono de actividad en clase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2" name="Google Shape;332;p20"/>
          <p:cNvSpPr txBox="1"/>
          <p:nvPr/>
        </p:nvSpPr>
        <p:spPr>
          <a:xfrm>
            <a:off x="1461300" y="2208625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" sz="4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Creando ramificaciones</a:t>
            </a:r>
            <a:endParaRPr b="1" i="0" sz="4000" u="none" cap="none" strike="noStrike">
              <a:solidFill>
                <a:schemeClr val="dk1"/>
              </a:solidFill>
              <a:highlight>
                <a:srgbClr val="EAFF6A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33" name="Google Shape;333;p20"/>
          <p:cNvSpPr txBox="1"/>
          <p:nvPr/>
        </p:nvSpPr>
        <p:spPr>
          <a:xfrm>
            <a:off x="987263" y="3818588"/>
            <a:ext cx="716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Duración: </a:t>
            </a:r>
            <a:r>
              <a:rPr b="1" i="0" lang="es" sz="2000" u="none" cap="none" strike="noStrik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5/10 minutos</a:t>
            </a:r>
            <a:endParaRPr b="1" i="0" sz="2000" u="none" cap="none" strike="noStrike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334" name="Google Shape;334;p20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335" name="Google Shape;335;p20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36" name="Google Shape;336;p20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1" name="Google Shape;34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24525" y="0"/>
            <a:ext cx="3719483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2" name="Google Shape;342;p21"/>
          <p:cNvGrpSpPr/>
          <p:nvPr/>
        </p:nvGrpSpPr>
        <p:grpSpPr>
          <a:xfrm>
            <a:off x="457347" y="468298"/>
            <a:ext cx="431074" cy="431074"/>
            <a:chOff x="974706" y="2467173"/>
            <a:chExt cx="738900" cy="738900"/>
          </a:xfrm>
        </p:grpSpPr>
        <p:sp>
          <p:nvSpPr>
            <p:cNvPr id="343" name="Google Shape;343;p21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44" name="Google Shape;344;p21" title="ícono de actividad en clase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45" name="Google Shape;345;p21"/>
          <p:cNvSpPr txBox="1"/>
          <p:nvPr/>
        </p:nvSpPr>
        <p:spPr>
          <a:xfrm>
            <a:off x="501450" y="1081750"/>
            <a:ext cx="49872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" sz="4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Creando ramificaciones</a:t>
            </a:r>
            <a:endParaRPr b="1" i="0" sz="40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346" name="Google Shape;346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21"/>
          <p:cNvSpPr txBox="1"/>
          <p:nvPr/>
        </p:nvSpPr>
        <p:spPr>
          <a:xfrm>
            <a:off x="930550" y="468275"/>
            <a:ext cx="2461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ACTIVIDAD</a:t>
            </a:r>
            <a:endParaRPr b="0" i="0" sz="14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348" name="Google Shape;348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21"/>
          <p:cNvSpPr txBox="1"/>
          <p:nvPr/>
        </p:nvSpPr>
        <p:spPr>
          <a:xfrm>
            <a:off x="501450" y="4649063"/>
            <a:ext cx="6631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100" u="none" cap="none" strike="noStrike">
                <a:solidFill>
                  <a:srgbClr val="595959"/>
                </a:solidFill>
                <a:latin typeface="DM Sans"/>
                <a:ea typeface="DM Sans"/>
                <a:cs typeface="DM Sans"/>
                <a:sym typeface="DM Sans"/>
              </a:rPr>
              <a:t>Fuente de la imagen: </a:t>
            </a:r>
            <a:r>
              <a:rPr b="0" i="0" lang="es" sz="1100" u="sng" cap="none" strike="noStrike">
                <a:solidFill>
                  <a:srgbClr val="83AEFB"/>
                </a:solidFill>
                <a:latin typeface="DM Sans"/>
                <a:ea typeface="DM Sans"/>
                <a:cs typeface="DM Sans"/>
                <a:sym typeface="DM Sans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Amza Andrei</a:t>
            </a:r>
            <a:endParaRPr b="0" i="0" sz="1100" u="none" cap="none" strike="noStrike">
              <a:solidFill>
                <a:srgbClr val="595959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50" name="Google Shape;350;p21"/>
          <p:cNvSpPr txBox="1"/>
          <p:nvPr/>
        </p:nvSpPr>
        <p:spPr>
          <a:xfrm>
            <a:off x="501450" y="2505200"/>
            <a:ext cx="4127700" cy="12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s" sz="135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Descripción de la actividad.</a:t>
            </a:r>
            <a:endParaRPr b="1" sz="135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1" sz="135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s" sz="135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Crea ramas nuevas, genera cambios en tus archivos y mergea esas nuevas ramas a la principal</a:t>
            </a: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.</a:t>
            </a:r>
            <a:endParaRPr b="0" i="0" sz="135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6" name="Google Shape;356;p22"/>
          <p:cNvGrpSpPr/>
          <p:nvPr/>
        </p:nvGrpSpPr>
        <p:grpSpPr>
          <a:xfrm>
            <a:off x="4243306" y="1320073"/>
            <a:ext cx="738900" cy="738900"/>
            <a:chOff x="974706" y="2467173"/>
            <a:chExt cx="738900" cy="738900"/>
          </a:xfrm>
        </p:grpSpPr>
        <p:sp>
          <p:nvSpPr>
            <p:cNvPr id="357" name="Google Shape;357;p22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58" name="Google Shape;358;p22" title="ícono de actividad en clase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59" name="Google Shape;359;p22"/>
          <p:cNvSpPr txBox="1"/>
          <p:nvPr/>
        </p:nvSpPr>
        <p:spPr>
          <a:xfrm>
            <a:off x="1502050" y="2406788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" sz="4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Puesta en común</a:t>
            </a:r>
            <a:endParaRPr b="1" i="0" sz="4000" u="none" cap="none" strike="noStrike">
              <a:solidFill>
                <a:schemeClr val="dk1"/>
              </a:solidFill>
              <a:highlight>
                <a:srgbClr val="EAFF6A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60" name="Google Shape;360;p22"/>
          <p:cNvSpPr txBox="1"/>
          <p:nvPr/>
        </p:nvSpPr>
        <p:spPr>
          <a:xfrm>
            <a:off x="2179625" y="3493500"/>
            <a:ext cx="506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Duración: </a:t>
            </a:r>
            <a:r>
              <a:rPr b="1" i="0" lang="es" sz="2000" u="none" cap="none" strike="noStrik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5 minutos</a:t>
            </a:r>
            <a:endParaRPr b="1" i="0" sz="2000" u="none" cap="none" strike="noStrike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3"/>
          <p:cNvSpPr txBox="1"/>
          <p:nvPr/>
        </p:nvSpPr>
        <p:spPr>
          <a:xfrm>
            <a:off x="1447300" y="537575"/>
            <a:ext cx="71694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s" sz="35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Ejemplo en vivo</a:t>
            </a:r>
            <a:endParaRPr b="1" i="0" sz="35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66" name="Google Shape;366;p23"/>
          <p:cNvSpPr txBox="1"/>
          <p:nvPr/>
        </p:nvSpPr>
        <p:spPr>
          <a:xfrm>
            <a:off x="475500" y="1474850"/>
            <a:ext cx="7169400" cy="21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" sz="2500" u="none" cap="none" strike="noStrik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Crear ramas que puedan mergearse con sus cambios dentro de la rama principal. </a:t>
            </a:r>
            <a:endParaRPr b="0" i="0" sz="2500" u="none" cap="none" strike="noStrike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" sz="2500" u="none" cap="none" strike="noStrik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Deshacer cambios </a:t>
            </a:r>
            <a:endParaRPr b="0" i="0" sz="2500" u="none" cap="none" strike="noStrike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" sz="2500" u="none" cap="none" strike="noStrik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Mostrar el merge de una rama dentro de otra</a:t>
            </a:r>
            <a:endParaRPr b="1" i="0" sz="2500" u="none" cap="none" strike="noStrike">
              <a:solidFill>
                <a:srgbClr val="B7B7B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367" name="Google Shape;367;p23"/>
          <p:cNvGrpSpPr/>
          <p:nvPr/>
        </p:nvGrpSpPr>
        <p:grpSpPr>
          <a:xfrm>
            <a:off x="475501" y="468273"/>
            <a:ext cx="738900" cy="738900"/>
            <a:chOff x="473351" y="619523"/>
            <a:chExt cx="738900" cy="738900"/>
          </a:xfrm>
        </p:grpSpPr>
        <p:sp>
          <p:nvSpPr>
            <p:cNvPr id="368" name="Google Shape;368;p23"/>
            <p:cNvSpPr/>
            <p:nvPr/>
          </p:nvSpPr>
          <p:spPr>
            <a:xfrm>
              <a:off x="473351" y="61952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69" name="Google Shape;369;p23" title="ícono de ejemplo en vivo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6475" y="762650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70" name="Google Shape;370;p23"/>
          <p:cNvSpPr txBox="1"/>
          <p:nvPr/>
        </p:nvSpPr>
        <p:spPr>
          <a:xfrm>
            <a:off x="475500" y="3829300"/>
            <a:ext cx="716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Duración: </a:t>
            </a:r>
            <a:r>
              <a:rPr b="1" i="0" lang="es" sz="2000" u="none" cap="none" strike="noStrik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15 minutos</a:t>
            </a:r>
            <a:endParaRPr b="1" i="0" sz="2000" u="none" cap="none" strike="noStrike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371" name="Google Shape;371;p23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372" name="Google Shape;372;p23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73" name="Google Shape;373;p23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" name="Google Shape;378;p25"/>
          <p:cNvGrpSpPr/>
          <p:nvPr/>
        </p:nvGrpSpPr>
        <p:grpSpPr>
          <a:xfrm>
            <a:off x="4202556" y="994173"/>
            <a:ext cx="738900" cy="738900"/>
            <a:chOff x="974706" y="2467173"/>
            <a:chExt cx="738900" cy="738900"/>
          </a:xfrm>
        </p:grpSpPr>
        <p:sp>
          <p:nvSpPr>
            <p:cNvPr id="379" name="Google Shape;379;p25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80" name="Google Shape;380;p25" title="ícono de actividad en clase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81" name="Google Shape;381;p25"/>
          <p:cNvSpPr txBox="1"/>
          <p:nvPr/>
        </p:nvSpPr>
        <p:spPr>
          <a:xfrm>
            <a:off x="1461300" y="2208625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" sz="4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extLst>
                  <a:ext uri="http://customooxmlschemas.google.com/">
                    <go:slidesCustomData xmlns:go="http://customooxmlschemas.google.com/" textRoundtripDataId="2"/>
                  </a:ext>
                </a:extLst>
              </a:rPr>
              <a:t>Usando Github</a:t>
            </a:r>
            <a:endParaRPr b="1" i="0" sz="4000" u="none" cap="none" strike="noStrike">
              <a:solidFill>
                <a:schemeClr val="dk1"/>
              </a:solidFill>
              <a:highlight>
                <a:srgbClr val="EAFF6A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82" name="Google Shape;382;p25"/>
          <p:cNvSpPr txBox="1"/>
          <p:nvPr/>
        </p:nvSpPr>
        <p:spPr>
          <a:xfrm>
            <a:off x="987263" y="3818588"/>
            <a:ext cx="716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Duración: </a:t>
            </a:r>
            <a:r>
              <a:rPr b="1" i="0" lang="es" sz="2000" u="none" cap="none" strike="noStrik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10 minutos</a:t>
            </a:r>
            <a:endParaRPr b="1" i="0" sz="2000" u="none" cap="none" strike="noStrike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383" name="Google Shape;383;p25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384" name="Google Shape;384;p25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85" name="Google Shape;385;p25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0" name="Google Shape;39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24525" y="0"/>
            <a:ext cx="3719483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1" name="Google Shape;391;p26"/>
          <p:cNvGrpSpPr/>
          <p:nvPr/>
        </p:nvGrpSpPr>
        <p:grpSpPr>
          <a:xfrm>
            <a:off x="457347" y="468298"/>
            <a:ext cx="431074" cy="431074"/>
            <a:chOff x="974706" y="2467173"/>
            <a:chExt cx="738900" cy="738900"/>
          </a:xfrm>
        </p:grpSpPr>
        <p:sp>
          <p:nvSpPr>
            <p:cNvPr id="392" name="Google Shape;392;p26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93" name="Google Shape;393;p26" title="ícono de actividad en clase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94" name="Google Shape;394;p26"/>
          <p:cNvSpPr txBox="1"/>
          <p:nvPr/>
        </p:nvSpPr>
        <p:spPr>
          <a:xfrm>
            <a:off x="501450" y="1081750"/>
            <a:ext cx="4987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" sz="4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Usando Github</a:t>
            </a:r>
            <a:endParaRPr b="1" i="0" sz="40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395" name="Google Shape;395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26"/>
          <p:cNvSpPr txBox="1"/>
          <p:nvPr/>
        </p:nvSpPr>
        <p:spPr>
          <a:xfrm>
            <a:off x="930550" y="468275"/>
            <a:ext cx="2461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ACTIVIDAD</a:t>
            </a:r>
            <a:endParaRPr b="0" i="0" sz="14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397" name="Google Shape;397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26"/>
          <p:cNvSpPr txBox="1"/>
          <p:nvPr/>
        </p:nvSpPr>
        <p:spPr>
          <a:xfrm>
            <a:off x="501450" y="4649063"/>
            <a:ext cx="6631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100" u="none" cap="none" strike="noStrike">
                <a:solidFill>
                  <a:srgbClr val="595959"/>
                </a:solidFill>
                <a:latin typeface="DM Sans"/>
                <a:ea typeface="DM Sans"/>
                <a:cs typeface="DM Sans"/>
                <a:sym typeface="DM Sans"/>
              </a:rPr>
              <a:t>Fuente de la imagen: </a:t>
            </a:r>
            <a:r>
              <a:rPr b="0" i="0" lang="es" sz="1100" u="sng" cap="none" strike="noStrike">
                <a:solidFill>
                  <a:srgbClr val="83AEFB"/>
                </a:solidFill>
                <a:latin typeface="DM Sans"/>
                <a:ea typeface="DM Sans"/>
                <a:cs typeface="DM Sans"/>
                <a:sym typeface="DM Sans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Amza Andrei</a:t>
            </a:r>
            <a:endParaRPr b="0" i="0" sz="1100" u="none" cap="none" strike="noStrike">
              <a:solidFill>
                <a:srgbClr val="595959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99" name="Google Shape;399;p26"/>
          <p:cNvSpPr txBox="1"/>
          <p:nvPr/>
        </p:nvSpPr>
        <p:spPr>
          <a:xfrm>
            <a:off x="501450" y="2505200"/>
            <a:ext cx="4127700" cy="10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s" sz="135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Descripción de la actividad.</a:t>
            </a:r>
            <a:endParaRPr b="1" sz="135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1" sz="135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s" sz="135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Vamos a subir nuestro proyecto a GitHub </a:t>
            </a: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siguiendo estos</a:t>
            </a:r>
            <a:r>
              <a:rPr b="0" i="0" lang="es" sz="135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tres pasos</a:t>
            </a: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:</a:t>
            </a:r>
            <a:endParaRPr b="0" i="0" sz="135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66164292fe_0_1"/>
          <p:cNvSpPr txBox="1"/>
          <p:nvPr/>
        </p:nvSpPr>
        <p:spPr>
          <a:xfrm>
            <a:off x="595375" y="2356025"/>
            <a:ext cx="4600800" cy="14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s" sz="135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Crear</a:t>
            </a:r>
            <a:r>
              <a:rPr b="1"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un</a:t>
            </a:r>
            <a:r>
              <a:rPr b="1" i="0" lang="es" sz="135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repositorio remoto </a:t>
            </a:r>
            <a:r>
              <a:rPr b="1" i="0" lang="es" sz="135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en GitHub</a:t>
            </a:r>
            <a:r>
              <a:rPr i="0" lang="es" sz="135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i="0" sz="135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4325" lvl="0" marL="45720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DM Sans"/>
              <a:buAutoNum type="arabicPeriod"/>
            </a:pPr>
            <a:r>
              <a:rPr b="0" i="0" lang="es" sz="135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Ingresa a tu cuenta y selecciona </a:t>
            </a:r>
            <a:r>
              <a:rPr b="1" i="0" lang="es" sz="135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New Repository</a:t>
            </a:r>
            <a:r>
              <a:rPr b="0" i="0" lang="es" sz="135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b="0" i="0" sz="135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432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DM Sans"/>
              <a:buAutoNum type="arabicPeriod"/>
            </a:pPr>
            <a:r>
              <a:rPr b="0" i="0" lang="es" sz="135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Asigna un nombre y 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haz clic en el botón </a:t>
            </a:r>
            <a:r>
              <a:rPr b="1"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“Create Repository”</a:t>
            </a:r>
            <a:endParaRPr b="1" i="0" sz="135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405" name="Google Shape;405;g366164292fe_0_1"/>
          <p:cNvGrpSpPr/>
          <p:nvPr/>
        </p:nvGrpSpPr>
        <p:grpSpPr>
          <a:xfrm>
            <a:off x="457347" y="468299"/>
            <a:ext cx="431074" cy="431074"/>
            <a:chOff x="974706" y="2467173"/>
            <a:chExt cx="738900" cy="738900"/>
          </a:xfrm>
        </p:grpSpPr>
        <p:sp>
          <p:nvSpPr>
            <p:cNvPr id="406" name="Google Shape;406;g366164292fe_0_1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07" name="Google Shape;407;g366164292fe_0_1" title="ícono de actividad en clase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08" name="Google Shape;408;g366164292fe_0_1"/>
          <p:cNvSpPr txBox="1"/>
          <p:nvPr/>
        </p:nvSpPr>
        <p:spPr>
          <a:xfrm>
            <a:off x="501450" y="1081750"/>
            <a:ext cx="4987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" sz="4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Paso 1</a:t>
            </a:r>
            <a:endParaRPr b="1" i="0" sz="40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409" name="Google Shape;409;g366164292fe_0_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g366164292fe_0_1"/>
          <p:cNvSpPr txBox="1"/>
          <p:nvPr/>
        </p:nvSpPr>
        <p:spPr>
          <a:xfrm>
            <a:off x="930550" y="468275"/>
            <a:ext cx="2461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ACTIVIDAD</a:t>
            </a:r>
            <a:endParaRPr b="0" i="0" sz="14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411" name="Google Shape;411;g366164292fe_0_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g366164292fe_0_1" title="new_repository_github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22076" y="606952"/>
            <a:ext cx="2657450" cy="378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7" name="Google Shape;417;g366164292fe_0_15"/>
          <p:cNvGrpSpPr/>
          <p:nvPr/>
        </p:nvGrpSpPr>
        <p:grpSpPr>
          <a:xfrm>
            <a:off x="457347" y="468299"/>
            <a:ext cx="431074" cy="431074"/>
            <a:chOff x="974706" y="2467173"/>
            <a:chExt cx="738900" cy="738900"/>
          </a:xfrm>
        </p:grpSpPr>
        <p:sp>
          <p:nvSpPr>
            <p:cNvPr id="418" name="Google Shape;418;g366164292fe_0_15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19" name="Google Shape;419;g366164292fe_0_15" title="ícono de actividad en clase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20" name="Google Shape;420;g366164292fe_0_15"/>
          <p:cNvSpPr txBox="1"/>
          <p:nvPr/>
        </p:nvSpPr>
        <p:spPr>
          <a:xfrm>
            <a:off x="501450" y="1169763"/>
            <a:ext cx="4987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" sz="4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Paso 2</a:t>
            </a:r>
            <a:endParaRPr b="1" i="0" sz="40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421" name="Google Shape;421;g366164292fe_0_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g366164292fe_0_15"/>
          <p:cNvSpPr txBox="1"/>
          <p:nvPr/>
        </p:nvSpPr>
        <p:spPr>
          <a:xfrm>
            <a:off x="930550" y="468275"/>
            <a:ext cx="2461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ACTIVIDAD</a:t>
            </a:r>
            <a:endParaRPr b="0" i="0" sz="14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423" name="Google Shape;423;g366164292fe_0_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g366164292fe_0_15"/>
          <p:cNvSpPr txBox="1"/>
          <p:nvPr/>
        </p:nvSpPr>
        <p:spPr>
          <a:xfrm>
            <a:off x="457350" y="2179075"/>
            <a:ext cx="7457100" cy="16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" sz="135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Vincular el repositorio remoto a tu proyecto local</a:t>
            </a:r>
            <a:endParaRPr b="1" i="0" sz="135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4325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8761D"/>
              </a:buClr>
              <a:buSzPts val="1350"/>
              <a:buFont typeface="DM Sans"/>
              <a:buChar char="●"/>
            </a:pPr>
            <a:r>
              <a:rPr b="0" i="0" lang="es" sz="1350" u="none" cap="none" strike="noStrike">
                <a:solidFill>
                  <a:srgbClr val="38761D"/>
                </a:solidFill>
                <a:highlight>
                  <a:srgbClr val="E8E7E3"/>
                </a:highlight>
                <a:latin typeface="DM Sans"/>
                <a:ea typeface="DM Sans"/>
                <a:cs typeface="DM Sans"/>
                <a:sym typeface="DM Sans"/>
              </a:rPr>
              <a:t>git remote add origin https://github.com/</a:t>
            </a:r>
            <a:r>
              <a:rPr lang="es" sz="1350">
                <a:solidFill>
                  <a:srgbClr val="38761D"/>
                </a:solidFill>
                <a:highlight>
                  <a:srgbClr val="E8E7E3"/>
                </a:highlight>
                <a:latin typeface="DM Sans"/>
                <a:ea typeface="DM Sans"/>
                <a:cs typeface="DM Sans"/>
                <a:sym typeface="DM Sans"/>
              </a:rPr>
              <a:t>[NOMBRE_USUARIO]</a:t>
            </a:r>
            <a:r>
              <a:rPr b="0" i="0" lang="es" sz="1350" u="none" cap="none" strike="noStrike">
                <a:solidFill>
                  <a:srgbClr val="38761D"/>
                </a:solidFill>
                <a:highlight>
                  <a:srgbClr val="E8E7E3"/>
                </a:highlight>
                <a:latin typeface="DM Sans"/>
                <a:ea typeface="DM Sans"/>
                <a:cs typeface="DM Sans"/>
                <a:sym typeface="DM Sans"/>
              </a:rPr>
              <a:t>/</a:t>
            </a:r>
            <a:r>
              <a:rPr lang="es" sz="1350">
                <a:solidFill>
                  <a:srgbClr val="38761D"/>
                </a:solidFill>
                <a:highlight>
                  <a:srgbClr val="E8E7E3"/>
                </a:highlight>
                <a:latin typeface="DM Sans"/>
                <a:ea typeface="DM Sans"/>
                <a:cs typeface="DM Sans"/>
                <a:sym typeface="DM Sans"/>
              </a:rPr>
              <a:t>[REPOSITORY_NAME]</a:t>
            </a:r>
            <a:endParaRPr sz="1350">
              <a:solidFill>
                <a:srgbClr val="38761D"/>
              </a:solidFill>
              <a:highlight>
                <a:srgbClr val="E8E7E3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Atención: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Debes cambiar </a:t>
            </a:r>
            <a:r>
              <a:rPr lang="es" sz="135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"NOMBRE_USUARIO"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por tu nombre de usuario de Github y </a:t>
            </a:r>
            <a:r>
              <a:rPr lang="es" sz="1350">
                <a:solidFill>
                  <a:srgbClr val="188038"/>
                </a:solidFill>
                <a:latin typeface="DM Sans"/>
                <a:ea typeface="DM Sans"/>
                <a:cs typeface="DM Sans"/>
                <a:sym typeface="DM Sans"/>
              </a:rPr>
              <a:t>"REPOSITORY_NAME"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por el nombre que has asignado al nuevo repositorio en el paso anterior.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25" name="Google Shape;425;g366164292fe_0_15"/>
          <p:cNvSpPr txBox="1"/>
          <p:nvPr/>
        </p:nvSpPr>
        <p:spPr>
          <a:xfrm>
            <a:off x="476250" y="3927975"/>
            <a:ext cx="6850200" cy="10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💬 </a:t>
            </a:r>
            <a:r>
              <a:rPr b="1"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Comentario: </a:t>
            </a:r>
            <a:r>
              <a:rPr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Este método con </a:t>
            </a:r>
            <a:r>
              <a:rPr b="1"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HTTPS</a:t>
            </a:r>
            <a:r>
              <a:rPr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está perfecto para empezar.</a:t>
            </a:r>
            <a:endParaRPr sz="13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Más adelante, cuando ya domines lo básico, podés probar las alternativas más seguras y prácticas que usan </a:t>
            </a:r>
            <a:r>
              <a:rPr b="1"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SSH</a:t>
            </a:r>
            <a:r>
              <a:rPr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o la </a:t>
            </a:r>
            <a:r>
              <a:rPr b="1"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GitHub CLI (gh)</a:t>
            </a:r>
            <a:r>
              <a:rPr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para conectar tus proyectos sin ingresar credenciales cada vez.</a:t>
            </a:r>
            <a:endParaRPr sz="20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0" name="Google Shape;430;g366164292fe_0_28"/>
          <p:cNvGrpSpPr/>
          <p:nvPr/>
        </p:nvGrpSpPr>
        <p:grpSpPr>
          <a:xfrm>
            <a:off x="457347" y="468299"/>
            <a:ext cx="431074" cy="431074"/>
            <a:chOff x="974706" y="2467173"/>
            <a:chExt cx="738900" cy="738900"/>
          </a:xfrm>
        </p:grpSpPr>
        <p:sp>
          <p:nvSpPr>
            <p:cNvPr id="431" name="Google Shape;431;g366164292fe_0_28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32" name="Google Shape;432;g366164292fe_0_28" title="ícono de actividad en clase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33" name="Google Shape;433;g366164292fe_0_28"/>
          <p:cNvSpPr txBox="1"/>
          <p:nvPr/>
        </p:nvSpPr>
        <p:spPr>
          <a:xfrm>
            <a:off x="501450" y="1201513"/>
            <a:ext cx="4987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" sz="4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Paso 3</a:t>
            </a:r>
            <a:endParaRPr b="1" i="0" sz="40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434" name="Google Shape;434;g366164292fe_0_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g366164292fe_0_28"/>
          <p:cNvSpPr txBox="1"/>
          <p:nvPr/>
        </p:nvSpPr>
        <p:spPr>
          <a:xfrm>
            <a:off x="501450" y="2242550"/>
            <a:ext cx="6840900" cy="11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" sz="135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Subir los archivos al repositorio remoto creado.</a:t>
            </a:r>
            <a:endParaRPr b="1" i="0" sz="135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4325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8761D"/>
              </a:buClr>
              <a:buSzPts val="1350"/>
              <a:buFont typeface="DM Sans"/>
              <a:buChar char="●"/>
            </a:pPr>
            <a:r>
              <a:rPr b="0" i="0" lang="es" sz="1350" u="none" cap="none" strike="noStrike">
                <a:solidFill>
                  <a:srgbClr val="38761D"/>
                </a:solidFill>
                <a:highlight>
                  <a:srgbClr val="E8E7E3"/>
                </a:highlight>
                <a:latin typeface="DM Sans"/>
                <a:ea typeface="DM Sans"/>
                <a:cs typeface="DM Sans"/>
                <a:sym typeface="DM Sans"/>
              </a:rPr>
              <a:t>git push -u origin main</a:t>
            </a:r>
            <a:endParaRPr b="0" i="0" sz="135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1" i="0" sz="135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36" name="Google Shape;436;g366164292fe_0_28"/>
          <p:cNvSpPr txBox="1"/>
          <p:nvPr/>
        </p:nvSpPr>
        <p:spPr>
          <a:xfrm>
            <a:off x="930550" y="468275"/>
            <a:ext cx="2461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ACTIVIDAD</a:t>
            </a:r>
            <a:endParaRPr b="0" i="0" sz="14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437" name="Google Shape;437;g366164292fe_0_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34"/>
          <p:cNvSpPr txBox="1"/>
          <p:nvPr/>
        </p:nvSpPr>
        <p:spPr>
          <a:xfrm>
            <a:off x="476250" y="291450"/>
            <a:ext cx="43809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s" sz="3200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Esquema resumido</a:t>
            </a:r>
            <a:endParaRPr b="1" i="0" sz="3200" u="none" cap="none" strike="noStrike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443" name="Google Shape;443;p34" title="Usando GitHub - visual select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1212" y="1219300"/>
            <a:ext cx="4081576" cy="3371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8" name="Google Shape;44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9" name="Google Shape;449;p27"/>
          <p:cNvGrpSpPr/>
          <p:nvPr/>
        </p:nvGrpSpPr>
        <p:grpSpPr>
          <a:xfrm>
            <a:off x="4243306" y="1320073"/>
            <a:ext cx="738900" cy="738900"/>
            <a:chOff x="974706" y="2467173"/>
            <a:chExt cx="738900" cy="738900"/>
          </a:xfrm>
        </p:grpSpPr>
        <p:sp>
          <p:nvSpPr>
            <p:cNvPr id="450" name="Google Shape;450;p27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51" name="Google Shape;451;p27" title="ícono de actividad en clase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52" name="Google Shape;452;p27"/>
          <p:cNvSpPr txBox="1"/>
          <p:nvPr/>
        </p:nvSpPr>
        <p:spPr>
          <a:xfrm>
            <a:off x="1502050" y="2406788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" sz="4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Puesta en común</a:t>
            </a:r>
            <a:endParaRPr b="1" i="0" sz="4000" u="none" cap="none" strike="noStrike">
              <a:solidFill>
                <a:schemeClr val="dk1"/>
              </a:solidFill>
              <a:highlight>
                <a:srgbClr val="EAFF6A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53" name="Google Shape;453;p27"/>
          <p:cNvSpPr txBox="1"/>
          <p:nvPr/>
        </p:nvSpPr>
        <p:spPr>
          <a:xfrm>
            <a:off x="2179625" y="3493500"/>
            <a:ext cx="506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Duración: </a:t>
            </a:r>
            <a:r>
              <a:rPr b="1" i="0" lang="es" sz="2000" u="none" cap="none" strike="noStrik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5 minutos</a:t>
            </a:r>
            <a:endParaRPr b="1" i="0" sz="2000" u="none" cap="none" strike="noStrike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8394554c3f_0_25"/>
          <p:cNvSpPr txBox="1"/>
          <p:nvPr/>
        </p:nvSpPr>
        <p:spPr>
          <a:xfrm>
            <a:off x="1461300" y="1478925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" sz="4000" u="none" cap="none" strike="noStrike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¿Preguntas?</a:t>
            </a:r>
            <a:endParaRPr b="1" i="0" sz="4000" u="none" cap="none" strike="noStrike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59" name="Google Shape;459;g38394554c3f_0_25"/>
          <p:cNvSpPr txBox="1"/>
          <p:nvPr/>
        </p:nvSpPr>
        <p:spPr>
          <a:xfrm>
            <a:off x="2998200" y="2248575"/>
            <a:ext cx="31476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Te invitamos a abrir el micrófono y compartir tus dudas o ponerlas en el chat.</a:t>
            </a:r>
            <a:endParaRPr b="0" i="0" sz="2000" u="sng" cap="none" strike="noStrike">
              <a:solidFill>
                <a:srgbClr val="83AEF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36"/>
          <p:cNvSpPr txBox="1"/>
          <p:nvPr/>
        </p:nvSpPr>
        <p:spPr>
          <a:xfrm>
            <a:off x="2109143" y="2502363"/>
            <a:ext cx="4925700" cy="10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4325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FF6A"/>
              </a:buClr>
              <a:buSzPts val="1350"/>
              <a:buFont typeface="DM Sans"/>
              <a:buChar char="✓"/>
            </a:pPr>
            <a:r>
              <a:rPr b="0" i="0" lang="es" sz="135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Git instalación</a:t>
            </a:r>
            <a:endParaRPr b="0" i="0" sz="135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4325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FF6A"/>
              </a:buClr>
              <a:buSzPts val="1350"/>
              <a:buFont typeface="DM Sans"/>
              <a:buChar char="✓"/>
            </a:pPr>
            <a:r>
              <a:rPr b="0" i="0" lang="es" sz="135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Git usos</a:t>
            </a:r>
            <a:endParaRPr b="0" i="0" sz="135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4325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FF6A"/>
              </a:buClr>
              <a:buSzPts val="1350"/>
              <a:buFont typeface="DM Sans"/>
              <a:buChar char="✓"/>
            </a:pPr>
            <a:r>
              <a:rPr b="0" i="0" lang="es" sz="135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Github</a:t>
            </a:r>
            <a:endParaRPr b="0" i="0" sz="135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65" name="Google Shape;465;p36"/>
          <p:cNvSpPr txBox="1"/>
          <p:nvPr/>
        </p:nvSpPr>
        <p:spPr>
          <a:xfrm>
            <a:off x="1339500" y="693075"/>
            <a:ext cx="6465000" cy="10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" sz="4000" u="none" cap="none" strike="noStrike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Resumen</a:t>
            </a:r>
            <a:r>
              <a:rPr b="1" i="0" lang="es" sz="4000" u="none" cap="none" strike="noStrike">
                <a:solidFill>
                  <a:srgbClr val="DEFC52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b="1" i="0" sz="4000" u="none" cap="none" strike="noStrike">
              <a:solidFill>
                <a:srgbClr val="DEFC5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" sz="40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de la clase hoy</a:t>
            </a:r>
            <a:endParaRPr b="0" i="0" sz="40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38"/>
          <p:cNvSpPr txBox="1"/>
          <p:nvPr/>
        </p:nvSpPr>
        <p:spPr>
          <a:xfrm>
            <a:off x="1461300" y="1925250"/>
            <a:ext cx="6221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" sz="4000" u="none" cap="none" strike="noStrike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Opina y valora</a:t>
            </a:r>
            <a:r>
              <a:rPr b="1" i="0" lang="es" sz="4000" u="none" cap="none" strike="noStrike">
                <a:solidFill>
                  <a:srgbClr val="DEFC52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b="1" i="0" sz="4000" u="none" cap="none" strike="noStrike">
              <a:solidFill>
                <a:srgbClr val="DEFC5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" sz="40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esta clase</a:t>
            </a:r>
            <a:endParaRPr b="1" i="0" sz="40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39"/>
          <p:cNvSpPr txBox="1"/>
          <p:nvPr/>
        </p:nvSpPr>
        <p:spPr>
          <a:xfrm>
            <a:off x="2382900" y="2171550"/>
            <a:ext cx="4378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" sz="40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Muchas gracias</a:t>
            </a:r>
            <a:r>
              <a:rPr b="1" i="0" lang="es" sz="4000" u="none" cap="none" strike="noStrike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b="0" i="0" sz="4000" u="none" cap="none" strike="noStrike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66164292fe_0_125"/>
          <p:cNvSpPr txBox="1"/>
          <p:nvPr/>
        </p:nvSpPr>
        <p:spPr>
          <a:xfrm>
            <a:off x="1575750" y="1863750"/>
            <a:ext cx="59925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" sz="40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Educación digital</a:t>
            </a:r>
            <a:endParaRPr b="1" i="0" sz="4000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" sz="4000" u="none" cap="none" strike="noStrike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para el mundo real</a:t>
            </a:r>
            <a:r>
              <a:rPr b="1" i="0" lang="es" sz="40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. </a:t>
            </a:r>
            <a:endParaRPr b="1" i="0" sz="4000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od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9DF4E2"/>
      </a:accent1>
      <a:accent2>
        <a:srgbClr val="212121"/>
      </a:accent2>
      <a:accent3>
        <a:srgbClr val="78909C"/>
      </a:accent3>
      <a:accent4>
        <a:srgbClr val="EA90FF"/>
      </a:accent4>
      <a:accent5>
        <a:srgbClr val="83AEFB"/>
      </a:accent5>
      <a:accent6>
        <a:srgbClr val="EAFF6A"/>
      </a:accent6>
      <a:hlink>
        <a:srgbClr val="83AEF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od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9DF4E2"/>
      </a:accent1>
      <a:accent2>
        <a:srgbClr val="212121"/>
      </a:accent2>
      <a:accent3>
        <a:srgbClr val="78909C"/>
      </a:accent3>
      <a:accent4>
        <a:srgbClr val="EA90FF"/>
      </a:accent4>
      <a:accent5>
        <a:srgbClr val="83AEFB"/>
      </a:accent5>
      <a:accent6>
        <a:srgbClr val="EAFF6A"/>
      </a:accent6>
      <a:hlink>
        <a:srgbClr val="83AEF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