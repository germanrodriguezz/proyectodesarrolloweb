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Helvetica Neue"/>
      <p:regular r:id="rId31"/>
      <p:bold r:id="rId32"/>
      <p:italic r:id="rId33"/>
      <p:boldItalic r:id="rId34"/>
    </p:embeddedFont>
    <p:embeddedFont>
      <p:font typeface="Helvetica Neue Light"/>
      <p:regular r:id="rId35"/>
      <p:bold r:id="rId36"/>
      <p:italic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  <p:ext uri="GoogleSlidesCustomDataVersion2">
      <go:slidesCustomData xmlns:go="http://customooxmlschemas.google.com/" r:id="rId47" roundtripDataSignature="AMtx7mgEQk84QflR/f0dEv94Uyhfs97M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28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44" Type="http://schemas.openxmlformats.org/officeDocument/2006/relationships/font" Target="fonts/DMSans-bold.fntdata"/><Relationship Id="rId21" Type="http://schemas.openxmlformats.org/officeDocument/2006/relationships/slide" Target="slides/slide15.xml"/><Relationship Id="rId43" Type="http://schemas.openxmlformats.org/officeDocument/2006/relationships/font" Target="fonts/DMSans-regular.fntdata"/><Relationship Id="rId24" Type="http://schemas.openxmlformats.org/officeDocument/2006/relationships/slide" Target="slides/slide18.xml"/><Relationship Id="rId46" Type="http://schemas.openxmlformats.org/officeDocument/2006/relationships/font" Target="fonts/DM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4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7.xml"/><Relationship Id="rId35" Type="http://schemas.openxmlformats.org/officeDocument/2006/relationships/font" Target="fonts/HelveticaNeueLight-regular.fntdata"/><Relationship Id="rId12" Type="http://schemas.openxmlformats.org/officeDocument/2006/relationships/slide" Target="slides/slide6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9.xml"/><Relationship Id="rId37" Type="http://schemas.openxmlformats.org/officeDocument/2006/relationships/font" Target="fonts/HelveticaNeueLight-italic.fntdata"/><Relationship Id="rId14" Type="http://schemas.openxmlformats.org/officeDocument/2006/relationships/slide" Target="slides/slide8.xml"/><Relationship Id="rId36" Type="http://schemas.openxmlformats.org/officeDocument/2006/relationships/font" Target="fonts/HelveticaNeueLight-bold.fntdata"/><Relationship Id="rId17" Type="http://schemas.openxmlformats.org/officeDocument/2006/relationships/slide" Target="slides/slide11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38" Type="http://schemas.openxmlformats.org/officeDocument/2006/relationships/font" Target="fonts/HelveticaNeue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Live Session </a:t>
            </a:r>
            <a:r>
              <a:rPr lang="es">
                <a:solidFill>
                  <a:schemeClr val="dk1"/>
                </a:solidFill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11f4c8eb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11f4c8eb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latin typeface="DM Sans"/>
                <a:ea typeface="DM Sans"/>
                <a:cs typeface="DM Sans"/>
                <a:sym typeface="DM Sans"/>
              </a:rPr>
              <a:t>Profesor: 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10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15 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Profesor, considerar los siguientes pasos: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 git init, git add + archivo con cambios y git add . (punto) para ver la diferencia entre ambos 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 status y git log para tener conocimiento de las versiones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 log –oneline para acomodar el contenido 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Considerar dar 5 o 10 minutos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cac424e7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6cac424e7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latin typeface="DM Sans"/>
                <a:ea typeface="DM Sans"/>
                <a:cs typeface="DM Sans"/>
                <a:sym typeface="DM Sans"/>
              </a:rPr>
              <a:t>Profesor: 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cac424e7a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6cac424e7a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latin typeface="DM Sans"/>
                <a:ea typeface="DM Sans"/>
                <a:cs typeface="DM Sans"/>
                <a:sym typeface="DM Sans"/>
              </a:rPr>
              <a:t>Profesor: 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latin typeface="DM Sans"/>
                <a:ea typeface="DM Sans"/>
                <a:cs typeface="DM Sans"/>
                <a:sym typeface="DM Sans"/>
              </a:rPr>
              <a:t>Profesor: 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14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15 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Profesor: Elegir algunos retos de la página para compartir con los estudiantes y solucionarlos en la puesta en común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cac424e7a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6cac424e7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Profesor: Elegir algunos retos de la página para compartir con los estudiantes y solucionarlos en la puesta en común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Profesor, elegir algún reto de los estudiantes y pedir que muestre su resolución. Hacer lo mismo con otros retos. 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Profesor: Aquí la idea es dejar en claro cómo se hará la entrega del primer preentregable y resolver todas las dudas que surjan al respecto.</a:t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7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8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6" name="Google Shape;16;p41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2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9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0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5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5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46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7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8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9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4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3" name="Google Shape;43;p5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44" name="Google Shape;44;p50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51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1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2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5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4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54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5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56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57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58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9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hyperlink" Target="https://unsplash.com/es/fotos/cFFEeHNZEqw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jp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hyperlink" Target="https://cssbattle.dev/" TargetMode="External"/><Relationship Id="rId7" Type="http://schemas.openxmlformats.org/officeDocument/2006/relationships/hyperlink" Target="https://unsplash.com/es/fotos/Bss5nhYnLKU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Relationship Id="rId4" Type="http://schemas.openxmlformats.org/officeDocument/2006/relationships/image" Target="../media/image16.png"/><Relationship Id="rId10" Type="http://schemas.openxmlformats.org/officeDocument/2006/relationships/hyperlink" Target="https://unsplash.com/es/fotos/Bss5nhYnLKU" TargetMode="External"/><Relationship Id="rId9" Type="http://schemas.openxmlformats.org/officeDocument/2006/relationships/hyperlink" Target="https://cubic-bezier.com/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animista.net/" TargetMode="External"/><Relationship Id="rId7" Type="http://schemas.openxmlformats.org/officeDocument/2006/relationships/hyperlink" Target="https://animista.net/" TargetMode="External"/><Relationship Id="rId8" Type="http://schemas.openxmlformats.org/officeDocument/2006/relationships/hyperlink" Target="https://cubic-bezier.com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¡Les damos la bienvenida!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315900" y="3421350"/>
            <a:ext cx="25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b="0" i="0" sz="2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Man Dancing on Apple iOS 12.2" id="71" name="Google Shape;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3900" y="808750"/>
            <a:ext cx="876200" cy="8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3655975" y="2541075"/>
            <a:ext cx="222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2356516" y="2033650"/>
            <a:ext cx="443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Clase práctica en vivo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3124950" y="3082025"/>
            <a:ext cx="289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467600" y="471175"/>
            <a:ext cx="529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DESARROLLO WEB</a:t>
            </a:r>
            <a:endParaRPr b="0" i="0" sz="135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/>
        </p:nvSpPr>
        <p:spPr>
          <a:xfrm>
            <a:off x="1461300" y="22529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Animaciones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</a:t>
            </a: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b="1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b="0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DESARROLLO WEB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01" name="Google Shape;101;p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" name="Google Shape;102;p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7"/>
          <p:cNvSpPr txBox="1"/>
          <p:nvPr/>
        </p:nvSpPr>
        <p:spPr>
          <a:xfrm>
            <a:off x="1547025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Dándole vida a tu sitio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b="0" i="0" sz="200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800" u="none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6" name="Google Shape;106;p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07" name="Google Shape;107;p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6919" y="-6775"/>
            <a:ext cx="342816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8"/>
          <p:cNvGrpSpPr/>
          <p:nvPr/>
        </p:nvGrpSpPr>
        <p:grpSpPr>
          <a:xfrm>
            <a:off x="475504" y="468236"/>
            <a:ext cx="431074" cy="431148"/>
            <a:chOff x="974706" y="2467173"/>
            <a:chExt cx="738900" cy="738900"/>
          </a:xfrm>
        </p:grpSpPr>
        <p:sp>
          <p:nvSpPr>
            <p:cNvPr id="115" name="Google Shape;115;p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6" name="Google Shape;116;p8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8"/>
          <p:cNvSpPr txBox="1"/>
          <p:nvPr/>
        </p:nvSpPr>
        <p:spPr>
          <a:xfrm>
            <a:off x="548250" y="2220125"/>
            <a:ext cx="47532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Utilizando animaciones, ahora podrás poner algunas transiciones dentro de tu proyecto</a:t>
            </a:r>
            <a:endParaRPr b="0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501450" y="1081750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Dándole vida a tu sitio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9" name="Google Shape;11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6"/>
              </a:rPr>
              <a:t>Kevin Canlas</a:t>
            </a:r>
            <a:endParaRPr b="0" i="0" sz="11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g211f4c8eb12_0_0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27" name="Google Shape;127;g211f4c8eb12_0_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8" name="Google Shape;128;g211f4c8eb12_0_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g211f4c8eb12_0_0"/>
          <p:cNvSpPr txBox="1"/>
          <p:nvPr/>
        </p:nvSpPr>
        <p:spPr>
          <a:xfrm>
            <a:off x="1547025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 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g211f4c8eb12_0_0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800" u="none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1" name="Google Shape;131;g211f4c8eb12_0_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32" name="Google Shape;132;g211f4c8eb12_0_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3" name="Google Shape;133;g211f4c8eb12_0_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/>
        </p:nvSpPr>
        <p:spPr>
          <a:xfrm>
            <a:off x="5052200" y="2224400"/>
            <a:ext cx="318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Imagen: Doc HTML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561475" y="2338875"/>
            <a:ext cx="35259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50"/>
              <a:buFont typeface="DM Sans"/>
              <a:buChar char="●"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¿Te pareció complicado utilizar animaciones?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999999"/>
              </a:buClr>
              <a:buSzPts val="1350"/>
              <a:buFont typeface="DM Sans"/>
              <a:buChar char="●"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¿Qué dificultades se te presentaron y cómo las resolviste?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RESULTADOS 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488850" y="931400"/>
            <a:ext cx="416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Dándole vida a tu sitio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2" name="Google Shape;142;p9"/>
          <p:cNvGrpSpPr/>
          <p:nvPr/>
        </p:nvGrpSpPr>
        <p:grpSpPr>
          <a:xfrm>
            <a:off x="475504" y="468236"/>
            <a:ext cx="431074" cy="431148"/>
            <a:chOff x="974706" y="2467173"/>
            <a:chExt cx="738900" cy="738900"/>
          </a:xfrm>
        </p:grpSpPr>
        <p:sp>
          <p:nvSpPr>
            <p:cNvPr id="143" name="Google Shape;143;p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4" name="Google Shape;144;p9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5" name="Google Shape;14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5550" y="468314"/>
            <a:ext cx="4162200" cy="1801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5550" y="2535925"/>
            <a:ext cx="4162180" cy="180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 txBox="1"/>
          <p:nvPr/>
        </p:nvSpPr>
        <p:spPr>
          <a:xfrm>
            <a:off x="5093825" y="4291775"/>
            <a:ext cx="318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Imagen: Doc CSS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/>
        </p:nvSpPr>
        <p:spPr>
          <a:xfrm>
            <a:off x="1461288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Pasos </a:t>
            </a:r>
            <a:r>
              <a:rPr b="1" i="0" lang="es" sz="4000" u="none" cap="none" strike="noStrike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previos</a:t>
            </a:r>
            <a:endParaRPr b="1" i="0" sz="4000" u="none" cap="none" strike="noStrike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475500" y="147485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Demostración de transformaciones con y sin transiciones</a:t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59" name="Google Shape;159;p12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160" name="Google Shape;160;p12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1" name="Google Shape;161;p12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12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3" name="Google Shape;163;p1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64" name="Google Shape;164;p1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5" name="Google Shape;165;p1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3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171" name="Google Shape;171;p1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2" name="Google Shape;172;p13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3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Practicando SASS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5" name="Google Shape;175;p1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76" name="Google Shape;176;p1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4"/>
          <p:cNvGrpSpPr/>
          <p:nvPr/>
        </p:nvGrpSpPr>
        <p:grpSpPr>
          <a:xfrm>
            <a:off x="457347" y="468298"/>
            <a:ext cx="431074" cy="431074"/>
            <a:chOff x="974706" y="2467173"/>
            <a:chExt cx="738900" cy="738900"/>
          </a:xfrm>
        </p:grpSpPr>
        <p:sp>
          <p:nvSpPr>
            <p:cNvPr id="184" name="Google Shape;184;p1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5" name="Google Shape;185;p14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6" name="Google Shape;186;p14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Practica</a:t>
            </a: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mos 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 txBox="1"/>
          <p:nvPr/>
        </p:nvSpPr>
        <p:spPr>
          <a:xfrm>
            <a:off x="501450" y="1889750"/>
            <a:ext cx="4127700" cy="3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una animación con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@keyframes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aplicarla a un elemento con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animation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y ajustar duración, delay e iteraciones.</a:t>
            </a:r>
            <a:b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@keyframes mover {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from { transform: translateX(0); }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to { transform: translateX(100px); }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.caja {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animation: mover 2s ease-in-out infinite alternate;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0" name="Google Shape;19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15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197" name="Google Shape;197;p1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8" name="Google Shape;198;p15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15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s" sz="5000" u="none" cap="none" strike="noStrik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b="0" i="0" sz="5000" u="none" cap="none" strike="noStrik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2809200" y="2971950"/>
            <a:ext cx="35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¡En unos minutos volvemos!</a:t>
            </a:r>
            <a:endParaRPr b="0" i="0" sz="2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cac424e7a_1_0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Animaciones y Accesibilidad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g36cac424e7a_1_0"/>
          <p:cNvSpPr txBox="1"/>
          <p:nvPr/>
        </p:nvSpPr>
        <p:spPr>
          <a:xfrm>
            <a:off x="476250" y="1253900"/>
            <a:ext cx="7169400" cy="37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Las animaciones y transiciones se enseñan sin considerar la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accesibilidad visual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Algunos usuarios (por ejemplo, con vértigo o sensibilidad al movimiento) prefieren reducir o eliminar animaciones.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CSS permite detectar esta preferencia con la media query: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@media (prefers-reduced-motion: reduce) {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* {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animation: none !important;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transition: none !important;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🧠 ¿Por qué es importante?</a:t>
            </a:r>
            <a:endParaRPr b="1"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Mejora la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experiencia inclusiva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todos los usuarios.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Evita mareos o distracciones innecesarias.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 una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buena práctica moderna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recomendada por los estándares de accesibilidad (WCAG).</a:t>
            </a:r>
            <a:endParaRPr b="1" i="0" sz="25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3" name="Google Shape;213;g36cac424e7a_1_0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14" name="Google Shape;214;g36cac424e7a_1_0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5" name="Google Shape;215;g36cac424e7a_1_0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" name="Google Shape;216;g36cac424e7a_1_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17" name="Google Shape;217;g36cac424e7a_1_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8" name="Google Shape;218;g36cac424e7a_1_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cac424e7a_1_17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Animaciones Modernas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g36cac424e7a_1_17"/>
          <p:cNvSpPr txBox="1"/>
          <p:nvPr/>
        </p:nvSpPr>
        <p:spPr>
          <a:xfrm>
            <a:off x="476250" y="1253900"/>
            <a:ext cx="7169400" cy="3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Hasta ahora vimos las bases de las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transiciones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transformaciones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que nos permiten crear efectos suaves y simples en CSS.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Sin embargo, en los proyectos actuales se usan animaciones más completas, con mayor control sobre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tiempo, el inicio y el final del movimiento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sección vamos a conocer algunas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propiedades modernas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 hacen las animaciones más realistas y profesionales: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animation-delay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→ controla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cuándo empieza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la animación.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animation-fill-mode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→ permite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mantener el estado final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después de animar.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Nuevas combinaciones con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transform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scale()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rotate()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skew()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s" sz="11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translate()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Estas herramientas nos dan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más control y dinamismo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sobre cómo se mueven o cambian los elementos.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5" name="Google Shape;225;g36cac424e7a_1_17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26" name="Google Shape;226;g36cac424e7a_1_1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7" name="Google Shape;227;g36cac424e7a_1_17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" name="Google Shape;228;g36cac424e7a_1_1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29" name="Google Shape;229;g36cac424e7a_1_1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0" name="Google Shape;230;g36cac424e7a_1_1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475500" y="147485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Sintaxis de las animaciones y aplicación en un caso de uso real </a:t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37" name="Google Shape;237;p18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38" name="Google Shape;238;p1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9" name="Google Shape;239;p18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0" name="Google Shape;240;p18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1" name="Google Shape;241;p18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42" name="Google Shape;242;p18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19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249" name="Google Shape;249;p1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0" name="Google Shape;250;p19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" name="Google Shape;251;p19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CSS Battle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14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3" name="Google Shape;253;p1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54" name="Google Shape;254;p1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20"/>
          <p:cNvGrpSpPr/>
          <p:nvPr/>
        </p:nvGrpSpPr>
        <p:grpSpPr>
          <a:xfrm>
            <a:off x="457347" y="468298"/>
            <a:ext cx="431074" cy="431074"/>
            <a:chOff x="974706" y="2467173"/>
            <a:chExt cx="738900" cy="738900"/>
          </a:xfrm>
        </p:grpSpPr>
        <p:sp>
          <p:nvSpPr>
            <p:cNvPr id="262" name="Google Shape;262;p2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3" name="Google Shape;263;p20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4" name="Google Shape;264;p20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CSS Battle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5" name="Google Shape;26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 txBox="1"/>
          <p:nvPr/>
        </p:nvSpPr>
        <p:spPr>
          <a:xfrm>
            <a:off x="501450" y="2157150"/>
            <a:ext cx="41277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sng" cap="none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6"/>
              </a:rPr>
              <a:t>CSS Battle </a:t>
            </a:r>
            <a:r>
              <a:rPr b="0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 sitio web que presenta desafíos de codificación en los que los usuarios deben recrear diseños utilizando solo HTML y CSS. Muchos de los desafíos implican animaciones y transiciones en CSS, lo que los convierte en una forma divertida de practicar y mejorar tus habilidades.</a:t>
            </a:r>
            <a:endParaRPr b="0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8" name="Google Shape;2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0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95959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Amza Andrei</a:t>
            </a:r>
            <a:endParaRPr b="0" i="0" sz="1100" u="none" cap="none" strike="noStrike">
              <a:solidFill>
                <a:srgbClr val="59595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36cac424e7a_1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5" name="Google Shape;275;g36cac424e7a_1_33"/>
          <p:cNvGrpSpPr/>
          <p:nvPr/>
        </p:nvGrpSpPr>
        <p:grpSpPr>
          <a:xfrm>
            <a:off x="457347" y="468299"/>
            <a:ext cx="431074" cy="431074"/>
            <a:chOff x="974706" y="2467173"/>
            <a:chExt cx="738900" cy="738900"/>
          </a:xfrm>
        </p:grpSpPr>
        <p:sp>
          <p:nvSpPr>
            <p:cNvPr id="276" name="Google Shape;276;g36cac424e7a_1_3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7" name="Google Shape;277;g36cac424e7a_1_33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8" name="Google Shape;278;g36cac424e7a_1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6cac424e7a_1_33"/>
          <p:cNvSpPr txBox="1"/>
          <p:nvPr/>
        </p:nvSpPr>
        <p:spPr>
          <a:xfrm>
            <a:off x="252725" y="962325"/>
            <a:ext cx="51330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Aprender animaciones no se trata solo de memorizar propiedades, sino de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explorar, probar y ajustar efectos reales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Además de </a:t>
            </a:r>
            <a:r>
              <a:rPr b="1"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CSS Battle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que ayuda a mejorar precisión y creatividad en CSS, te recomendamos estas herramientas: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🎨</a:t>
            </a:r>
            <a:r>
              <a:rPr lang="es" sz="11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" sz="11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7"/>
              </a:rPr>
              <a:t>Animista.net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→ genera animaciones listas para usar. Puedes elegir el tipo de entrada, salida o repetición y copiar el código CSS.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⏱️</a:t>
            </a:r>
            <a:r>
              <a:rPr lang="es" sz="11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s" sz="11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9"/>
              </a:rPr>
              <a:t>Cubic-bezier.com</a:t>
            </a: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→ te permite crear y visualizar tus propias curvas de animación para personalizar el ritmo del movimiento.</a:t>
            </a:r>
            <a:b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💡 Estos recursos te ayudarán a practicar de forma autónoma y entender cómo pequeños ajustes cambian por completo la sensación de una animación.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0" name="Google Shape;280;g36cac424e7a_1_33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1" name="Google Shape;281;g36cac424e7a_1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6cac424e7a_1_33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95959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Amza Andrei</a:t>
            </a:r>
            <a:endParaRPr b="0" i="0" sz="1100" u="none" cap="none" strike="noStrike">
              <a:solidFill>
                <a:srgbClr val="59595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21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289" name="Google Shape;289;p21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0" name="Google Shape;290;p21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1" name="Google Shape;291;p21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6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/>
        </p:nvSpPr>
        <p:spPr>
          <a:xfrm>
            <a:off x="1461300" y="14789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2998200" y="2248575"/>
            <a:ext cx="314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 invitamos a abrir el micrófono y compartir tus dudas o ponerlas en el chat.</a:t>
            </a:r>
            <a:endParaRPr b="0" i="0" sz="2000" u="sng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b="1" i="0" lang="es" sz="4000" u="none" cap="none" strike="noStrik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b="1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