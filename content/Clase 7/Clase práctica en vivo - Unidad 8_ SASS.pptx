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5143500" cx="9144000"/>
  <p:notesSz cx="6858000" cy="9144000"/>
  <p:embeddedFontLst>
    <p:embeddedFont>
      <p:font typeface="Helvetica Neue"/>
      <p:regular r:id="rId33"/>
      <p:bold r:id="rId34"/>
      <p:italic r:id="rId35"/>
      <p:boldItalic r:id="rId36"/>
    </p:embeddedFont>
    <p:embeddedFont>
      <p:font typeface="Helvetica Neue Light"/>
      <p:regular r:id="rId37"/>
      <p:bold r:id="rId38"/>
      <p:italic r:id="rId39"/>
      <p:boldItalic r:id="rId40"/>
    </p:embeddedFont>
    <p:embeddedFont>
      <p:font typeface="DM Sans"/>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95">
          <p15:clr>
            <a:srgbClr val="A4A3A4"/>
          </p15:clr>
        </p15:guide>
        <p15:guide id="2" pos="5460">
          <p15:clr>
            <a:srgbClr val="A4A3A4"/>
          </p15:clr>
        </p15:guide>
        <p15:guide id="3" pos="300">
          <p15:clr>
            <a:srgbClr val="9AA0A6"/>
          </p15:clr>
        </p15:guide>
        <p15:guide id="4" orient="horz" pos="2892">
          <p15:clr>
            <a:srgbClr val="9AA0A6"/>
          </p15:clr>
        </p15:guide>
      </p15:sldGuideLst>
    </p:ext>
    <p:ext uri="GoogleSlidesCustomDataVersion2">
      <go:slidesCustomData xmlns:go="http://customooxmlschemas.google.com/" r:id="rId45" roundtripDataSignature="AMtx7mg7Tfl4X2oaPGoJXbmbmwOmOpNYZ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95" orient="horz"/>
        <p:guide pos="5460"/>
        <p:guide pos="300"/>
        <p:guide pos="2892"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HelveticaNeueLight-boldItalic.fntdata"/><Relationship Id="rId20" Type="http://schemas.openxmlformats.org/officeDocument/2006/relationships/slide" Target="slides/slide14.xml"/><Relationship Id="rId42" Type="http://schemas.openxmlformats.org/officeDocument/2006/relationships/font" Target="fonts/DMSans-bold.fntdata"/><Relationship Id="rId41" Type="http://schemas.openxmlformats.org/officeDocument/2006/relationships/font" Target="fonts/DMSans-regular.fntdata"/><Relationship Id="rId22" Type="http://schemas.openxmlformats.org/officeDocument/2006/relationships/slide" Target="slides/slide16.xml"/><Relationship Id="rId44" Type="http://schemas.openxmlformats.org/officeDocument/2006/relationships/font" Target="fonts/DMSans-boldItalic.fntdata"/><Relationship Id="rId21" Type="http://schemas.openxmlformats.org/officeDocument/2006/relationships/slide" Target="slides/slide15.xml"/><Relationship Id="rId43" Type="http://schemas.openxmlformats.org/officeDocument/2006/relationships/font" Target="fonts/DMSans-italic.fntdata"/><Relationship Id="rId24" Type="http://schemas.openxmlformats.org/officeDocument/2006/relationships/slide" Target="slides/slide18.xml"/><Relationship Id="rId23" Type="http://schemas.openxmlformats.org/officeDocument/2006/relationships/slide" Target="slides/slide17.xml"/><Relationship Id="rId45" Type="http://customschemas.google.com/relationships/presentationmetadata" Target="meta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HelveticaNeue-regular.fntdata"/><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HelveticaNeue-italic.fntdata"/><Relationship Id="rId12" Type="http://schemas.openxmlformats.org/officeDocument/2006/relationships/slide" Target="slides/slide6.xml"/><Relationship Id="rId34" Type="http://schemas.openxmlformats.org/officeDocument/2006/relationships/font" Target="fonts/HelveticaNeue-bold.fntdata"/><Relationship Id="rId15" Type="http://schemas.openxmlformats.org/officeDocument/2006/relationships/slide" Target="slides/slide9.xml"/><Relationship Id="rId37" Type="http://schemas.openxmlformats.org/officeDocument/2006/relationships/font" Target="fonts/HelveticaNeueLight-regular.fntdata"/><Relationship Id="rId14" Type="http://schemas.openxmlformats.org/officeDocument/2006/relationships/slide" Target="slides/slide8.xml"/><Relationship Id="rId36" Type="http://schemas.openxmlformats.org/officeDocument/2006/relationships/font" Target="fonts/HelveticaNeue-boldItalic.fntdata"/><Relationship Id="rId17" Type="http://schemas.openxmlformats.org/officeDocument/2006/relationships/slide" Target="slides/slide11.xml"/><Relationship Id="rId39" Type="http://schemas.openxmlformats.org/officeDocument/2006/relationships/font" Target="fonts/HelveticaNeueLight-italic.fntdata"/><Relationship Id="rId16" Type="http://schemas.openxmlformats.org/officeDocument/2006/relationships/slide" Target="slides/slide10.xml"/><Relationship Id="rId38" Type="http://schemas.openxmlformats.org/officeDocument/2006/relationships/font" Target="fonts/HelveticaNeueLight-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presentation/d/1vieCGzAPuYf5vWsu8Xgbn_2Ax4QNLnXO/edit?usp=sharing&amp;ouid=103396586770751045195&amp;rtpof=true&amp;sd=true" TargetMode="External"/><Relationship Id="rId3" Type="http://schemas.openxmlformats.org/officeDocument/2006/relationships/hyperlink" Target="https://www.youtube.com/watch?v=PJL8iYTIY3E&amp;feature=youtu.be"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presentation/d/1vieCGzAPuYf5vWsu8Xgbn_2Ax4QNLnXO/edit?usp=sharing&amp;ouid=103396586770751045195&amp;rtpof=true&amp;sd=true" TargetMode="External"/><Relationship Id="rId3" Type="http://schemas.openxmlformats.org/officeDocument/2006/relationships/hyperlink" Target="https://www.youtube.com/watch?v=PJL8iYTIY3E&amp;feature=youtu.be"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Colocar todas las clases.</a:t>
            </a:r>
            <a:endParaRPr>
              <a:latin typeface="DM Sans"/>
              <a:ea typeface="DM Sans"/>
              <a:cs typeface="DM Sans"/>
              <a:sym typeface="DM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Utilizar esta slide para Live Session </a:t>
            </a:r>
            <a:r>
              <a:rPr lang="es">
                <a:solidFill>
                  <a:schemeClr val="dk1"/>
                </a:solidFill>
                <a:highlight>
                  <a:srgbClr val="DEFC52"/>
                </a:highlight>
                <a:latin typeface="DM Sans"/>
                <a:ea typeface="DM Sans"/>
                <a:cs typeface="DM Sans"/>
                <a:sym typeface="DM Sans"/>
              </a:rPr>
              <a:t>(OPCIÓN DASH)</a:t>
            </a:r>
            <a:endParaRPr>
              <a:highlight>
                <a:srgbClr val="DEFC52"/>
              </a:highlight>
              <a:latin typeface="DM Sans"/>
              <a:ea typeface="DM Sans"/>
              <a:cs typeface="DM Sans"/>
              <a:sym typeface="DM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Obligatoria siempre</a:t>
            </a:r>
            <a:endParaRPr>
              <a:latin typeface="DM Sans"/>
              <a:ea typeface="DM Sans"/>
              <a:cs typeface="DM Sans"/>
              <a:sym typeface="DM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highlight>
                <a:srgbClr val="DEFC52"/>
              </a:highlight>
              <a:latin typeface="DM Sans"/>
              <a:ea typeface="DM Sans"/>
              <a:cs typeface="DM Sans"/>
              <a:sym typeface="DM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DM Sans"/>
              <a:ea typeface="DM Sans"/>
              <a:cs typeface="DM Sans"/>
              <a:sym typeface="DM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e6ac3356b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g2e6ac3356b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highlight>
                <a:srgbClr val="DEFC52"/>
              </a:highlight>
              <a:latin typeface="DM Sans"/>
              <a:ea typeface="DM Sans"/>
              <a:cs typeface="DM Sans"/>
              <a:sym typeface="DM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latin typeface="DM Sans"/>
                <a:ea typeface="DM Sans"/>
                <a:cs typeface="DM Sans"/>
                <a:sym typeface="DM Sans"/>
              </a:rPr>
              <a:t>Profesor seguir los siguientes pasos: </a:t>
            </a:r>
            <a:endParaRPr>
              <a:latin typeface="DM Sans"/>
              <a:ea typeface="DM Sans"/>
              <a:cs typeface="DM Sans"/>
              <a:sym typeface="DM Sans"/>
            </a:endParaRPr>
          </a:p>
          <a:p>
            <a:pPr indent="0" lvl="0" marL="0" rtl="0" algn="l">
              <a:lnSpc>
                <a:spcPct val="100000"/>
              </a:lnSpc>
              <a:spcBef>
                <a:spcPts val="0"/>
              </a:spcBef>
              <a:spcAft>
                <a:spcPts val="0"/>
              </a:spcAft>
              <a:buClr>
                <a:schemeClr val="dk1"/>
              </a:buClr>
              <a:buSzPts val="1100"/>
              <a:buFont typeface="Arial"/>
              <a:buNone/>
            </a:pPr>
            <a:r>
              <a:rPr lang="es">
                <a:latin typeface="DM Sans"/>
                <a:ea typeface="DM Sans"/>
                <a:cs typeface="DM Sans"/>
                <a:sym typeface="DM Sans"/>
              </a:rPr>
              <a:t>-Instala SASS y crea el archivo SCSS para compilarlo en CSS. Envía ambos archivos como parte del desafío.</a:t>
            </a:r>
            <a:endParaRPr>
              <a:latin typeface="DM Sans"/>
              <a:ea typeface="DM Sans"/>
              <a:cs typeface="DM Sans"/>
              <a:sym typeface="DM Sans"/>
            </a:endParaRPr>
          </a:p>
          <a:p>
            <a:pPr indent="0" lvl="0" marL="0" rtl="0" algn="l">
              <a:lnSpc>
                <a:spcPct val="100000"/>
              </a:lnSpc>
              <a:spcBef>
                <a:spcPts val="0"/>
              </a:spcBef>
              <a:spcAft>
                <a:spcPts val="0"/>
              </a:spcAft>
              <a:buClr>
                <a:schemeClr val="dk1"/>
              </a:buClr>
              <a:buSzPts val="1100"/>
              <a:buFont typeface="Arial"/>
              <a:buNone/>
            </a:pPr>
            <a:r>
              <a:rPr lang="es">
                <a:latin typeface="DM Sans"/>
                <a:ea typeface="DM Sans"/>
                <a:cs typeface="DM Sans"/>
                <a:sym typeface="DM Sans"/>
              </a:rPr>
              <a:t>-Aplica algún concepto que incorpora SASS: genera los partials a partir de la idea de componentes, usa variables para aplicarla como valor a una propiedad y/o  el selector “&amp;” dentro de un nesting. Utiliza un condicional y/o un mixin.</a:t>
            </a:r>
            <a:endParaRPr>
              <a:latin typeface="DM Sans"/>
              <a:ea typeface="DM Sans"/>
              <a:cs typeface="DM Sans"/>
              <a:sym typeface="DM Sans"/>
            </a:endParaRPr>
          </a:p>
          <a:p>
            <a:pPr indent="0" lvl="0" marL="0" rtl="0" algn="l">
              <a:lnSpc>
                <a:spcPct val="100000"/>
              </a:lnSpc>
              <a:spcBef>
                <a:spcPts val="0"/>
              </a:spcBef>
              <a:spcAft>
                <a:spcPts val="0"/>
              </a:spcAft>
              <a:buClr>
                <a:schemeClr val="dk1"/>
              </a:buClr>
              <a:buSzPts val="1100"/>
              <a:buFont typeface="Arial"/>
              <a:buNone/>
            </a:pPr>
            <a:r>
              <a:t/>
            </a:r>
            <a:endParaRPr>
              <a:latin typeface="DM Sans"/>
              <a:ea typeface="DM Sans"/>
              <a:cs typeface="DM Sans"/>
              <a:sym typeface="DM Sans"/>
            </a:endParaRPr>
          </a:p>
          <a:p>
            <a:pPr indent="0" lvl="0" marL="0" rtl="0" algn="l">
              <a:lnSpc>
                <a:spcPct val="100000"/>
              </a:lnSpc>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i="1" lang="es">
                <a:latin typeface="DM Sans"/>
                <a:ea typeface="DM Sans"/>
                <a:cs typeface="DM Sans"/>
                <a:sym typeface="DM Sans"/>
              </a:rPr>
              <a:t>Profesor: Tratar de utilizar solamente utilidades básicas tales como (Variables, partials, import al archivo principal) </a:t>
            </a:r>
            <a:endParaRPr i="1">
              <a:latin typeface="DM Sans"/>
              <a:ea typeface="DM Sans"/>
              <a:cs typeface="DM Sans"/>
              <a:sym typeface="DM Sans"/>
            </a:endParaRPr>
          </a:p>
          <a:p>
            <a:pPr indent="0" lvl="0" marL="0" rtl="0" algn="l">
              <a:lnSpc>
                <a:spcPct val="100000"/>
              </a:lnSpc>
              <a:spcBef>
                <a:spcPts val="0"/>
              </a:spcBef>
              <a:spcAft>
                <a:spcPts val="0"/>
              </a:spcAft>
              <a:buSzPts val="1100"/>
              <a:buNone/>
            </a:pPr>
            <a:r>
              <a:t/>
            </a:r>
            <a:endParaRPr i="1">
              <a:latin typeface="DM Sans"/>
              <a:ea typeface="DM Sans"/>
              <a:cs typeface="DM Sans"/>
              <a:sym typeface="DM Sans"/>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latin typeface="DM Sans"/>
                <a:ea typeface="DM Sans"/>
                <a:cs typeface="DM Sans"/>
                <a:sym typeface="DM Sans"/>
              </a:rPr>
              <a:t>Considerar dar 5 o 10 minutos</a:t>
            </a:r>
            <a:endParaRPr>
              <a:latin typeface="DM Sans"/>
              <a:ea typeface="DM Sans"/>
              <a:cs typeface="DM Sans"/>
              <a:sym typeface="DM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i="1" lang="es">
                <a:latin typeface="DM Sans"/>
                <a:ea typeface="DM Sans"/>
                <a:cs typeface="DM Sans"/>
                <a:sym typeface="DM Sans"/>
              </a:rPr>
              <a:t>Profesor: Aqui es clave poder mostrar git init, git add, git status, git commit -m “”, para poder recorrer el flujo y utilización de la herramienta</a:t>
            </a:r>
            <a:endParaRPr i="1">
              <a:latin typeface="DM Sans"/>
              <a:ea typeface="DM Sans"/>
              <a:cs typeface="DM Sans"/>
              <a:sym typeface="DM Sans"/>
            </a:endParaRPr>
          </a:p>
          <a:p>
            <a:pPr indent="0" lvl="0" marL="0" rtl="0" algn="l">
              <a:lnSpc>
                <a:spcPct val="100000"/>
              </a:lnSpc>
              <a:spcBef>
                <a:spcPts val="0"/>
              </a:spcBef>
              <a:spcAft>
                <a:spcPts val="0"/>
              </a:spcAft>
              <a:buSzPts val="1100"/>
              <a:buNone/>
            </a:pPr>
            <a:r>
              <a:t/>
            </a:r>
            <a:endParaRPr i="1">
              <a:latin typeface="DM Sans"/>
              <a:ea typeface="DM Sans"/>
              <a:cs typeface="DM Sans"/>
              <a:sym typeface="DM Sans"/>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Actividades individuales. </a:t>
            </a:r>
            <a:r>
              <a:rPr lang="es">
                <a:solidFill>
                  <a:schemeClr val="dk1"/>
                </a:solidFill>
                <a:highlight>
                  <a:srgbClr val="EA90FF"/>
                </a:highlight>
                <a:latin typeface="DM Sans"/>
                <a:ea typeface="DM Sans"/>
                <a:cs typeface="DM Sans"/>
                <a:sym typeface="DM Sans"/>
              </a:rPr>
              <a:t>Profe/tutor</a:t>
            </a:r>
            <a:r>
              <a:rPr lang="es">
                <a:solidFill>
                  <a:schemeClr val="dk1"/>
                </a:solidFill>
                <a:latin typeface="DM Sans"/>
                <a:ea typeface="DM Sans"/>
                <a:cs typeface="DM Sans"/>
                <a:sym typeface="DM Sans"/>
              </a:rPr>
              <a:t>: La duración que se sugiere para que los</a:t>
            </a:r>
            <a:r>
              <a:rPr b="1" lang="es">
                <a:solidFill>
                  <a:schemeClr val="dk1"/>
                </a:solidFill>
                <a:latin typeface="DM Sans"/>
                <a:ea typeface="DM Sans"/>
                <a:cs typeface="DM Sans"/>
                <a:sym typeface="DM Sans"/>
              </a:rPr>
              <a:t> estudiantes realicen la actividad</a:t>
            </a:r>
            <a:r>
              <a:rPr lang="es">
                <a:solidFill>
                  <a:schemeClr val="dk1"/>
                </a:solidFill>
                <a:latin typeface="DM Sans"/>
                <a:ea typeface="DM Sans"/>
                <a:cs typeface="DM Sans"/>
                <a:sym typeface="DM Sans"/>
              </a:rPr>
              <a:t> es de 10 minutos. A ellos se le suman </a:t>
            </a:r>
            <a:r>
              <a:rPr lang="es" u="sng">
                <a:solidFill>
                  <a:schemeClr val="dk1"/>
                </a:solidFill>
                <a:latin typeface="DM Sans"/>
                <a:ea typeface="DM Sans"/>
                <a:cs typeface="DM Sans"/>
                <a:sym typeface="DM Sans"/>
              </a:rPr>
              <a:t>5 </a:t>
            </a:r>
            <a:r>
              <a:rPr lang="es">
                <a:solidFill>
                  <a:schemeClr val="dk1"/>
                </a:solidFill>
                <a:latin typeface="DM Sans"/>
                <a:ea typeface="DM Sans"/>
                <a:cs typeface="DM Sans"/>
                <a:sym typeface="DM Sans"/>
              </a:rPr>
              <a:t>de </a:t>
            </a:r>
            <a:r>
              <a:rPr b="1" lang="es">
                <a:solidFill>
                  <a:schemeClr val="dk1"/>
                </a:solidFill>
                <a:latin typeface="DM Sans"/>
                <a:ea typeface="DM Sans"/>
                <a:cs typeface="DM Sans"/>
                <a:sym typeface="DM Sans"/>
              </a:rPr>
              <a:t>puesta en común</a:t>
            </a:r>
            <a:r>
              <a:rPr lang="es">
                <a:solidFill>
                  <a:schemeClr val="dk1"/>
                </a:solidFill>
                <a:latin typeface="DM Sans"/>
                <a:ea typeface="DM Sans"/>
                <a:cs typeface="DM Sans"/>
                <a:sym typeface="DM Sans"/>
              </a:rPr>
              <a:t>. Por ello, el total dedicado a la actividad completa será de aproximadamente 15 </a:t>
            </a:r>
            <a:r>
              <a:rPr b="1" lang="es" u="sng">
                <a:solidFill>
                  <a:schemeClr val="dk1"/>
                </a:solidFill>
                <a:latin typeface="DM Sans"/>
                <a:ea typeface="DM Sans"/>
                <a:cs typeface="DM Sans"/>
                <a:sym typeface="DM Sans"/>
              </a:rPr>
              <a:t>minutos.</a:t>
            </a:r>
            <a:endParaRPr>
              <a:latin typeface="DM Sans"/>
              <a:ea typeface="DM Sans"/>
              <a:cs typeface="DM Sans"/>
              <a:sym typeface="DM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i="1" lang="es">
                <a:solidFill>
                  <a:schemeClr val="dk1"/>
                </a:solidFill>
                <a:latin typeface="DM Sans"/>
                <a:ea typeface="DM Sans"/>
                <a:cs typeface="DM Sans"/>
                <a:sym typeface="DM Sans"/>
              </a:rPr>
              <a:t>Profesor: Durante la puesta en común: Aprovechar esta actividad para mostrar cómo se puede reutilizar la extend agregándole las propiedades que definen la estructura de un botón. De esa manera estarían escribiendo esta estructura visual una sola vez y extendiéndola o heredándola a los demás componentes que la usan. </a:t>
            </a:r>
            <a:endParaRPr i="1">
              <a:solidFill>
                <a:schemeClr val="dk1"/>
              </a:solidFill>
              <a:latin typeface="DM Sans"/>
              <a:ea typeface="DM Sans"/>
              <a:cs typeface="DM Sans"/>
              <a:sym typeface="DM Sans"/>
            </a:endParaRPr>
          </a:p>
          <a:p>
            <a:pPr indent="0" lvl="0" marL="0" rtl="0" algn="l">
              <a:lnSpc>
                <a:spcPct val="100000"/>
              </a:lnSpc>
              <a:spcBef>
                <a:spcPts val="0"/>
              </a:spcBef>
              <a:spcAft>
                <a:spcPts val="0"/>
              </a:spcAft>
              <a:buSzPts val="1100"/>
              <a:buNone/>
            </a:pPr>
            <a:r>
              <a:t/>
            </a:r>
            <a:endParaRPr i="1">
              <a:solidFill>
                <a:schemeClr val="dk1"/>
              </a:solidFill>
              <a:latin typeface="DM Sans"/>
              <a:ea typeface="DM Sans"/>
              <a:cs typeface="DM Sans"/>
              <a:sym typeface="DM Sans"/>
            </a:endParaRPr>
          </a:p>
          <a:p>
            <a:pPr indent="0" lvl="0" marL="0" rtl="0" algn="l">
              <a:lnSpc>
                <a:spcPct val="100000"/>
              </a:lnSpc>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 name="Google Shape;249;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Actividades colaborativas. </a:t>
            </a:r>
            <a:r>
              <a:rPr lang="es">
                <a:solidFill>
                  <a:schemeClr val="dk1"/>
                </a:solidFill>
                <a:highlight>
                  <a:srgbClr val="EA90FF"/>
                </a:highlight>
                <a:latin typeface="DM Sans"/>
                <a:ea typeface="DM Sans"/>
                <a:cs typeface="DM Sans"/>
                <a:sym typeface="DM Sans"/>
              </a:rPr>
              <a:t>Profe/tutor</a:t>
            </a:r>
            <a:r>
              <a:rPr lang="es">
                <a:solidFill>
                  <a:schemeClr val="dk1"/>
                </a:solidFill>
                <a:latin typeface="DM Sans"/>
                <a:ea typeface="DM Sans"/>
                <a:cs typeface="DM Sans"/>
                <a:sym typeface="DM Sans"/>
              </a:rPr>
              <a:t>: La duración que se sugiere para que los </a:t>
            </a:r>
            <a:r>
              <a:rPr b="1" lang="es">
                <a:solidFill>
                  <a:schemeClr val="dk1"/>
                </a:solidFill>
                <a:latin typeface="DM Sans"/>
                <a:ea typeface="DM Sans"/>
                <a:cs typeface="DM Sans"/>
                <a:sym typeface="DM Sans"/>
              </a:rPr>
              <a:t>estudiantes realicen la actividad</a:t>
            </a:r>
            <a:r>
              <a:rPr lang="es">
                <a:solidFill>
                  <a:schemeClr val="dk1"/>
                </a:solidFill>
                <a:latin typeface="DM Sans"/>
                <a:ea typeface="DM Sans"/>
                <a:cs typeface="DM Sans"/>
                <a:sym typeface="DM Sans"/>
              </a:rPr>
              <a:t> es de 10 minutos. A ellos se le suman </a:t>
            </a:r>
            <a:r>
              <a:rPr lang="es" u="sng">
                <a:solidFill>
                  <a:schemeClr val="dk1"/>
                </a:solidFill>
                <a:latin typeface="DM Sans"/>
                <a:ea typeface="DM Sans"/>
                <a:cs typeface="DM Sans"/>
                <a:sym typeface="DM Sans"/>
              </a:rPr>
              <a:t>5 </a:t>
            </a:r>
            <a:r>
              <a:rPr lang="es">
                <a:solidFill>
                  <a:schemeClr val="dk1"/>
                </a:solidFill>
                <a:latin typeface="DM Sans"/>
                <a:ea typeface="DM Sans"/>
                <a:cs typeface="DM Sans"/>
                <a:sym typeface="DM Sans"/>
              </a:rPr>
              <a:t>de </a:t>
            </a:r>
            <a:r>
              <a:rPr b="1" lang="es">
                <a:solidFill>
                  <a:schemeClr val="dk1"/>
                </a:solidFill>
                <a:latin typeface="DM Sans"/>
                <a:ea typeface="DM Sans"/>
                <a:cs typeface="DM Sans"/>
                <a:sym typeface="DM Sans"/>
              </a:rPr>
              <a:t>puesta en común</a:t>
            </a:r>
            <a:r>
              <a:rPr lang="es">
                <a:solidFill>
                  <a:schemeClr val="dk1"/>
                </a:solidFill>
                <a:latin typeface="DM Sans"/>
                <a:ea typeface="DM Sans"/>
                <a:cs typeface="DM Sans"/>
                <a:sym typeface="DM Sans"/>
              </a:rPr>
              <a:t>. Por ello, el total dedicado a la actividad completa será de aproximadamente 15 </a:t>
            </a:r>
            <a:r>
              <a:rPr b="1" lang="es" u="sng">
                <a:solidFill>
                  <a:schemeClr val="dk1"/>
                </a:solidFill>
                <a:latin typeface="DM Sans"/>
                <a:ea typeface="DM Sans"/>
                <a:cs typeface="DM Sans"/>
                <a:sym typeface="DM Sans"/>
              </a:rPr>
              <a:t>minutos.</a:t>
            </a:r>
            <a:endParaRPr b="1" u="sng">
              <a:solidFill>
                <a:schemeClr val="dk1"/>
              </a:solidFill>
              <a:latin typeface="DM Sans"/>
              <a:ea typeface="DM Sans"/>
              <a:cs typeface="DM Sans"/>
              <a:sym typeface="DM Sans"/>
            </a:endParaRPr>
          </a:p>
          <a:p>
            <a:pPr indent="0" lvl="0" marL="0" rtl="0" algn="l">
              <a:lnSpc>
                <a:spcPct val="100000"/>
              </a:lnSpc>
              <a:spcBef>
                <a:spcPts val="0"/>
              </a:spcBef>
              <a:spcAft>
                <a:spcPts val="0"/>
              </a:spcAft>
              <a:buClr>
                <a:schemeClr val="dk1"/>
              </a:buClr>
              <a:buSzPts val="1100"/>
              <a:buFont typeface="Arial"/>
              <a:buNone/>
            </a:pPr>
            <a:r>
              <a:t/>
            </a:r>
            <a:endParaRPr b="1" u="sng">
              <a:solidFill>
                <a:schemeClr val="dk1"/>
              </a:solidFill>
              <a:latin typeface="DM Sans"/>
              <a:ea typeface="DM Sans"/>
              <a:cs typeface="DM Sans"/>
              <a:sym typeface="DM Sans"/>
            </a:endParaRPr>
          </a:p>
          <a:p>
            <a:pPr indent="-298450" lvl="0" marL="457200" rtl="0" algn="l">
              <a:lnSpc>
                <a:spcPct val="100000"/>
              </a:lnSpc>
              <a:spcBef>
                <a:spcPts val="0"/>
              </a:spcBef>
              <a:spcAft>
                <a:spcPts val="0"/>
              </a:spcAft>
              <a:buClr>
                <a:schemeClr val="dk1"/>
              </a:buClr>
              <a:buSzPts val="1100"/>
              <a:buFont typeface="DM Sans"/>
              <a:buAutoNum type="arabicPeriod"/>
            </a:pPr>
            <a:r>
              <a:rPr lang="es">
                <a:solidFill>
                  <a:schemeClr val="dk1"/>
                </a:solidFill>
                <a:latin typeface="DM Sans"/>
                <a:ea typeface="DM Sans"/>
                <a:cs typeface="DM Sans"/>
                <a:sym typeface="DM Sans"/>
              </a:rPr>
              <a:t>Crear breakout rooms para los equipos. De no saber cómo, favor de revisar el siguiente tutorial: </a:t>
            </a:r>
            <a:endParaRPr>
              <a:solidFill>
                <a:schemeClr val="dk1"/>
              </a:solidFill>
              <a:latin typeface="DM Sans"/>
              <a:ea typeface="DM Sans"/>
              <a:cs typeface="DM Sans"/>
              <a:sym typeface="DM Sans"/>
            </a:endParaRPr>
          </a:p>
          <a:p>
            <a:pPr indent="-298450" lvl="1" marL="914400" rtl="0" algn="l">
              <a:lnSpc>
                <a:spcPct val="100000"/>
              </a:lnSpc>
              <a:spcBef>
                <a:spcPts val="0"/>
              </a:spcBef>
              <a:spcAft>
                <a:spcPts val="0"/>
              </a:spcAft>
              <a:buClr>
                <a:schemeClr val="dk1"/>
              </a:buClr>
              <a:buSzPts val="1100"/>
              <a:buFont typeface="DM Sans"/>
              <a:buAutoNum type="alphaLcPeriod"/>
            </a:pPr>
            <a:r>
              <a:rPr lang="es">
                <a:solidFill>
                  <a:schemeClr val="dk1"/>
                </a:solidFill>
                <a:latin typeface="DM Sans"/>
                <a:ea typeface="DM Sans"/>
                <a:cs typeface="DM Sans"/>
                <a:sym typeface="DM Sans"/>
              </a:rPr>
              <a:t>En PPT: </a:t>
            </a:r>
            <a:r>
              <a:rPr lang="es" u="sng">
                <a:solidFill>
                  <a:schemeClr val="hlink"/>
                </a:solidFill>
                <a:latin typeface="DM Sans"/>
                <a:ea typeface="DM Sans"/>
                <a:cs typeface="DM Sans"/>
                <a:sym typeface="DM Sans"/>
                <a:hlinkClick r:id="rId2"/>
              </a:rPr>
              <a:t>https://docs.google.com/presentation/d/1vieCGzAPuYf5vWsu8Xgbn_2Ax4QNLnXO/edit?usp=sharing&amp;ouid=103396586770751045195&amp;rtpof=true&amp;sd=true</a:t>
            </a:r>
            <a:r>
              <a:rPr lang="es">
                <a:solidFill>
                  <a:schemeClr val="dk1"/>
                </a:solidFill>
                <a:latin typeface="DM Sans"/>
                <a:ea typeface="DM Sans"/>
                <a:cs typeface="DM Sans"/>
                <a:sym typeface="DM Sans"/>
              </a:rPr>
              <a:t> </a:t>
            </a:r>
            <a:endParaRPr>
              <a:solidFill>
                <a:schemeClr val="dk1"/>
              </a:solidFill>
              <a:latin typeface="DM Sans"/>
              <a:ea typeface="DM Sans"/>
              <a:cs typeface="DM Sans"/>
              <a:sym typeface="DM Sans"/>
            </a:endParaRPr>
          </a:p>
          <a:p>
            <a:pPr indent="-298450" lvl="1" marL="914400" rtl="0" algn="l">
              <a:lnSpc>
                <a:spcPct val="100000"/>
              </a:lnSpc>
              <a:spcBef>
                <a:spcPts val="0"/>
              </a:spcBef>
              <a:spcAft>
                <a:spcPts val="0"/>
              </a:spcAft>
              <a:buClr>
                <a:schemeClr val="dk1"/>
              </a:buClr>
              <a:buSzPts val="1100"/>
              <a:buFont typeface="DM Sans"/>
              <a:buAutoNum type="alphaLcPeriod"/>
            </a:pPr>
            <a:r>
              <a:rPr lang="es">
                <a:solidFill>
                  <a:schemeClr val="dk1"/>
                </a:solidFill>
                <a:latin typeface="DM Sans"/>
                <a:ea typeface="DM Sans"/>
                <a:cs typeface="DM Sans"/>
                <a:sym typeface="DM Sans"/>
              </a:rPr>
              <a:t>En video: </a:t>
            </a:r>
            <a:r>
              <a:rPr lang="es" u="sng">
                <a:solidFill>
                  <a:schemeClr val="hlink"/>
                </a:solidFill>
                <a:latin typeface="DM Sans"/>
                <a:ea typeface="DM Sans"/>
                <a:cs typeface="DM Sans"/>
                <a:sym typeface="DM Sans"/>
                <a:hlinkClick r:id="rId3"/>
              </a:rPr>
              <a:t>https://www.youtube.com/watch?v=PJL8iYTIY3E&amp;feature=youtu.be</a:t>
            </a:r>
            <a:r>
              <a:rPr lang="es">
                <a:solidFill>
                  <a:schemeClr val="dk1"/>
                </a:solidFill>
                <a:latin typeface="DM Sans"/>
                <a:ea typeface="DM Sans"/>
                <a:cs typeface="DM Sans"/>
                <a:sym typeface="DM Sans"/>
              </a:rPr>
              <a:t> </a:t>
            </a:r>
            <a:endParaRPr>
              <a:solidFill>
                <a:schemeClr val="dk1"/>
              </a:solidFill>
              <a:latin typeface="DM Sans"/>
              <a:ea typeface="DM Sans"/>
              <a:cs typeface="DM Sans"/>
              <a:sym typeface="DM Sans"/>
            </a:endParaRPr>
          </a:p>
          <a:p>
            <a:pPr indent="-298450" lvl="0" marL="457200" rtl="0" algn="l">
              <a:lnSpc>
                <a:spcPct val="100000"/>
              </a:lnSpc>
              <a:spcBef>
                <a:spcPts val="0"/>
              </a:spcBef>
              <a:spcAft>
                <a:spcPts val="0"/>
              </a:spcAft>
              <a:buClr>
                <a:schemeClr val="dk1"/>
              </a:buClr>
              <a:buSzPts val="1100"/>
              <a:buFont typeface="DM Sans"/>
              <a:buAutoNum type="arabicPeriod"/>
            </a:pPr>
            <a:r>
              <a:rPr lang="es">
                <a:solidFill>
                  <a:schemeClr val="dk1"/>
                </a:solidFill>
                <a:latin typeface="DM Sans"/>
                <a:ea typeface="DM Sans"/>
                <a:cs typeface="DM Sans"/>
                <a:sym typeface="DM Sans"/>
              </a:rPr>
              <a:t>Se recomienda que los equipos sean de números pares, máximo 4 participantes por equipo y de así requerirse, ser acompañados por un tutor. </a:t>
            </a:r>
            <a:endParaRPr b="1" u="sng">
              <a:solidFill>
                <a:schemeClr val="dk1"/>
              </a:solidFill>
              <a:latin typeface="DM Sans"/>
              <a:ea typeface="DM Sans"/>
              <a:cs typeface="DM Sans"/>
              <a:sym typeface="DM Sans"/>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 name="Google Shape;260;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Clr>
                <a:schemeClr val="dk1"/>
              </a:buClr>
              <a:buSzPts val="1100"/>
              <a:buFont typeface="DM Sans"/>
              <a:buAutoNum type="arabicPeriod"/>
            </a:pPr>
            <a:r>
              <a:rPr lang="es">
                <a:solidFill>
                  <a:schemeClr val="dk1"/>
                </a:solidFill>
                <a:latin typeface="DM Sans"/>
                <a:ea typeface="DM Sans"/>
                <a:cs typeface="DM Sans"/>
                <a:sym typeface="DM Sans"/>
              </a:rPr>
              <a:t>Crear breakout rooms para los equipos. De no saber cómo, favor de revisar el siguiente tutorial: </a:t>
            </a:r>
            <a:endParaRPr>
              <a:solidFill>
                <a:schemeClr val="dk1"/>
              </a:solidFill>
              <a:latin typeface="DM Sans"/>
              <a:ea typeface="DM Sans"/>
              <a:cs typeface="DM Sans"/>
              <a:sym typeface="DM Sans"/>
            </a:endParaRPr>
          </a:p>
          <a:p>
            <a:pPr indent="-298450" lvl="1" marL="914400" rtl="0" algn="l">
              <a:lnSpc>
                <a:spcPct val="100000"/>
              </a:lnSpc>
              <a:spcBef>
                <a:spcPts val="0"/>
              </a:spcBef>
              <a:spcAft>
                <a:spcPts val="0"/>
              </a:spcAft>
              <a:buClr>
                <a:schemeClr val="dk1"/>
              </a:buClr>
              <a:buSzPts val="1100"/>
              <a:buFont typeface="DM Sans"/>
              <a:buAutoNum type="alphaLcPeriod"/>
            </a:pPr>
            <a:r>
              <a:rPr lang="es">
                <a:solidFill>
                  <a:schemeClr val="dk1"/>
                </a:solidFill>
                <a:latin typeface="DM Sans"/>
                <a:ea typeface="DM Sans"/>
                <a:cs typeface="DM Sans"/>
                <a:sym typeface="DM Sans"/>
              </a:rPr>
              <a:t>En PPT: </a:t>
            </a:r>
            <a:r>
              <a:rPr lang="es" u="sng">
                <a:solidFill>
                  <a:schemeClr val="hlink"/>
                </a:solidFill>
                <a:latin typeface="DM Sans"/>
                <a:ea typeface="DM Sans"/>
                <a:cs typeface="DM Sans"/>
                <a:sym typeface="DM Sans"/>
                <a:hlinkClick r:id="rId2"/>
              </a:rPr>
              <a:t>https://docs.google.com/presentation/d/1vieCGzAPuYf5vWsu8Xgbn_2Ax4QNLnXO/edit?usp=sharing&amp;ouid=103396586770751045195&amp;rtpof=true&amp;sd=true</a:t>
            </a:r>
            <a:r>
              <a:rPr lang="es">
                <a:solidFill>
                  <a:schemeClr val="dk1"/>
                </a:solidFill>
                <a:latin typeface="DM Sans"/>
                <a:ea typeface="DM Sans"/>
                <a:cs typeface="DM Sans"/>
                <a:sym typeface="DM Sans"/>
              </a:rPr>
              <a:t> </a:t>
            </a:r>
            <a:endParaRPr>
              <a:solidFill>
                <a:schemeClr val="dk1"/>
              </a:solidFill>
              <a:latin typeface="DM Sans"/>
              <a:ea typeface="DM Sans"/>
              <a:cs typeface="DM Sans"/>
              <a:sym typeface="DM Sans"/>
            </a:endParaRPr>
          </a:p>
          <a:p>
            <a:pPr indent="-298450" lvl="1" marL="914400" rtl="0" algn="l">
              <a:lnSpc>
                <a:spcPct val="100000"/>
              </a:lnSpc>
              <a:spcBef>
                <a:spcPts val="0"/>
              </a:spcBef>
              <a:spcAft>
                <a:spcPts val="0"/>
              </a:spcAft>
              <a:buClr>
                <a:schemeClr val="dk1"/>
              </a:buClr>
              <a:buSzPts val="1100"/>
              <a:buFont typeface="DM Sans"/>
              <a:buAutoNum type="alphaLcPeriod"/>
            </a:pPr>
            <a:r>
              <a:rPr lang="es">
                <a:solidFill>
                  <a:schemeClr val="dk1"/>
                </a:solidFill>
                <a:latin typeface="DM Sans"/>
                <a:ea typeface="DM Sans"/>
                <a:cs typeface="DM Sans"/>
                <a:sym typeface="DM Sans"/>
              </a:rPr>
              <a:t>En video: </a:t>
            </a:r>
            <a:r>
              <a:rPr lang="es" u="sng">
                <a:solidFill>
                  <a:schemeClr val="hlink"/>
                </a:solidFill>
                <a:latin typeface="DM Sans"/>
                <a:ea typeface="DM Sans"/>
                <a:cs typeface="DM Sans"/>
                <a:sym typeface="DM Sans"/>
                <a:hlinkClick r:id="rId3"/>
              </a:rPr>
              <a:t>https://www.youtube.com/watch?v=PJL8iYTIY3E&amp;feature=youtu.be</a:t>
            </a:r>
            <a:r>
              <a:rPr lang="es">
                <a:solidFill>
                  <a:schemeClr val="dk1"/>
                </a:solidFill>
                <a:latin typeface="DM Sans"/>
                <a:ea typeface="DM Sans"/>
                <a:cs typeface="DM Sans"/>
                <a:sym typeface="DM Sans"/>
              </a:rPr>
              <a:t> </a:t>
            </a:r>
            <a:endParaRPr>
              <a:solidFill>
                <a:schemeClr val="dk1"/>
              </a:solidFill>
              <a:latin typeface="DM Sans"/>
              <a:ea typeface="DM Sans"/>
              <a:cs typeface="DM Sans"/>
              <a:sym typeface="DM Sans"/>
            </a:endParaRPr>
          </a:p>
          <a:p>
            <a:pPr indent="-298450" lvl="0" marL="457200" rtl="0" algn="l">
              <a:lnSpc>
                <a:spcPct val="100000"/>
              </a:lnSpc>
              <a:spcBef>
                <a:spcPts val="0"/>
              </a:spcBef>
              <a:spcAft>
                <a:spcPts val="0"/>
              </a:spcAft>
              <a:buClr>
                <a:schemeClr val="dk1"/>
              </a:buClr>
              <a:buSzPts val="1100"/>
              <a:buFont typeface="DM Sans"/>
              <a:buAutoNum type="arabicPeriod"/>
            </a:pPr>
            <a:r>
              <a:rPr lang="es">
                <a:solidFill>
                  <a:schemeClr val="dk1"/>
                </a:solidFill>
                <a:latin typeface="DM Sans"/>
                <a:ea typeface="DM Sans"/>
                <a:cs typeface="DM Sans"/>
                <a:sym typeface="DM Sans"/>
              </a:rPr>
              <a:t>Se recomienda que los equipos sean de números pares, máximo 4 participantes por equipo y de así requerirse, ser acompañados por un tutor.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
              <a:t>Profesor: Aquí puede existir la posibilidad de combinar la colaboración generada desde github para poder generar esa práctica de equipo también. Un estudiante comparte su repositorio a dos compañeros que mediante distintas ramas, agregan las mejoras con sass que crean que optimizan su proyecto.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2" name="Google Shape;282;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Profesor: Aquí la idea es que se les dé a los estudiantes una noción de cuáles pueden ser las mejores pseudoclaes para sus proyectos. También podrían analizar algunos ejemplos de sitios web populares que utilizan pseudoclases de manera efectiva para mejorar la experiencia del usuario.</a:t>
            </a:r>
            <a:endParaRPr>
              <a:latin typeface="DM Sans"/>
              <a:ea typeface="DM Sans"/>
              <a:cs typeface="DM Sans"/>
              <a:sym typeface="DM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 name="Google Shape;290;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latin typeface="DM Sans"/>
                <a:ea typeface="DM Sans"/>
                <a:cs typeface="DM Sans"/>
                <a:sym typeface="DM Sans"/>
              </a:rPr>
              <a:t>Utilizar solo cuando hay un entregable la semana próxima (por lo general suele ser en el marco de una tutoring). Linkear slide del entregable (ppt session).</a:t>
            </a:r>
            <a:endParaRPr>
              <a:latin typeface="DM Sans"/>
              <a:ea typeface="DM Sans"/>
              <a:cs typeface="DM Sans"/>
              <a:sym typeface="DM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7" name="Google Shape;297;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highlight>
                  <a:srgbClr val="EA90FF"/>
                </a:highlight>
                <a:latin typeface="DM Sans"/>
                <a:ea typeface="DM Sans"/>
                <a:cs typeface="DM Sans"/>
                <a:sym typeface="DM Sans"/>
              </a:rPr>
              <a:t>Profesor: Aquí la idea es dejar en claro cómo se hará la entrega del primer preentregable y resolver todas las dudas que surjan al respecto.</a:t>
            </a:r>
            <a:endParaRPr>
              <a:highlight>
                <a:srgbClr val="EA90FF"/>
              </a:highlight>
              <a:latin typeface="DM Sans"/>
              <a:ea typeface="DM Sans"/>
              <a:cs typeface="DM Sans"/>
              <a:sym typeface="DM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3" name="Google Shape;303;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Obligatoria siempre. Completar el resumen con palabras claves de lo visto. En caso de cerrar con el “mapa de conceptos” se puede sacar. </a:t>
            </a:r>
            <a:endParaRPr>
              <a:latin typeface="DM Sans"/>
              <a:ea typeface="DM Sans"/>
              <a:cs typeface="DM Sans"/>
              <a:sym typeface="DM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9" name="Google Shape;309;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Obligatoria siempre.</a:t>
            </a:r>
            <a:endParaRPr>
              <a:latin typeface="DM Sans"/>
              <a:ea typeface="DM Sans"/>
              <a:cs typeface="DM Sans"/>
              <a:sym typeface="DM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4" name="Google Shape;314;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Todas las clases</a:t>
            </a:r>
            <a:endParaRPr>
              <a:latin typeface="DM Sans"/>
              <a:ea typeface="DM Sans"/>
              <a:cs typeface="DM Sans"/>
              <a:sym typeface="DM San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0.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9.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0.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0.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0.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0.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0.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0.png"/><Relationship Id="rId3" Type="http://schemas.openxmlformats.org/officeDocument/2006/relationships/image" Target="../media/image10.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10.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0.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8.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A">
  <p:cSld name="SECTION_HEADER_1_1_1_1_1_1_1_1_1_1">
    <p:bg>
      <p:bgPr>
        <a:blipFill>
          <a:blip r:embed="rId2">
            <a:alphaModFix/>
          </a:blip>
          <a:stretch>
            <a:fillRect/>
          </a:stretch>
        </a:blipFill>
      </p:bgPr>
    </p:bg>
    <p:spTree>
      <p:nvGrpSpPr>
        <p:cNvPr id="9" name="Shape 9"/>
        <p:cNvGrpSpPr/>
        <p:nvPr/>
      </p:nvGrpSpPr>
      <p:grpSpPr>
        <a:xfrm>
          <a:off x="0" y="0"/>
          <a:ext cx="0" cy="0"/>
          <a:chOff x="0" y="0"/>
          <a:chExt cx="0" cy="0"/>
        </a:xfrm>
      </p:grpSpPr>
      <p:pic>
        <p:nvPicPr>
          <p:cNvPr id="10" name="Google Shape;10;p39"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B">
  <p:cSld name="SECTION_HEADER_1">
    <p:bg>
      <p:bgPr>
        <a:blipFill>
          <a:blip r:embed="rId2">
            <a:alphaModFix/>
          </a:blip>
          <a:stretch>
            <a:fillRect/>
          </a:stretch>
        </a:blipFill>
      </p:bgPr>
    </p:bg>
    <p:spTree>
      <p:nvGrpSpPr>
        <p:cNvPr id="11" name="Shape 11"/>
        <p:cNvGrpSpPr/>
        <p:nvPr/>
      </p:nvGrpSpPr>
      <p:grpSpPr>
        <a:xfrm>
          <a:off x="0" y="0"/>
          <a:ext cx="0" cy="0"/>
          <a:chOff x="0" y="0"/>
          <a:chExt cx="0" cy="0"/>
        </a:xfrm>
      </p:grpSpPr>
      <p:pic>
        <p:nvPicPr>
          <p:cNvPr id="12" name="Google Shape;12;p40" title="logo coderhouse"/>
          <p:cNvPicPr preferRelativeResize="0"/>
          <p:nvPr/>
        </p:nvPicPr>
        <p:blipFill rotWithShape="1">
          <a:blip r:embed="rId3">
            <a:alphaModFix/>
          </a:blip>
          <a:srcRect b="0" l="0" r="0" t="0"/>
          <a:stretch/>
        </p:blipFill>
        <p:spPr>
          <a:xfrm>
            <a:off x="7874775" y="4720250"/>
            <a:ext cx="1024025" cy="2116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B 5">
  <p:cSld name="SECTION_HEADER_1_1_1_1_1_1_1_1_1_8">
    <p:bg>
      <p:bgPr>
        <a:blipFill>
          <a:blip r:embed="rId2">
            <a:alphaModFix/>
          </a:blip>
          <a:stretch>
            <a:fillRect/>
          </a:stretch>
        </a:blipFill>
      </p:bgPr>
    </p:bg>
    <p:spTree>
      <p:nvGrpSpPr>
        <p:cNvPr id="13" name="Shape 13"/>
        <p:cNvGrpSpPr/>
        <p:nvPr/>
      </p:nvGrpSpPr>
      <p:grpSpPr>
        <a:xfrm>
          <a:off x="0" y="0"/>
          <a:ext cx="0" cy="0"/>
          <a:chOff x="0" y="0"/>
          <a:chExt cx="0" cy="0"/>
        </a:xfrm>
      </p:grpSpPr>
      <p:pic>
        <p:nvPicPr>
          <p:cNvPr id="14" name="Google Shape;14;p41"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B">
  <p:cSld name="SECTION_HEADER_1_1_1_1_1_1_1_1_1">
    <p:bg>
      <p:bgPr>
        <a:blipFill>
          <a:blip r:embed="rId2">
            <a:alphaModFix/>
          </a:blip>
          <a:stretch>
            <a:fillRect/>
          </a:stretch>
        </a:blipFill>
      </p:bgPr>
    </p:bg>
    <p:spTree>
      <p:nvGrpSpPr>
        <p:cNvPr id="15" name="Shape 15"/>
        <p:cNvGrpSpPr/>
        <p:nvPr/>
      </p:nvGrpSpPr>
      <p:grpSpPr>
        <a:xfrm>
          <a:off x="0" y="0"/>
          <a:ext cx="0" cy="0"/>
          <a:chOff x="0" y="0"/>
          <a:chExt cx="0" cy="0"/>
        </a:xfrm>
      </p:grpSpPr>
      <p:pic>
        <p:nvPicPr>
          <p:cNvPr id="16" name="Google Shape;16;p42"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co 1" type="title">
  <p:cSld name="TITLE">
    <p:spTree>
      <p:nvGrpSpPr>
        <p:cNvPr id="17" name="Shape 17"/>
        <p:cNvGrpSpPr/>
        <p:nvPr/>
      </p:nvGrpSpPr>
      <p:grpSpPr>
        <a:xfrm>
          <a:off x="0" y="0"/>
          <a:ext cx="0" cy="0"/>
          <a:chOff x="0" y="0"/>
          <a:chExt cx="0" cy="0"/>
        </a:xfrm>
      </p:grpSpPr>
      <p:sp>
        <p:nvSpPr>
          <p:cNvPr id="18" name="Google Shape;18;p4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000"/>
              <a:buFont typeface="DM Sans"/>
              <a:buNone/>
              <a:defRPr b="1" sz="4000">
                <a:latin typeface="DM Sans"/>
                <a:ea typeface="DM Sans"/>
                <a:cs typeface="DM Sans"/>
                <a:sym typeface="DM Sans"/>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9" name="Google Shape;19;p4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000"/>
              <a:buFont typeface="Helvetica Neue Light"/>
              <a:buNone/>
              <a:defRPr sz="2000">
                <a:latin typeface="Helvetica Neue Light"/>
                <a:ea typeface="Helvetica Neue Light"/>
                <a:cs typeface="Helvetica Neue Light"/>
                <a:sym typeface="Helvetica Neue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20" name="Google Shape;20;p43" title="logo CoderHouse"/>
          <p:cNvPicPr preferRelativeResize="0"/>
          <p:nvPr/>
        </p:nvPicPr>
        <p:blipFill rotWithShape="1">
          <a:blip r:embed="rId2">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ndo blanco">
  <p:cSld name="SECTION_HEADER_1_1_1_1_1_1_1_1">
    <p:spTree>
      <p:nvGrpSpPr>
        <p:cNvPr id="21" name="Shape 21"/>
        <p:cNvGrpSpPr/>
        <p:nvPr/>
      </p:nvGrpSpPr>
      <p:grpSpPr>
        <a:xfrm>
          <a:off x="0" y="0"/>
          <a:ext cx="0" cy="0"/>
          <a:chOff x="0" y="0"/>
          <a:chExt cx="0" cy="0"/>
        </a:xfrm>
      </p:grpSpPr>
      <p:pic>
        <p:nvPicPr>
          <p:cNvPr id="22" name="Google Shape;22;p44" title="logo coderhouse"/>
          <p:cNvPicPr preferRelativeResize="0"/>
          <p:nvPr/>
        </p:nvPicPr>
        <p:blipFill rotWithShape="1">
          <a:blip r:embed="rId2">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A">
  <p:cSld name="SECTION_HEADER_1_1">
    <p:bg>
      <p:bgPr>
        <a:blipFill>
          <a:blip r:embed="rId2">
            <a:alphaModFix/>
          </a:blip>
          <a:stretch>
            <a:fillRect/>
          </a:stretch>
        </a:blipFill>
      </p:bgPr>
    </p:bg>
    <p:spTree>
      <p:nvGrpSpPr>
        <p:cNvPr id="23" name="Shape 23"/>
        <p:cNvGrpSpPr/>
        <p:nvPr/>
      </p:nvGrpSpPr>
      <p:grpSpPr>
        <a:xfrm>
          <a:off x="0" y="0"/>
          <a:ext cx="0" cy="0"/>
          <a:chOff x="0" y="0"/>
          <a:chExt cx="0" cy="0"/>
        </a:xfrm>
      </p:grpSpPr>
      <p:pic>
        <p:nvPicPr>
          <p:cNvPr id="24" name="Google Shape;24;p47"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
        <p:nvSpPr>
          <p:cNvPr id="25" name="Google Shape;25;p47"/>
          <p:cNvSpPr/>
          <p:nvPr/>
        </p:nvSpPr>
        <p:spPr>
          <a:xfrm>
            <a:off x="1089900" y="995400"/>
            <a:ext cx="6964200" cy="3152700"/>
          </a:xfrm>
          <a:prstGeom prst="rect">
            <a:avLst/>
          </a:prstGeom>
          <a:solidFill>
            <a:srgbClr val="B5B5B5">
              <a:alpha val="941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 imagen">
  <p:cSld name="SECTION_HEADER_1_1_1_1_1_1_1">
    <p:bg>
      <p:bgPr>
        <a:blipFill>
          <a:blip r:embed="rId2">
            <a:alphaModFix/>
          </a:blip>
          <a:stretch>
            <a:fillRect/>
          </a:stretch>
        </a:blipFill>
      </p:bgPr>
    </p:bg>
    <p:spTree>
      <p:nvGrpSpPr>
        <p:cNvPr id="26" name="Shape 26"/>
        <p:cNvGrpSpPr/>
        <p:nvPr/>
      </p:nvGrpSpPr>
      <p:grpSpPr>
        <a:xfrm>
          <a:off x="0" y="0"/>
          <a:ext cx="0" cy="0"/>
          <a:chOff x="0" y="0"/>
          <a:chExt cx="0" cy="0"/>
        </a:xfrm>
      </p:grpSpPr>
      <p:sp>
        <p:nvSpPr>
          <p:cNvPr id="27" name="Google Shape;27;p48"/>
          <p:cNvSpPr/>
          <p:nvPr/>
        </p:nvSpPr>
        <p:spPr>
          <a:xfrm>
            <a:off x="6592475" y="0"/>
            <a:ext cx="2551500" cy="5143500"/>
          </a:xfrm>
          <a:prstGeom prst="rect">
            <a:avLst/>
          </a:prstGeom>
          <a:solidFill>
            <a:srgbClr val="EAFF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 name="Google Shape;28;p48"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A 1">
  <p:cSld name="SECTION_HEADER_1_1_1">
    <p:bg>
      <p:bgPr>
        <a:blipFill>
          <a:blip r:embed="rId2">
            <a:alphaModFix/>
          </a:blip>
          <a:stretch>
            <a:fillRect/>
          </a:stretch>
        </a:blipFill>
      </p:bgPr>
    </p:bg>
    <p:spTree>
      <p:nvGrpSpPr>
        <p:cNvPr id="29" name="Shape 29"/>
        <p:cNvGrpSpPr/>
        <p:nvPr/>
      </p:nvGrpSpPr>
      <p:grpSpPr>
        <a:xfrm>
          <a:off x="0" y="0"/>
          <a:ext cx="0" cy="0"/>
          <a:chOff x="0" y="0"/>
          <a:chExt cx="0" cy="0"/>
        </a:xfrm>
      </p:grpSpPr>
      <p:pic>
        <p:nvPicPr>
          <p:cNvPr id="30" name="Google Shape;30;p49"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B 1">
  <p:cSld name="SECTION_HEADER_1_2">
    <p:spTree>
      <p:nvGrpSpPr>
        <p:cNvPr id="31" name="Shape 31"/>
        <p:cNvGrpSpPr/>
        <p:nvPr/>
      </p:nvGrpSpPr>
      <p:grpSpPr>
        <a:xfrm>
          <a:off x="0" y="0"/>
          <a:ext cx="0" cy="0"/>
          <a:chOff x="0" y="0"/>
          <a:chExt cx="0" cy="0"/>
        </a:xfrm>
      </p:grpSpPr>
      <p:pic>
        <p:nvPicPr>
          <p:cNvPr id="32" name="Google Shape;32;p50" title="logo coderhouse"/>
          <p:cNvPicPr preferRelativeResize="0"/>
          <p:nvPr/>
        </p:nvPicPr>
        <p:blipFill rotWithShape="1">
          <a:blip r:embed="rId2">
            <a:alphaModFix/>
          </a:blip>
          <a:srcRect b="0" l="0" r="0" t="0"/>
          <a:stretch/>
        </p:blipFill>
        <p:spPr>
          <a:xfrm>
            <a:off x="7874775" y="4720250"/>
            <a:ext cx="1024025" cy="21162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adro">
  <p:cSld name="SECTION_HEADER_1_1_1_1_1_1">
    <p:bg>
      <p:bgPr>
        <a:blipFill>
          <a:blip r:embed="rId2">
            <a:alphaModFix/>
          </a:blip>
          <a:stretch>
            <a:fillRect/>
          </a:stretch>
        </a:blipFill>
      </p:bgPr>
    </p:bg>
    <p:spTree>
      <p:nvGrpSpPr>
        <p:cNvPr id="33" name="Shape 33"/>
        <p:cNvGrpSpPr/>
        <p:nvPr/>
      </p:nvGrpSpPr>
      <p:grpSpPr>
        <a:xfrm>
          <a:off x="0" y="0"/>
          <a:ext cx="0" cy="0"/>
          <a:chOff x="0" y="0"/>
          <a:chExt cx="0" cy="0"/>
        </a:xfrm>
      </p:grpSpPr>
      <p:pic>
        <p:nvPicPr>
          <p:cNvPr id="34" name="Google Shape;34;p51"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B">
  <p:cSld name="SECTION_HEADER_1">
    <p:bg>
      <p:bgPr>
        <a:blipFill>
          <a:blip r:embed="rId2">
            <a:alphaModFix/>
          </a:blip>
          <a:stretch>
            <a:fillRect/>
          </a:stretch>
        </a:blipFill>
      </p:bgPr>
    </p:bg>
    <p:spTree>
      <p:nvGrpSpPr>
        <p:cNvPr id="39" name="Shape 39"/>
        <p:cNvGrpSpPr/>
        <p:nvPr/>
      </p:nvGrpSpPr>
      <p:grpSpPr>
        <a:xfrm>
          <a:off x="0" y="0"/>
          <a:ext cx="0" cy="0"/>
          <a:chOff x="0" y="0"/>
          <a:chExt cx="0" cy="0"/>
        </a:xfrm>
      </p:grpSpPr>
      <p:pic>
        <p:nvPicPr>
          <p:cNvPr id="40" name="Google Shape;40;p46" title="logo coderhouse"/>
          <p:cNvPicPr preferRelativeResize="0"/>
          <p:nvPr/>
        </p:nvPicPr>
        <p:blipFill rotWithShape="1">
          <a:blip r:embed="rId3">
            <a:alphaModFix/>
          </a:blip>
          <a:srcRect b="0" l="0" r="0" t="0"/>
          <a:stretch/>
        </p:blipFill>
        <p:spPr>
          <a:xfrm>
            <a:off x="7874775" y="4720250"/>
            <a:ext cx="1024025" cy="21162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co 1" type="title">
  <p:cSld name="TITLE">
    <p:spTree>
      <p:nvGrpSpPr>
        <p:cNvPr id="41" name="Shape 41"/>
        <p:cNvGrpSpPr/>
        <p:nvPr/>
      </p:nvGrpSpPr>
      <p:grpSpPr>
        <a:xfrm>
          <a:off x="0" y="0"/>
          <a:ext cx="0" cy="0"/>
          <a:chOff x="0" y="0"/>
          <a:chExt cx="0" cy="0"/>
        </a:xfrm>
      </p:grpSpPr>
      <p:sp>
        <p:nvSpPr>
          <p:cNvPr id="42" name="Google Shape;42;p5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000"/>
              <a:buFont typeface="DM Sans"/>
              <a:buNone/>
              <a:defRPr b="1" sz="4000">
                <a:latin typeface="DM Sans"/>
                <a:ea typeface="DM Sans"/>
                <a:cs typeface="DM Sans"/>
                <a:sym typeface="DM Sans"/>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43" name="Google Shape;43;p5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000"/>
              <a:buFont typeface="Helvetica Neue Light"/>
              <a:buNone/>
              <a:defRPr sz="2000">
                <a:latin typeface="Helvetica Neue Light"/>
                <a:ea typeface="Helvetica Neue Light"/>
                <a:cs typeface="Helvetica Neue Light"/>
                <a:sym typeface="Helvetica Neue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44" name="Google Shape;44;p52" title="logo CoderHouse"/>
          <p:cNvPicPr preferRelativeResize="0"/>
          <p:nvPr/>
        </p:nvPicPr>
        <p:blipFill rotWithShape="1">
          <a:blip r:embed="rId2">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A">
  <p:cSld name="SECTION_HEADER_1_1">
    <p:bg>
      <p:bgPr>
        <a:blipFill>
          <a:blip r:embed="rId2">
            <a:alphaModFix/>
          </a:blip>
          <a:stretch>
            <a:fillRect/>
          </a:stretch>
        </a:blipFill>
      </p:bgPr>
    </p:bg>
    <p:spTree>
      <p:nvGrpSpPr>
        <p:cNvPr id="45" name="Shape 45"/>
        <p:cNvGrpSpPr/>
        <p:nvPr/>
      </p:nvGrpSpPr>
      <p:grpSpPr>
        <a:xfrm>
          <a:off x="0" y="0"/>
          <a:ext cx="0" cy="0"/>
          <a:chOff x="0" y="0"/>
          <a:chExt cx="0" cy="0"/>
        </a:xfrm>
      </p:grpSpPr>
      <p:pic>
        <p:nvPicPr>
          <p:cNvPr id="46" name="Google Shape;46;p53"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
        <p:nvSpPr>
          <p:cNvPr id="47" name="Google Shape;47;p53"/>
          <p:cNvSpPr/>
          <p:nvPr/>
        </p:nvSpPr>
        <p:spPr>
          <a:xfrm>
            <a:off x="1089900" y="995400"/>
            <a:ext cx="6964200" cy="3152700"/>
          </a:xfrm>
          <a:prstGeom prst="rect">
            <a:avLst/>
          </a:prstGeom>
          <a:solidFill>
            <a:srgbClr val="B5B5B5">
              <a:alpha val="9803"/>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A 1">
  <p:cSld name="SECTION_HEADER_1_1_1">
    <p:bg>
      <p:bgPr>
        <a:blipFill>
          <a:blip r:embed="rId2">
            <a:alphaModFix/>
          </a:blip>
          <a:stretch>
            <a:fillRect/>
          </a:stretch>
        </a:blipFill>
      </p:bgPr>
    </p:bg>
    <p:spTree>
      <p:nvGrpSpPr>
        <p:cNvPr id="48" name="Shape 48"/>
        <p:cNvGrpSpPr/>
        <p:nvPr/>
      </p:nvGrpSpPr>
      <p:grpSpPr>
        <a:xfrm>
          <a:off x="0" y="0"/>
          <a:ext cx="0" cy="0"/>
          <a:chOff x="0" y="0"/>
          <a:chExt cx="0" cy="0"/>
        </a:xfrm>
      </p:grpSpPr>
      <p:pic>
        <p:nvPicPr>
          <p:cNvPr id="49" name="Google Shape;49;p54"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adro">
  <p:cSld name="SECTION_HEADER_1_1_1_1_1_1">
    <p:bg>
      <p:bgPr>
        <a:blipFill>
          <a:blip r:embed="rId2">
            <a:alphaModFix/>
          </a:blip>
          <a:stretch>
            <a:fillRect/>
          </a:stretch>
        </a:blipFill>
      </p:bgPr>
    </p:bg>
    <p:spTree>
      <p:nvGrpSpPr>
        <p:cNvPr id="50" name="Shape 50"/>
        <p:cNvGrpSpPr/>
        <p:nvPr/>
      </p:nvGrpSpPr>
      <p:grpSpPr>
        <a:xfrm>
          <a:off x="0" y="0"/>
          <a:ext cx="0" cy="0"/>
          <a:chOff x="0" y="0"/>
          <a:chExt cx="0" cy="0"/>
        </a:xfrm>
      </p:grpSpPr>
      <p:pic>
        <p:nvPicPr>
          <p:cNvPr id="51" name="Google Shape;51;p55"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 imagen">
  <p:cSld name="SECTION_HEADER_1_1_1_1_1_1_1">
    <p:bg>
      <p:bgPr>
        <a:blipFill>
          <a:blip r:embed="rId2">
            <a:alphaModFix/>
          </a:blip>
          <a:stretch>
            <a:fillRect/>
          </a:stretch>
        </a:blipFill>
      </p:bgPr>
    </p:bg>
    <p:spTree>
      <p:nvGrpSpPr>
        <p:cNvPr id="52" name="Shape 52"/>
        <p:cNvGrpSpPr/>
        <p:nvPr/>
      </p:nvGrpSpPr>
      <p:grpSpPr>
        <a:xfrm>
          <a:off x="0" y="0"/>
          <a:ext cx="0" cy="0"/>
          <a:chOff x="0" y="0"/>
          <a:chExt cx="0" cy="0"/>
        </a:xfrm>
      </p:grpSpPr>
      <p:sp>
        <p:nvSpPr>
          <p:cNvPr id="53" name="Google Shape;53;p56"/>
          <p:cNvSpPr/>
          <p:nvPr/>
        </p:nvSpPr>
        <p:spPr>
          <a:xfrm>
            <a:off x="6592475" y="0"/>
            <a:ext cx="2551500" cy="5143500"/>
          </a:xfrm>
          <a:prstGeom prst="rect">
            <a:avLst/>
          </a:prstGeom>
          <a:solidFill>
            <a:srgbClr val="EAFF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4" name="Google Shape;54;p56"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ndo blanco">
  <p:cSld name="SECTION_HEADER_1_1_1_1_1_1_1_1">
    <p:spTree>
      <p:nvGrpSpPr>
        <p:cNvPr id="55" name="Shape 55"/>
        <p:cNvGrpSpPr/>
        <p:nvPr/>
      </p:nvGrpSpPr>
      <p:grpSpPr>
        <a:xfrm>
          <a:off x="0" y="0"/>
          <a:ext cx="0" cy="0"/>
          <a:chOff x="0" y="0"/>
          <a:chExt cx="0" cy="0"/>
        </a:xfrm>
      </p:grpSpPr>
      <p:pic>
        <p:nvPicPr>
          <p:cNvPr id="56" name="Google Shape;56;p57" title="logo coderhouse"/>
          <p:cNvPicPr preferRelativeResize="0"/>
          <p:nvPr/>
        </p:nvPicPr>
        <p:blipFill rotWithShape="1">
          <a:blip r:embed="rId2">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B">
  <p:cSld name="SECTION_HEADER_1_1_1_1_1_1_1_1_1">
    <p:bg>
      <p:bgPr>
        <a:blipFill>
          <a:blip r:embed="rId2">
            <a:alphaModFix/>
          </a:blip>
          <a:stretch>
            <a:fillRect/>
          </a:stretch>
        </a:blipFill>
      </p:bgPr>
    </p:bg>
    <p:spTree>
      <p:nvGrpSpPr>
        <p:cNvPr id="57" name="Shape 57"/>
        <p:cNvGrpSpPr/>
        <p:nvPr/>
      </p:nvGrpSpPr>
      <p:grpSpPr>
        <a:xfrm>
          <a:off x="0" y="0"/>
          <a:ext cx="0" cy="0"/>
          <a:chOff x="0" y="0"/>
          <a:chExt cx="0" cy="0"/>
        </a:xfrm>
      </p:grpSpPr>
      <p:pic>
        <p:nvPicPr>
          <p:cNvPr id="58" name="Google Shape;58;p58"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A">
  <p:cSld name="SECTION_HEADER_1_1_1_1_1_1_1_1_1_1">
    <p:bg>
      <p:bgPr>
        <a:blipFill>
          <a:blip r:embed="rId2">
            <a:alphaModFix/>
          </a:blip>
          <a:stretch>
            <a:fillRect/>
          </a:stretch>
        </a:blipFill>
      </p:bgPr>
    </p:bg>
    <p:spTree>
      <p:nvGrpSpPr>
        <p:cNvPr id="59" name="Shape 59"/>
        <p:cNvGrpSpPr/>
        <p:nvPr/>
      </p:nvGrpSpPr>
      <p:grpSpPr>
        <a:xfrm>
          <a:off x="0" y="0"/>
          <a:ext cx="0" cy="0"/>
          <a:chOff x="0" y="0"/>
          <a:chExt cx="0" cy="0"/>
        </a:xfrm>
      </p:grpSpPr>
      <p:pic>
        <p:nvPicPr>
          <p:cNvPr id="60" name="Google Shape;60;p59"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B 5">
  <p:cSld name="SECTION_HEADER_1_1_1_1_1_1_1_1_1_8">
    <p:bg>
      <p:bgPr>
        <a:blipFill>
          <a:blip r:embed="rId2">
            <a:alphaModFix/>
          </a:blip>
          <a:stretch>
            <a:fillRect/>
          </a:stretch>
        </a:blipFill>
      </p:bgPr>
    </p:bg>
    <p:spTree>
      <p:nvGrpSpPr>
        <p:cNvPr id="61" name="Shape 61"/>
        <p:cNvGrpSpPr/>
        <p:nvPr/>
      </p:nvGrpSpPr>
      <p:grpSpPr>
        <a:xfrm>
          <a:off x="0" y="0"/>
          <a:ext cx="0" cy="0"/>
          <a:chOff x="0" y="0"/>
          <a:chExt cx="0" cy="0"/>
        </a:xfrm>
      </p:grpSpPr>
      <p:pic>
        <p:nvPicPr>
          <p:cNvPr id="62" name="Google Shape;62;p60"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B 1">
  <p:cSld name="SECTION_HEADER_1_2">
    <p:spTree>
      <p:nvGrpSpPr>
        <p:cNvPr id="63" name="Shape 63"/>
        <p:cNvGrpSpPr/>
        <p:nvPr/>
      </p:nvGrpSpPr>
      <p:grpSpPr>
        <a:xfrm>
          <a:off x="0" y="0"/>
          <a:ext cx="0" cy="0"/>
          <a:chOff x="0" y="0"/>
          <a:chExt cx="0" cy="0"/>
        </a:xfrm>
      </p:grpSpPr>
      <p:pic>
        <p:nvPicPr>
          <p:cNvPr id="64" name="Google Shape;64;p61" title="logo coderhouse"/>
          <p:cNvPicPr preferRelativeResize="0"/>
          <p:nvPr/>
        </p:nvPicPr>
        <p:blipFill rotWithShape="1">
          <a:blip r:embed="rId2">
            <a:alphaModFix/>
          </a:blip>
          <a:srcRect b="0" l="0" r="0" t="0"/>
          <a:stretch/>
        </p:blipFill>
        <p:spPr>
          <a:xfrm>
            <a:off x="7874775" y="4720250"/>
            <a:ext cx="1024025" cy="21162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5" name="Shape 35"/>
        <p:cNvGrpSpPr/>
        <p:nvPr/>
      </p:nvGrpSpPr>
      <p:grpSpPr>
        <a:xfrm>
          <a:off x="0" y="0"/>
          <a:ext cx="0" cy="0"/>
          <a:chOff x="0" y="0"/>
          <a:chExt cx="0" cy="0"/>
        </a:xfrm>
      </p:grpSpPr>
      <p:sp>
        <p:nvSpPr>
          <p:cNvPr id="36" name="Google Shape;36;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37" name="Google Shape;37;p4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38" name="Google Shape;38;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png"/><Relationship Id="rId4"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20.jpg"/><Relationship Id="rId4" Type="http://schemas.openxmlformats.org/officeDocument/2006/relationships/image" Target="../media/image13.png"/><Relationship Id="rId5" Type="http://schemas.openxmlformats.org/officeDocument/2006/relationships/image" Target="../media/image10.png"/><Relationship Id="rId6" Type="http://schemas.openxmlformats.org/officeDocument/2006/relationships/hyperlink" Target="https://unsplash.com/es/fotos/cFFEeHNZEqw"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2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2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27.jpg"/><Relationship Id="rId4" Type="http://schemas.openxmlformats.org/officeDocument/2006/relationships/image" Target="../media/image13.png"/><Relationship Id="rId5" Type="http://schemas.openxmlformats.org/officeDocument/2006/relationships/image" Target="../media/image10.png"/><Relationship Id="rId6" Type="http://schemas.openxmlformats.org/officeDocument/2006/relationships/hyperlink" Target="https://unsplash.com/es/fotos/Bss5nhYnLKU"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27.jpg"/><Relationship Id="rId4" Type="http://schemas.openxmlformats.org/officeDocument/2006/relationships/image" Target="../media/image13.png"/><Relationship Id="rId5" Type="http://schemas.openxmlformats.org/officeDocument/2006/relationships/image" Target="../media/image10.png"/><Relationship Id="rId6" Type="http://schemas.openxmlformats.org/officeDocument/2006/relationships/hyperlink" Target="https://unsplash.com/es/fotos/Bss5nhYnLKU"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27.jpg"/><Relationship Id="rId4" Type="http://schemas.openxmlformats.org/officeDocument/2006/relationships/image" Target="../media/image13.png"/><Relationship Id="rId5" Type="http://schemas.openxmlformats.org/officeDocument/2006/relationships/image" Target="../media/image10.png"/><Relationship Id="rId6" Type="http://schemas.openxmlformats.org/officeDocument/2006/relationships/hyperlink" Target="https://unsplash.com/es/fotos/Bss5nhYnLKU"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0.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10.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1.gi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
          <p:cNvSpPr txBox="1"/>
          <p:nvPr/>
        </p:nvSpPr>
        <p:spPr>
          <a:xfrm>
            <a:off x="1461300" y="1925250"/>
            <a:ext cx="6221400" cy="12930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4000"/>
              <a:buFont typeface="Arial"/>
              <a:buNone/>
            </a:pPr>
            <a:r>
              <a:rPr b="1" i="0" lang="es" sz="4000" u="none" cap="none" strike="noStrike">
                <a:solidFill>
                  <a:srgbClr val="EAFF6A"/>
                </a:solidFill>
                <a:latin typeface="DM Sans"/>
                <a:ea typeface="DM Sans"/>
                <a:cs typeface="DM Sans"/>
                <a:sym typeface="DM Sans"/>
              </a:rPr>
              <a:t>¡Les damos la bienvenida!</a:t>
            </a:r>
            <a:endParaRPr b="1" i="0" sz="4000" u="none" cap="none" strike="noStrike">
              <a:solidFill>
                <a:srgbClr val="EAFF6A"/>
              </a:solidFill>
              <a:latin typeface="DM Sans"/>
              <a:ea typeface="DM Sans"/>
              <a:cs typeface="DM Sans"/>
              <a:sym typeface="DM Sans"/>
            </a:endParaRPr>
          </a:p>
        </p:txBody>
      </p:sp>
      <p:sp>
        <p:nvSpPr>
          <p:cNvPr id="70" name="Google Shape;70;p1"/>
          <p:cNvSpPr txBox="1"/>
          <p:nvPr/>
        </p:nvSpPr>
        <p:spPr>
          <a:xfrm>
            <a:off x="3315900" y="3421350"/>
            <a:ext cx="25122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s" sz="2000" u="none" cap="none" strike="noStrike">
                <a:solidFill>
                  <a:schemeClr val="lt1"/>
                </a:solidFill>
                <a:latin typeface="DM Sans"/>
                <a:ea typeface="DM Sans"/>
                <a:cs typeface="DM Sans"/>
                <a:sym typeface="DM Sans"/>
              </a:rPr>
              <a:t>¿Comenzamos?</a:t>
            </a:r>
            <a:endParaRPr b="0" i="0" sz="2000" u="none" cap="none" strike="noStrike">
              <a:solidFill>
                <a:schemeClr val="lt1"/>
              </a:solidFill>
              <a:latin typeface="DM Sans"/>
              <a:ea typeface="DM Sans"/>
              <a:cs typeface="DM Sans"/>
              <a:sym typeface="DM Sans"/>
            </a:endParaRPr>
          </a:p>
        </p:txBody>
      </p:sp>
      <p:pic>
        <p:nvPicPr>
          <p:cNvPr descr="Man Dancing on Apple iOS 12.2" id="71" name="Google Shape;71;p1"/>
          <p:cNvPicPr preferRelativeResize="0"/>
          <p:nvPr/>
        </p:nvPicPr>
        <p:blipFill rotWithShape="1">
          <a:blip r:embed="rId3">
            <a:alphaModFix/>
          </a:blip>
          <a:srcRect b="0" l="0" r="0" t="0"/>
          <a:stretch/>
        </p:blipFill>
        <p:spPr>
          <a:xfrm>
            <a:off x="4133900" y="808750"/>
            <a:ext cx="876200" cy="876200"/>
          </a:xfrm>
          <a:prstGeom prst="rect">
            <a:avLst/>
          </a:prstGeom>
          <a:noFill/>
          <a:ln>
            <a:noFill/>
          </a:ln>
        </p:spPr>
      </p:pic>
      <p:pic>
        <p:nvPicPr>
          <p:cNvPr id="72" name="Google Shape;72;p1"/>
          <p:cNvPicPr preferRelativeResize="0"/>
          <p:nvPr/>
        </p:nvPicPr>
        <p:blipFill rotWithShape="1">
          <a:blip r:embed="rId4">
            <a:alphaModFix/>
          </a:blip>
          <a:srcRect b="0" l="0" r="0" t="0"/>
          <a:stretch/>
        </p:blipFill>
        <p:spPr>
          <a:xfrm>
            <a:off x="2662988" y="3567300"/>
            <a:ext cx="3818026" cy="15762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2"/>
          <p:cNvSpPr/>
          <p:nvPr/>
        </p:nvSpPr>
        <p:spPr>
          <a:xfrm>
            <a:off x="3080700" y="2547525"/>
            <a:ext cx="2982600" cy="7938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2"/>
          <p:cNvSpPr txBox="1"/>
          <p:nvPr/>
        </p:nvSpPr>
        <p:spPr>
          <a:xfrm>
            <a:off x="1461300" y="1802163"/>
            <a:ext cx="62214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4000"/>
              <a:buFont typeface="Arial"/>
              <a:buNone/>
            </a:pPr>
            <a:r>
              <a:rPr b="1" i="0" lang="es" sz="4000" u="none" cap="none" strike="noStrike">
                <a:solidFill>
                  <a:schemeClr val="lt1"/>
                </a:solidFill>
                <a:latin typeface="DM Sans"/>
                <a:ea typeface="DM Sans"/>
                <a:cs typeface="DM Sans"/>
                <a:sym typeface="DM Sans"/>
              </a:rPr>
              <a:t>Esta clase va a ser</a:t>
            </a:r>
            <a:endParaRPr b="1" i="0" sz="4000" u="none" cap="none" strike="noStrike">
              <a:solidFill>
                <a:srgbClr val="DEFC52"/>
              </a:solidFill>
              <a:latin typeface="DM Sans"/>
              <a:ea typeface="DM Sans"/>
              <a:cs typeface="DM Sans"/>
              <a:sym typeface="DM Sans"/>
            </a:endParaRPr>
          </a:p>
        </p:txBody>
      </p:sp>
      <p:sp>
        <p:nvSpPr>
          <p:cNvPr id="79" name="Google Shape;79;p2"/>
          <p:cNvSpPr txBox="1"/>
          <p:nvPr/>
        </p:nvSpPr>
        <p:spPr>
          <a:xfrm>
            <a:off x="3655975" y="2541075"/>
            <a:ext cx="23631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4000"/>
              <a:buFont typeface="Arial"/>
              <a:buNone/>
            </a:pPr>
            <a:r>
              <a:rPr b="1" i="0" lang="es" sz="4000" u="none" cap="none" strike="noStrike">
                <a:solidFill>
                  <a:srgbClr val="EAFF6A"/>
                </a:solidFill>
                <a:latin typeface="DM Sans"/>
                <a:ea typeface="DM Sans"/>
                <a:cs typeface="DM Sans"/>
                <a:sym typeface="DM Sans"/>
              </a:rPr>
              <a:t>grabada</a:t>
            </a:r>
            <a:endParaRPr b="1" i="0" sz="4000" u="none" cap="none" strike="noStrike">
              <a:solidFill>
                <a:srgbClr val="EAFF6A"/>
              </a:solidFill>
              <a:latin typeface="DM Sans"/>
              <a:ea typeface="DM Sans"/>
              <a:cs typeface="DM Sans"/>
              <a:sym typeface="DM Sans"/>
            </a:endParaRPr>
          </a:p>
        </p:txBody>
      </p:sp>
      <p:sp>
        <p:nvSpPr>
          <p:cNvPr id="80" name="Google Shape;80;p2"/>
          <p:cNvSpPr/>
          <p:nvPr/>
        </p:nvSpPr>
        <p:spPr>
          <a:xfrm>
            <a:off x="3293875" y="2844525"/>
            <a:ext cx="199800" cy="199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3"/>
          <p:cNvSpPr txBox="1"/>
          <p:nvPr/>
        </p:nvSpPr>
        <p:spPr>
          <a:xfrm>
            <a:off x="2356516" y="1876825"/>
            <a:ext cx="4431000" cy="12930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4000"/>
              <a:buFont typeface="Arial"/>
              <a:buNone/>
            </a:pPr>
            <a:r>
              <a:rPr b="1" i="0" lang="es" sz="4000" u="none" cap="none" strike="noStrike">
                <a:solidFill>
                  <a:srgbClr val="EAFF6A"/>
                </a:solidFill>
                <a:latin typeface="DM Sans"/>
                <a:ea typeface="DM Sans"/>
                <a:cs typeface="DM Sans"/>
                <a:sym typeface="DM Sans"/>
              </a:rPr>
              <a:t>Clase pr</a:t>
            </a:r>
            <a:r>
              <a:rPr b="1" lang="es" sz="4000">
                <a:solidFill>
                  <a:srgbClr val="EAFF6A"/>
                </a:solidFill>
                <a:latin typeface="DM Sans"/>
                <a:ea typeface="DM Sans"/>
                <a:cs typeface="DM Sans"/>
                <a:sym typeface="DM Sans"/>
              </a:rPr>
              <a:t>áctica </a:t>
            </a:r>
            <a:r>
              <a:rPr b="1" i="0" lang="es" sz="4000" u="none" cap="none" strike="noStrike">
                <a:solidFill>
                  <a:srgbClr val="EAFF6A"/>
                </a:solidFill>
                <a:latin typeface="DM Sans"/>
                <a:ea typeface="DM Sans"/>
                <a:cs typeface="DM Sans"/>
                <a:sym typeface="DM Sans"/>
              </a:rPr>
              <a:t>en vivo</a:t>
            </a:r>
            <a:endParaRPr b="1" i="0" sz="4000" u="none" cap="none" strike="noStrike">
              <a:solidFill>
                <a:srgbClr val="EAFF6A"/>
              </a:solidFill>
              <a:latin typeface="DM Sans"/>
              <a:ea typeface="DM Sans"/>
              <a:cs typeface="DM Sans"/>
              <a:sym typeface="DM Sans"/>
            </a:endParaRPr>
          </a:p>
        </p:txBody>
      </p:sp>
      <p:sp>
        <p:nvSpPr>
          <p:cNvPr id="86" name="Google Shape;86;p3"/>
          <p:cNvSpPr txBox="1"/>
          <p:nvPr/>
        </p:nvSpPr>
        <p:spPr>
          <a:xfrm>
            <a:off x="3124950" y="3082025"/>
            <a:ext cx="2894100" cy="392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50"/>
              <a:buFont typeface="Arial"/>
              <a:buNone/>
            </a:pPr>
            <a:r>
              <a:rPr b="0" i="0" lang="es" sz="1350" u="none" cap="none" strike="noStrike">
                <a:solidFill>
                  <a:schemeClr val="lt1"/>
                </a:solidFill>
                <a:latin typeface="DM Sans"/>
                <a:ea typeface="DM Sans"/>
                <a:cs typeface="DM Sans"/>
                <a:sym typeface="DM Sans"/>
              </a:rPr>
              <a:t>¿Comenzamos?</a:t>
            </a:r>
            <a:endParaRPr b="0" i="0" sz="1350" u="none" cap="none" strike="noStrike">
              <a:solidFill>
                <a:schemeClr val="lt1"/>
              </a:solidFill>
              <a:latin typeface="DM Sans"/>
              <a:ea typeface="DM Sans"/>
              <a:cs typeface="DM Sans"/>
              <a:sym typeface="DM Sans"/>
            </a:endParaRPr>
          </a:p>
        </p:txBody>
      </p:sp>
      <p:sp>
        <p:nvSpPr>
          <p:cNvPr id="87" name="Google Shape;87;p3"/>
          <p:cNvSpPr txBox="1"/>
          <p:nvPr/>
        </p:nvSpPr>
        <p:spPr>
          <a:xfrm>
            <a:off x="467600" y="471175"/>
            <a:ext cx="5296800" cy="392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FFFFFF"/>
                </a:solidFill>
                <a:latin typeface="DM Sans"/>
                <a:ea typeface="DM Sans"/>
                <a:cs typeface="DM Sans"/>
                <a:sym typeface="DM Sans"/>
              </a:rPr>
              <a:t>DESARROLLO WEB</a:t>
            </a:r>
            <a:endParaRPr b="0" i="0" sz="1350" u="none" cap="none" strike="noStrike">
              <a:solidFill>
                <a:srgbClr val="FFFFFF"/>
              </a:solidFill>
              <a:latin typeface="DM Sans"/>
              <a:ea typeface="DM Sans"/>
              <a:cs typeface="DM Sans"/>
              <a:sym typeface="DM Sans"/>
            </a:endParaRPr>
          </a:p>
        </p:txBody>
      </p:sp>
      <p:pic>
        <p:nvPicPr>
          <p:cNvPr id="88" name="Google Shape;88;p3"/>
          <p:cNvPicPr preferRelativeResize="0"/>
          <p:nvPr/>
        </p:nvPicPr>
        <p:blipFill rotWithShape="1">
          <a:blip r:embed="rId3">
            <a:alphaModFix/>
          </a:blip>
          <a:srcRect b="0" l="0" r="0" t="0"/>
          <a:stretch/>
        </p:blipFill>
        <p:spPr>
          <a:xfrm>
            <a:off x="2662988" y="3567300"/>
            <a:ext cx="3818026" cy="1576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4"/>
          <p:cNvSpPr txBox="1"/>
          <p:nvPr/>
        </p:nvSpPr>
        <p:spPr>
          <a:xfrm>
            <a:off x="1461300" y="2252975"/>
            <a:ext cx="62214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4000"/>
              <a:buFont typeface="Arial"/>
              <a:buNone/>
            </a:pPr>
            <a:r>
              <a:rPr b="1" i="0" lang="es" sz="4000" u="none" cap="none" strike="noStrike">
                <a:solidFill>
                  <a:srgbClr val="EAFF6A"/>
                </a:solidFill>
                <a:latin typeface="DM Sans"/>
                <a:ea typeface="DM Sans"/>
                <a:cs typeface="DM Sans"/>
                <a:sym typeface="DM Sans"/>
              </a:rPr>
              <a:t>SASS</a:t>
            </a:r>
            <a:endParaRPr b="1" i="0" sz="4000" u="none" cap="none" strike="noStrike">
              <a:solidFill>
                <a:srgbClr val="EAFF6A"/>
              </a:solidFill>
              <a:latin typeface="DM Sans"/>
              <a:ea typeface="DM Sans"/>
              <a:cs typeface="DM Sans"/>
              <a:sym typeface="DM Sans"/>
            </a:endParaRPr>
          </a:p>
        </p:txBody>
      </p:sp>
      <p:sp>
        <p:nvSpPr>
          <p:cNvPr id="94" name="Google Shape;94;p4"/>
          <p:cNvSpPr txBox="1"/>
          <p:nvPr/>
        </p:nvSpPr>
        <p:spPr>
          <a:xfrm>
            <a:off x="1461300" y="1665250"/>
            <a:ext cx="62214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1" lang="es" sz="1800">
                <a:solidFill>
                  <a:schemeClr val="lt1"/>
                </a:solidFill>
                <a:latin typeface="DM Sans"/>
                <a:ea typeface="DM Sans"/>
                <a:cs typeface="DM Sans"/>
                <a:sym typeface="DM Sans"/>
              </a:rPr>
              <a:t>Unidad 8</a:t>
            </a:r>
            <a:r>
              <a:rPr b="1" i="0" lang="es" sz="1800" u="none" cap="none" strike="noStrike">
                <a:solidFill>
                  <a:schemeClr val="lt1"/>
                </a:solidFill>
                <a:latin typeface="DM Sans"/>
                <a:ea typeface="DM Sans"/>
                <a:cs typeface="DM Sans"/>
                <a:sym typeface="DM Sans"/>
              </a:rPr>
              <a:t>.</a:t>
            </a:r>
            <a:r>
              <a:rPr b="0" i="0" lang="es" sz="1800" u="none" cap="none" strike="noStrike">
                <a:solidFill>
                  <a:schemeClr val="lt1"/>
                </a:solidFill>
                <a:latin typeface="DM Sans"/>
                <a:ea typeface="DM Sans"/>
                <a:cs typeface="DM Sans"/>
                <a:sym typeface="DM Sans"/>
              </a:rPr>
              <a:t> DESARROLLO WEB</a:t>
            </a:r>
            <a:endParaRPr b="0" i="0" sz="1600" u="none" cap="none" strike="noStrike">
              <a:solidFill>
                <a:schemeClr val="lt1"/>
              </a:solidFill>
              <a:latin typeface="DM Sans"/>
              <a:ea typeface="DM Sans"/>
              <a:cs typeface="DM Sans"/>
              <a:sym typeface="DM Sans"/>
            </a:endParaRPr>
          </a:p>
        </p:txBody>
      </p:sp>
      <p:pic>
        <p:nvPicPr>
          <p:cNvPr id="95" name="Google Shape;95;p4"/>
          <p:cNvPicPr preferRelativeResize="0"/>
          <p:nvPr/>
        </p:nvPicPr>
        <p:blipFill rotWithShape="1">
          <a:blip r:embed="rId3">
            <a:alphaModFix/>
          </a:blip>
          <a:srcRect b="0" l="0" r="0" t="0"/>
          <a:stretch/>
        </p:blipFill>
        <p:spPr>
          <a:xfrm>
            <a:off x="2662988" y="3567300"/>
            <a:ext cx="3818026" cy="1576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grpSp>
        <p:nvGrpSpPr>
          <p:cNvPr id="100" name="Google Shape;100;p7"/>
          <p:cNvGrpSpPr/>
          <p:nvPr/>
        </p:nvGrpSpPr>
        <p:grpSpPr>
          <a:xfrm>
            <a:off x="4202551" y="1088764"/>
            <a:ext cx="738900" cy="738974"/>
            <a:chOff x="974706" y="2467173"/>
            <a:chExt cx="738900" cy="738900"/>
          </a:xfrm>
        </p:grpSpPr>
        <p:sp>
          <p:nvSpPr>
            <p:cNvPr id="101" name="Google Shape;101;p7"/>
            <p:cNvSpPr/>
            <p:nvPr/>
          </p:nvSpPr>
          <p:spPr>
            <a:xfrm>
              <a:off x="974706" y="2467173"/>
              <a:ext cx="738900" cy="738900"/>
            </a:xfrm>
            <a:prstGeom prst="ellipse">
              <a:avLst/>
            </a:prstGeom>
            <a:solidFill>
              <a:srgbClr val="EAFF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2" name="Google Shape;102;p7" title="ícono de actividad en clase"/>
            <p:cNvPicPr preferRelativeResize="0"/>
            <p:nvPr/>
          </p:nvPicPr>
          <p:blipFill rotWithShape="1">
            <a:blip r:embed="rId3">
              <a:alphaModFix/>
            </a:blip>
            <a:srcRect b="0" l="0" r="0" t="0"/>
            <a:stretch/>
          </p:blipFill>
          <p:spPr>
            <a:xfrm>
              <a:off x="1109750" y="2610275"/>
              <a:ext cx="452650" cy="452650"/>
            </a:xfrm>
            <a:prstGeom prst="rect">
              <a:avLst/>
            </a:prstGeom>
            <a:noFill/>
            <a:ln>
              <a:noFill/>
            </a:ln>
          </p:spPr>
        </p:pic>
      </p:grpSp>
      <p:sp>
        <p:nvSpPr>
          <p:cNvPr id="103" name="Google Shape;103;p7"/>
          <p:cNvSpPr txBox="1"/>
          <p:nvPr/>
        </p:nvSpPr>
        <p:spPr>
          <a:xfrm>
            <a:off x="1547025" y="1925250"/>
            <a:ext cx="6221400" cy="18471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4000"/>
              <a:buFont typeface="Arial"/>
              <a:buNone/>
            </a:pPr>
            <a:r>
              <a:rPr b="1" i="0" lang="es" sz="4000" u="none" cap="none" strike="noStrike">
                <a:solidFill>
                  <a:schemeClr val="dk1"/>
                </a:solidFill>
                <a:latin typeface="DM Sans"/>
                <a:ea typeface="DM Sans"/>
                <a:cs typeface="DM Sans"/>
                <a:sym typeface="DM Sans"/>
              </a:rPr>
              <a:t>Creando orden</a:t>
            </a:r>
            <a:endParaRPr b="1" i="0" sz="4000" u="none" cap="none" strike="noStrike">
              <a:solidFill>
                <a:schemeClr val="dk1"/>
              </a:solidFill>
              <a:latin typeface="DM Sans"/>
              <a:ea typeface="DM Sans"/>
              <a:cs typeface="DM Sans"/>
              <a:sym typeface="DM Sans"/>
            </a:endParaRPr>
          </a:p>
          <a:p>
            <a:pPr indent="0" lvl="0" marL="0" rtl="0" algn="ctr">
              <a:lnSpc>
                <a:spcPct val="90000"/>
              </a:lnSpc>
              <a:spcBef>
                <a:spcPts val="0"/>
              </a:spcBef>
              <a:spcAft>
                <a:spcPts val="0"/>
              </a:spcAft>
              <a:buClr>
                <a:schemeClr val="dk1"/>
              </a:buClr>
              <a:buSzPts val="1100"/>
              <a:buFont typeface="Arial"/>
              <a:buNone/>
            </a:pPr>
            <a:r>
              <a:t/>
            </a:r>
            <a:endParaRPr b="1" i="0" sz="4000" u="none" cap="none" strike="noStrike">
              <a:solidFill>
                <a:schemeClr val="dk1"/>
              </a:solidFill>
              <a:latin typeface="DM Sans"/>
              <a:ea typeface="DM Sans"/>
              <a:cs typeface="DM Sans"/>
              <a:sym typeface="DM Sans"/>
            </a:endParaRPr>
          </a:p>
          <a:p>
            <a:pPr indent="0" lvl="0" marL="0" marR="0" rtl="0" algn="ctr">
              <a:lnSpc>
                <a:spcPct val="90000"/>
              </a:lnSpc>
              <a:spcBef>
                <a:spcPts val="0"/>
              </a:spcBef>
              <a:spcAft>
                <a:spcPts val="0"/>
              </a:spcAft>
              <a:buClr>
                <a:srgbClr val="000000"/>
              </a:buClr>
              <a:buSzPts val="4000"/>
              <a:buFont typeface="Arial"/>
              <a:buNone/>
            </a:pPr>
            <a:r>
              <a:t/>
            </a:r>
            <a:endParaRPr b="1" sz="4000">
              <a:solidFill>
                <a:schemeClr val="dk1"/>
              </a:solidFill>
              <a:latin typeface="DM Sans"/>
              <a:ea typeface="DM Sans"/>
              <a:cs typeface="DM Sans"/>
              <a:sym typeface="DM Sans"/>
            </a:endParaRPr>
          </a:p>
        </p:txBody>
      </p:sp>
      <p:sp>
        <p:nvSpPr>
          <p:cNvPr id="104" name="Google Shape;104;p7"/>
          <p:cNvSpPr txBox="1"/>
          <p:nvPr/>
        </p:nvSpPr>
        <p:spPr>
          <a:xfrm>
            <a:off x="987300" y="3287388"/>
            <a:ext cx="7169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s" sz="2000" u="none" cap="none" strike="noStrike">
                <a:solidFill>
                  <a:srgbClr val="999999"/>
                </a:solidFill>
                <a:latin typeface="DM Sans"/>
                <a:ea typeface="DM Sans"/>
                <a:cs typeface="DM Sans"/>
                <a:sym typeface="DM Sans"/>
              </a:rPr>
              <a:t>¡Vamos a recuperar lo trabajado durante la semana! </a:t>
            </a:r>
            <a:endParaRPr b="0" i="0" sz="2000" u="none" cap="none" strike="noStrike">
              <a:solidFill>
                <a:srgbClr val="999999"/>
              </a:solidFill>
              <a:latin typeface="DM Sans"/>
              <a:ea typeface="DM Sans"/>
              <a:cs typeface="DM Sans"/>
              <a:sym typeface="DM Sans"/>
            </a:endParaRPr>
          </a:p>
        </p:txBody>
      </p:sp>
      <p:sp>
        <p:nvSpPr>
          <p:cNvPr id="105" name="Google Shape;105;p7"/>
          <p:cNvSpPr txBox="1"/>
          <p:nvPr/>
        </p:nvSpPr>
        <p:spPr>
          <a:xfrm>
            <a:off x="987300" y="3849138"/>
            <a:ext cx="71694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0" lang="es" sz="1800" u="none" cap="none" strike="noStrike">
                <a:solidFill>
                  <a:srgbClr val="83AEFB"/>
                </a:solidFill>
                <a:latin typeface="DM Sans"/>
                <a:ea typeface="DM Sans"/>
                <a:cs typeface="DM Sans"/>
                <a:sym typeface="DM Sans"/>
              </a:rPr>
              <a:t>Duración: </a:t>
            </a:r>
            <a:r>
              <a:rPr b="1" i="0" lang="es" sz="1800" u="none" cap="none" strike="noStrike">
                <a:solidFill>
                  <a:srgbClr val="83AEFB"/>
                </a:solidFill>
                <a:latin typeface="DM Sans"/>
                <a:ea typeface="DM Sans"/>
                <a:cs typeface="DM Sans"/>
                <a:sym typeface="DM Sans"/>
              </a:rPr>
              <a:t>10 minutos</a:t>
            </a:r>
            <a:r>
              <a:rPr b="0" i="0" lang="es" sz="1800" u="none" cap="none" strike="noStrike">
                <a:solidFill>
                  <a:srgbClr val="83AEFB"/>
                </a:solidFill>
                <a:latin typeface="DM Sans"/>
                <a:ea typeface="DM Sans"/>
                <a:cs typeface="DM Sans"/>
                <a:sym typeface="DM Sans"/>
              </a:rPr>
              <a:t>.</a:t>
            </a:r>
            <a:endParaRPr b="0" i="0" sz="1800" u="none" cap="none" strike="noStrike">
              <a:solidFill>
                <a:srgbClr val="83AEFB"/>
              </a:solidFill>
              <a:latin typeface="DM Sans"/>
              <a:ea typeface="DM Sans"/>
              <a:cs typeface="DM Sans"/>
              <a:sym typeface="DM Sans"/>
            </a:endParaRPr>
          </a:p>
        </p:txBody>
      </p:sp>
      <p:grpSp>
        <p:nvGrpSpPr>
          <p:cNvPr id="106" name="Google Shape;106;p7"/>
          <p:cNvGrpSpPr/>
          <p:nvPr/>
        </p:nvGrpSpPr>
        <p:grpSpPr>
          <a:xfrm>
            <a:off x="0" y="-7400"/>
            <a:ext cx="9143925" cy="44400"/>
            <a:chOff x="0" y="-7400"/>
            <a:chExt cx="9143925" cy="44400"/>
          </a:xfrm>
        </p:grpSpPr>
        <p:sp>
          <p:nvSpPr>
            <p:cNvPr id="107" name="Google Shape;107;p7"/>
            <p:cNvSpPr/>
            <p:nvPr/>
          </p:nvSpPr>
          <p:spPr>
            <a:xfrm>
              <a:off x="5846625" y="-7400"/>
              <a:ext cx="3297300" cy="444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DM Sans"/>
                <a:ea typeface="DM Sans"/>
                <a:cs typeface="DM Sans"/>
                <a:sym typeface="DM Sans"/>
              </a:endParaRPr>
            </a:p>
          </p:txBody>
        </p:sp>
        <p:sp>
          <p:nvSpPr>
            <p:cNvPr id="108" name="Google Shape;108;p7"/>
            <p:cNvSpPr/>
            <p:nvPr/>
          </p:nvSpPr>
          <p:spPr>
            <a:xfrm>
              <a:off x="0" y="-7400"/>
              <a:ext cx="5846700" cy="444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p8"/>
          <p:cNvPicPr preferRelativeResize="0"/>
          <p:nvPr/>
        </p:nvPicPr>
        <p:blipFill rotWithShape="1">
          <a:blip r:embed="rId3">
            <a:alphaModFix/>
          </a:blip>
          <a:srcRect b="0" l="0" r="0" t="0"/>
          <a:stretch/>
        </p:blipFill>
        <p:spPr>
          <a:xfrm>
            <a:off x="5716919" y="-6775"/>
            <a:ext cx="3428163" cy="5143501"/>
          </a:xfrm>
          <a:prstGeom prst="rect">
            <a:avLst/>
          </a:prstGeom>
          <a:noFill/>
          <a:ln>
            <a:noFill/>
          </a:ln>
        </p:spPr>
      </p:pic>
      <p:grpSp>
        <p:nvGrpSpPr>
          <p:cNvPr id="114" name="Google Shape;114;p8"/>
          <p:cNvGrpSpPr/>
          <p:nvPr/>
        </p:nvGrpSpPr>
        <p:grpSpPr>
          <a:xfrm>
            <a:off x="475504" y="468236"/>
            <a:ext cx="431074" cy="431148"/>
            <a:chOff x="974706" y="2467173"/>
            <a:chExt cx="738900" cy="738900"/>
          </a:xfrm>
        </p:grpSpPr>
        <p:sp>
          <p:nvSpPr>
            <p:cNvPr id="115" name="Google Shape;115;p8"/>
            <p:cNvSpPr/>
            <p:nvPr/>
          </p:nvSpPr>
          <p:spPr>
            <a:xfrm>
              <a:off x="974706" y="2467173"/>
              <a:ext cx="738900" cy="738900"/>
            </a:xfrm>
            <a:prstGeom prst="ellipse">
              <a:avLst/>
            </a:prstGeom>
            <a:solidFill>
              <a:srgbClr val="EAFF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6" name="Google Shape;116;p8" title="ícono de actividad en clase"/>
            <p:cNvPicPr preferRelativeResize="0"/>
            <p:nvPr/>
          </p:nvPicPr>
          <p:blipFill rotWithShape="1">
            <a:blip r:embed="rId4">
              <a:alphaModFix/>
            </a:blip>
            <a:srcRect b="0" l="0" r="0" t="0"/>
            <a:stretch/>
          </p:blipFill>
          <p:spPr>
            <a:xfrm>
              <a:off x="1109750" y="2610275"/>
              <a:ext cx="452650" cy="452650"/>
            </a:xfrm>
            <a:prstGeom prst="rect">
              <a:avLst/>
            </a:prstGeom>
            <a:noFill/>
            <a:ln>
              <a:noFill/>
            </a:ln>
          </p:spPr>
        </p:pic>
      </p:grpSp>
      <p:sp>
        <p:nvSpPr>
          <p:cNvPr id="117" name="Google Shape;117;p8"/>
          <p:cNvSpPr txBox="1"/>
          <p:nvPr/>
        </p:nvSpPr>
        <p:spPr>
          <a:xfrm>
            <a:off x="548250" y="2220125"/>
            <a:ext cx="4753200" cy="1767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 sz="1350">
                <a:latin typeface="DM Sans"/>
                <a:ea typeface="DM Sans"/>
                <a:cs typeface="DM Sans"/>
                <a:sym typeface="DM Sans"/>
              </a:rPr>
              <a:t>Configura el proyecto para que soporte SASS. </a:t>
            </a:r>
            <a:endParaRPr sz="13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sz="1350">
                <a:latin typeface="DM Sans"/>
                <a:ea typeface="DM Sans"/>
                <a:cs typeface="DM Sans"/>
                <a:sym typeface="DM Sans"/>
              </a:rPr>
              <a:t>Aplica los conceptos vistos durante los videos de SASS en una página a elección (puedes modificar la sintaxis de tu código CSS hecho previamente y adaptarlo a las reglas de SASS). </a:t>
            </a:r>
            <a:endParaRPr sz="13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sz="1350">
                <a:latin typeface="DM Sans"/>
                <a:ea typeface="DM Sans"/>
                <a:cs typeface="DM Sans"/>
                <a:sym typeface="DM Sans"/>
              </a:rPr>
              <a:t>Luego carga todo en GitHub.</a:t>
            </a:r>
            <a:endParaRPr sz="1350">
              <a:latin typeface="DM Sans"/>
              <a:ea typeface="DM Sans"/>
              <a:cs typeface="DM Sans"/>
              <a:sym typeface="DM Sans"/>
            </a:endParaRPr>
          </a:p>
          <a:p>
            <a:pPr indent="0" lvl="0" marL="0" marR="0" rtl="0" algn="l">
              <a:lnSpc>
                <a:spcPct val="100000"/>
              </a:lnSpc>
              <a:spcBef>
                <a:spcPts val="1000"/>
              </a:spcBef>
              <a:spcAft>
                <a:spcPts val="0"/>
              </a:spcAft>
              <a:buClr>
                <a:srgbClr val="000000"/>
              </a:buClr>
              <a:buSzPts val="1350"/>
              <a:buFont typeface="Arial"/>
              <a:buNone/>
            </a:pPr>
            <a:r>
              <a:t/>
            </a:r>
            <a:endParaRPr b="1" i="0" sz="1350" u="none" cap="none" strike="noStrike">
              <a:solidFill>
                <a:srgbClr val="000000"/>
              </a:solidFill>
              <a:latin typeface="DM Sans"/>
              <a:ea typeface="DM Sans"/>
              <a:cs typeface="DM Sans"/>
              <a:sym typeface="DM Sans"/>
            </a:endParaRPr>
          </a:p>
        </p:txBody>
      </p:sp>
      <p:sp>
        <p:nvSpPr>
          <p:cNvPr id="118" name="Google Shape;118;p8"/>
          <p:cNvSpPr txBox="1"/>
          <p:nvPr/>
        </p:nvSpPr>
        <p:spPr>
          <a:xfrm>
            <a:off x="501450" y="1081750"/>
            <a:ext cx="4987200" cy="7389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chemeClr val="dk1"/>
              </a:buClr>
              <a:buSzPts val="1100"/>
              <a:buFont typeface="Arial"/>
              <a:buNone/>
            </a:pPr>
            <a:r>
              <a:rPr b="1" i="0" lang="es" sz="4000" u="none" cap="none" strike="noStrike">
                <a:solidFill>
                  <a:schemeClr val="dk1"/>
                </a:solidFill>
                <a:latin typeface="DM Sans"/>
                <a:ea typeface="DM Sans"/>
                <a:cs typeface="DM Sans"/>
                <a:sym typeface="DM Sans"/>
              </a:rPr>
              <a:t>Creando orden</a:t>
            </a:r>
            <a:endParaRPr b="1" i="0" sz="4000" u="none" cap="none" strike="noStrike">
              <a:solidFill>
                <a:schemeClr val="dk1"/>
              </a:solidFill>
              <a:latin typeface="DM Sans"/>
              <a:ea typeface="DM Sans"/>
              <a:cs typeface="DM Sans"/>
              <a:sym typeface="DM Sans"/>
            </a:endParaRPr>
          </a:p>
        </p:txBody>
      </p:sp>
      <p:pic>
        <p:nvPicPr>
          <p:cNvPr id="119" name="Google Shape;119;p8"/>
          <p:cNvPicPr preferRelativeResize="0"/>
          <p:nvPr/>
        </p:nvPicPr>
        <p:blipFill rotWithShape="1">
          <a:blip r:embed="rId5">
            <a:alphaModFix/>
          </a:blip>
          <a:srcRect b="0" l="0" r="0" t="0"/>
          <a:stretch/>
        </p:blipFill>
        <p:spPr>
          <a:xfrm>
            <a:off x="7811413" y="4692275"/>
            <a:ext cx="1150750" cy="267575"/>
          </a:xfrm>
          <a:prstGeom prst="rect">
            <a:avLst/>
          </a:prstGeom>
          <a:noFill/>
          <a:ln>
            <a:noFill/>
          </a:ln>
        </p:spPr>
      </p:pic>
      <p:sp>
        <p:nvSpPr>
          <p:cNvPr id="120" name="Google Shape;120;p8"/>
          <p:cNvSpPr txBox="1"/>
          <p:nvPr/>
        </p:nvSpPr>
        <p:spPr>
          <a:xfrm>
            <a:off x="930550" y="468275"/>
            <a:ext cx="3823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600"/>
              <a:buFont typeface="Arial"/>
              <a:buNone/>
            </a:pPr>
            <a:r>
              <a:rPr lang="es" sz="1600">
                <a:solidFill>
                  <a:schemeClr val="dk1"/>
                </a:solidFill>
                <a:latin typeface="DM Sans"/>
                <a:ea typeface="DM Sans"/>
                <a:cs typeface="DM Sans"/>
                <a:sym typeface="DM Sans"/>
              </a:rPr>
              <a:t>ACTIVIDAD</a:t>
            </a:r>
            <a:endParaRPr sz="1600">
              <a:solidFill>
                <a:schemeClr val="dk1"/>
              </a:solidFill>
              <a:latin typeface="DM Sans"/>
              <a:ea typeface="DM Sans"/>
              <a:cs typeface="DM Sans"/>
              <a:sym typeface="DM Sans"/>
            </a:endParaRPr>
          </a:p>
        </p:txBody>
      </p:sp>
      <p:sp>
        <p:nvSpPr>
          <p:cNvPr id="121" name="Google Shape;121;p8"/>
          <p:cNvSpPr txBox="1"/>
          <p:nvPr/>
        </p:nvSpPr>
        <p:spPr>
          <a:xfrm>
            <a:off x="501450" y="4649063"/>
            <a:ext cx="66318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100"/>
              <a:buFont typeface="Arial"/>
              <a:buNone/>
            </a:pPr>
            <a:r>
              <a:rPr b="0" i="0" lang="es" sz="1100" u="none" cap="none" strike="noStrike">
                <a:solidFill>
                  <a:schemeClr val="dk2"/>
                </a:solidFill>
                <a:latin typeface="DM Sans"/>
                <a:ea typeface="DM Sans"/>
                <a:cs typeface="DM Sans"/>
                <a:sym typeface="DM Sans"/>
              </a:rPr>
              <a:t>Fuente de la imagen: </a:t>
            </a:r>
            <a:r>
              <a:rPr b="0" i="0" lang="es" sz="1100" u="sng" cap="none" strike="noStrike">
                <a:solidFill>
                  <a:schemeClr val="hlink"/>
                </a:solidFill>
                <a:latin typeface="DM Sans"/>
                <a:ea typeface="DM Sans"/>
                <a:cs typeface="DM Sans"/>
                <a:sym typeface="DM Sans"/>
                <a:hlinkClick r:id="rId6"/>
              </a:rPr>
              <a:t>Kevin Canlas</a:t>
            </a:r>
            <a:endParaRPr b="0" i="0" sz="1100" u="none" cap="none" strike="noStrike">
              <a:solidFill>
                <a:schemeClr val="dk2"/>
              </a:solidFill>
              <a:latin typeface="DM Sans"/>
              <a:ea typeface="DM Sans"/>
              <a:cs typeface="DM Sans"/>
              <a:sym typeface="DM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grpSp>
        <p:nvGrpSpPr>
          <p:cNvPr id="126" name="Google Shape;126;g2e6ac3356b4_0_0"/>
          <p:cNvGrpSpPr/>
          <p:nvPr/>
        </p:nvGrpSpPr>
        <p:grpSpPr>
          <a:xfrm>
            <a:off x="4202551" y="1088764"/>
            <a:ext cx="738900" cy="738974"/>
            <a:chOff x="974706" y="2467173"/>
            <a:chExt cx="738900" cy="738900"/>
          </a:xfrm>
        </p:grpSpPr>
        <p:sp>
          <p:nvSpPr>
            <p:cNvPr id="127" name="Google Shape;127;g2e6ac3356b4_0_0"/>
            <p:cNvSpPr/>
            <p:nvPr/>
          </p:nvSpPr>
          <p:spPr>
            <a:xfrm>
              <a:off x="974706" y="2467173"/>
              <a:ext cx="738900" cy="738900"/>
            </a:xfrm>
            <a:prstGeom prst="ellipse">
              <a:avLst/>
            </a:prstGeom>
            <a:solidFill>
              <a:srgbClr val="EAFF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8" name="Google Shape;128;g2e6ac3356b4_0_0" title="ícono de actividad en clase"/>
            <p:cNvPicPr preferRelativeResize="0"/>
            <p:nvPr/>
          </p:nvPicPr>
          <p:blipFill rotWithShape="1">
            <a:blip r:embed="rId3">
              <a:alphaModFix/>
            </a:blip>
            <a:srcRect b="0" l="0" r="0" t="0"/>
            <a:stretch/>
          </p:blipFill>
          <p:spPr>
            <a:xfrm>
              <a:off x="1109750" y="2610275"/>
              <a:ext cx="452650" cy="452650"/>
            </a:xfrm>
            <a:prstGeom prst="rect">
              <a:avLst/>
            </a:prstGeom>
            <a:noFill/>
            <a:ln>
              <a:noFill/>
            </a:ln>
          </p:spPr>
        </p:pic>
      </p:grpSp>
      <p:sp>
        <p:nvSpPr>
          <p:cNvPr id="129" name="Google Shape;129;g2e6ac3356b4_0_0"/>
          <p:cNvSpPr txBox="1"/>
          <p:nvPr/>
        </p:nvSpPr>
        <p:spPr>
          <a:xfrm>
            <a:off x="1547025" y="1925250"/>
            <a:ext cx="62214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4000"/>
              <a:buFont typeface="Arial"/>
              <a:buNone/>
            </a:pPr>
            <a:r>
              <a:rPr b="1" i="0" lang="es" sz="4000" u="none" cap="none" strike="noStrike">
                <a:solidFill>
                  <a:schemeClr val="dk1"/>
                </a:solidFill>
                <a:latin typeface="DM Sans"/>
                <a:ea typeface="DM Sans"/>
                <a:cs typeface="DM Sans"/>
                <a:sym typeface="DM Sans"/>
              </a:rPr>
              <a:t>Puesta en común </a:t>
            </a:r>
            <a:endParaRPr b="1" i="0" sz="4000" u="none" cap="none" strike="noStrike">
              <a:solidFill>
                <a:schemeClr val="dk1"/>
              </a:solidFill>
              <a:highlight>
                <a:srgbClr val="EAFF6A"/>
              </a:highlight>
              <a:latin typeface="DM Sans"/>
              <a:ea typeface="DM Sans"/>
              <a:cs typeface="DM Sans"/>
              <a:sym typeface="DM Sans"/>
            </a:endParaRPr>
          </a:p>
        </p:txBody>
      </p:sp>
      <p:sp>
        <p:nvSpPr>
          <p:cNvPr id="130" name="Google Shape;130;g2e6ac3356b4_0_0"/>
          <p:cNvSpPr txBox="1"/>
          <p:nvPr/>
        </p:nvSpPr>
        <p:spPr>
          <a:xfrm>
            <a:off x="987300" y="3849138"/>
            <a:ext cx="71694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0" lang="es" sz="1800" u="none" cap="none" strike="noStrike">
                <a:solidFill>
                  <a:srgbClr val="83AEFB"/>
                </a:solidFill>
                <a:latin typeface="DM Sans"/>
                <a:ea typeface="DM Sans"/>
                <a:cs typeface="DM Sans"/>
                <a:sym typeface="DM Sans"/>
              </a:rPr>
              <a:t>Duración: </a:t>
            </a:r>
            <a:r>
              <a:rPr b="1" lang="es" sz="1800">
                <a:solidFill>
                  <a:srgbClr val="83AEFB"/>
                </a:solidFill>
                <a:latin typeface="DM Sans"/>
                <a:ea typeface="DM Sans"/>
                <a:cs typeface="DM Sans"/>
                <a:sym typeface="DM Sans"/>
              </a:rPr>
              <a:t>5/10</a:t>
            </a:r>
            <a:r>
              <a:rPr b="1" i="0" lang="es" sz="1800" u="none" cap="none" strike="noStrike">
                <a:solidFill>
                  <a:srgbClr val="83AEFB"/>
                </a:solidFill>
                <a:latin typeface="DM Sans"/>
                <a:ea typeface="DM Sans"/>
                <a:cs typeface="DM Sans"/>
                <a:sym typeface="DM Sans"/>
              </a:rPr>
              <a:t> minutos</a:t>
            </a:r>
            <a:r>
              <a:rPr b="0" i="0" lang="es" sz="1800" u="none" cap="none" strike="noStrike">
                <a:solidFill>
                  <a:srgbClr val="83AEFB"/>
                </a:solidFill>
                <a:latin typeface="DM Sans"/>
                <a:ea typeface="DM Sans"/>
                <a:cs typeface="DM Sans"/>
                <a:sym typeface="DM Sans"/>
              </a:rPr>
              <a:t>.</a:t>
            </a:r>
            <a:endParaRPr b="0" i="0" sz="1800" u="none" cap="none" strike="noStrike">
              <a:solidFill>
                <a:srgbClr val="83AEFB"/>
              </a:solidFill>
              <a:latin typeface="DM Sans"/>
              <a:ea typeface="DM Sans"/>
              <a:cs typeface="DM Sans"/>
              <a:sym typeface="DM Sans"/>
            </a:endParaRPr>
          </a:p>
        </p:txBody>
      </p:sp>
      <p:grpSp>
        <p:nvGrpSpPr>
          <p:cNvPr id="131" name="Google Shape;131;g2e6ac3356b4_0_0"/>
          <p:cNvGrpSpPr/>
          <p:nvPr/>
        </p:nvGrpSpPr>
        <p:grpSpPr>
          <a:xfrm>
            <a:off x="0" y="-7400"/>
            <a:ext cx="9143925" cy="44400"/>
            <a:chOff x="0" y="-7400"/>
            <a:chExt cx="9143925" cy="44400"/>
          </a:xfrm>
        </p:grpSpPr>
        <p:sp>
          <p:nvSpPr>
            <p:cNvPr id="132" name="Google Shape;132;g2e6ac3356b4_0_0"/>
            <p:cNvSpPr/>
            <p:nvPr/>
          </p:nvSpPr>
          <p:spPr>
            <a:xfrm>
              <a:off x="5846625" y="-7400"/>
              <a:ext cx="3297300" cy="444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DM Sans"/>
                <a:ea typeface="DM Sans"/>
                <a:cs typeface="DM Sans"/>
                <a:sym typeface="DM Sans"/>
              </a:endParaRPr>
            </a:p>
          </p:txBody>
        </p:sp>
        <p:sp>
          <p:nvSpPr>
            <p:cNvPr id="133" name="Google Shape;133;g2e6ac3356b4_0_0"/>
            <p:cNvSpPr/>
            <p:nvPr/>
          </p:nvSpPr>
          <p:spPr>
            <a:xfrm>
              <a:off x="0" y="-7400"/>
              <a:ext cx="5846700" cy="444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9"/>
          <p:cNvSpPr txBox="1"/>
          <p:nvPr/>
        </p:nvSpPr>
        <p:spPr>
          <a:xfrm>
            <a:off x="589225" y="4680375"/>
            <a:ext cx="3180600" cy="392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50"/>
              <a:buFont typeface="Arial"/>
              <a:buNone/>
            </a:pPr>
            <a:r>
              <a:rPr b="1" i="0" lang="es" sz="1350" u="none" cap="none" strike="noStrike">
                <a:solidFill>
                  <a:srgbClr val="999999"/>
                </a:solidFill>
                <a:latin typeface="DM Sans"/>
                <a:ea typeface="DM Sans"/>
                <a:cs typeface="DM Sans"/>
                <a:sym typeface="DM Sans"/>
              </a:rPr>
              <a:t>Imagen: Doc HTML</a:t>
            </a:r>
            <a:endParaRPr b="1" i="0" sz="1350" u="none" cap="none" strike="noStrike">
              <a:solidFill>
                <a:srgbClr val="999999"/>
              </a:solidFill>
              <a:latin typeface="DM Sans"/>
              <a:ea typeface="DM Sans"/>
              <a:cs typeface="DM Sans"/>
              <a:sym typeface="DM Sans"/>
            </a:endParaRPr>
          </a:p>
        </p:txBody>
      </p:sp>
      <p:sp>
        <p:nvSpPr>
          <p:cNvPr id="139" name="Google Shape;139;p9"/>
          <p:cNvSpPr txBox="1"/>
          <p:nvPr/>
        </p:nvSpPr>
        <p:spPr>
          <a:xfrm>
            <a:off x="979650" y="2338875"/>
            <a:ext cx="3823800" cy="936300"/>
          </a:xfrm>
          <a:prstGeom prst="rect">
            <a:avLst/>
          </a:prstGeom>
          <a:noFill/>
          <a:ln>
            <a:noFill/>
          </a:ln>
        </p:spPr>
        <p:txBody>
          <a:bodyPr anchorCtr="0" anchor="t" bIns="91425" lIns="91425" spcFirstLastPara="1" rIns="91425" wrap="square" tIns="91425">
            <a:spAutoFit/>
          </a:bodyPr>
          <a:lstStyle/>
          <a:p>
            <a:pPr indent="-314325" lvl="0" marL="457200" marR="0" rtl="0" algn="l">
              <a:lnSpc>
                <a:spcPct val="100000"/>
              </a:lnSpc>
              <a:spcBef>
                <a:spcPts val="0"/>
              </a:spcBef>
              <a:spcAft>
                <a:spcPts val="0"/>
              </a:spcAft>
              <a:buClr>
                <a:srgbClr val="999999"/>
              </a:buClr>
              <a:buSzPts val="1350"/>
              <a:buFont typeface="DM Sans"/>
              <a:buChar char="●"/>
            </a:pPr>
            <a:r>
              <a:rPr b="1" i="0" lang="es" sz="1350" u="none" cap="none" strike="noStrike">
                <a:solidFill>
                  <a:srgbClr val="999999"/>
                </a:solidFill>
                <a:latin typeface="DM Sans"/>
                <a:ea typeface="DM Sans"/>
                <a:cs typeface="DM Sans"/>
                <a:sym typeface="DM Sans"/>
              </a:rPr>
              <a:t>¿Te pareció complicado utilizar SASS?</a:t>
            </a:r>
            <a:endParaRPr b="1" i="0" sz="1350" u="none" cap="none" strike="noStrike">
              <a:solidFill>
                <a:srgbClr val="999999"/>
              </a:solidFill>
              <a:latin typeface="DM Sans"/>
              <a:ea typeface="DM Sans"/>
              <a:cs typeface="DM Sans"/>
              <a:sym typeface="DM Sans"/>
            </a:endParaRPr>
          </a:p>
          <a:p>
            <a:pPr indent="-314325" lvl="0" marL="457200" marR="0" rtl="0" algn="l">
              <a:lnSpc>
                <a:spcPct val="100000"/>
              </a:lnSpc>
              <a:spcBef>
                <a:spcPts val="1000"/>
              </a:spcBef>
              <a:spcAft>
                <a:spcPts val="1000"/>
              </a:spcAft>
              <a:buClr>
                <a:srgbClr val="999999"/>
              </a:buClr>
              <a:buSzPts val="1350"/>
              <a:buFont typeface="DM Sans"/>
              <a:buChar char="●"/>
            </a:pPr>
            <a:r>
              <a:rPr b="1" i="0" lang="es" sz="1350" u="none" cap="none" strike="noStrike">
                <a:solidFill>
                  <a:srgbClr val="999999"/>
                </a:solidFill>
                <a:latin typeface="DM Sans"/>
                <a:ea typeface="DM Sans"/>
                <a:cs typeface="DM Sans"/>
                <a:sym typeface="DM Sans"/>
              </a:rPr>
              <a:t>¿Qué dificultades se te presentaron y cómo las resolviste?</a:t>
            </a:r>
            <a:endParaRPr b="1" i="0" sz="1350" u="none" cap="none" strike="noStrike">
              <a:solidFill>
                <a:srgbClr val="999999"/>
              </a:solidFill>
              <a:latin typeface="DM Sans"/>
              <a:ea typeface="DM Sans"/>
              <a:cs typeface="DM Sans"/>
              <a:sym typeface="DM Sans"/>
            </a:endParaRPr>
          </a:p>
        </p:txBody>
      </p:sp>
      <p:sp>
        <p:nvSpPr>
          <p:cNvPr id="140" name="Google Shape;140;p9"/>
          <p:cNvSpPr txBox="1"/>
          <p:nvPr/>
        </p:nvSpPr>
        <p:spPr>
          <a:xfrm>
            <a:off x="930550" y="468275"/>
            <a:ext cx="3823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600"/>
              <a:buFont typeface="Arial"/>
              <a:buNone/>
            </a:pPr>
            <a:r>
              <a:rPr lang="es" sz="1600">
                <a:solidFill>
                  <a:schemeClr val="dk1"/>
                </a:solidFill>
                <a:latin typeface="DM Sans"/>
                <a:ea typeface="DM Sans"/>
                <a:cs typeface="DM Sans"/>
                <a:sym typeface="DM Sans"/>
              </a:rPr>
              <a:t>ACTIVIDAD</a:t>
            </a:r>
            <a:endParaRPr sz="1600">
              <a:solidFill>
                <a:schemeClr val="dk1"/>
              </a:solidFill>
              <a:latin typeface="DM Sans"/>
              <a:ea typeface="DM Sans"/>
              <a:cs typeface="DM Sans"/>
              <a:sym typeface="DM Sans"/>
            </a:endParaRPr>
          </a:p>
        </p:txBody>
      </p:sp>
      <p:sp>
        <p:nvSpPr>
          <p:cNvPr id="141" name="Google Shape;141;p9"/>
          <p:cNvSpPr txBox="1"/>
          <p:nvPr/>
        </p:nvSpPr>
        <p:spPr>
          <a:xfrm>
            <a:off x="488850" y="931400"/>
            <a:ext cx="4162200" cy="7389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chemeClr val="dk1"/>
              </a:buClr>
              <a:buSzPts val="4000"/>
              <a:buFont typeface="Arial"/>
              <a:buNone/>
            </a:pPr>
            <a:r>
              <a:rPr b="1" i="0" lang="es" sz="4000" u="none" cap="none" strike="noStrike">
                <a:solidFill>
                  <a:schemeClr val="dk1"/>
                </a:solidFill>
                <a:latin typeface="DM Sans"/>
                <a:ea typeface="DM Sans"/>
                <a:cs typeface="DM Sans"/>
                <a:sym typeface="DM Sans"/>
              </a:rPr>
              <a:t>Creando orden</a:t>
            </a:r>
            <a:endParaRPr b="1" i="0" sz="4000" u="none" cap="none" strike="noStrike">
              <a:solidFill>
                <a:schemeClr val="dk1"/>
              </a:solidFill>
              <a:latin typeface="DM Sans"/>
              <a:ea typeface="DM Sans"/>
              <a:cs typeface="DM Sans"/>
              <a:sym typeface="DM Sans"/>
            </a:endParaRPr>
          </a:p>
        </p:txBody>
      </p:sp>
      <p:grpSp>
        <p:nvGrpSpPr>
          <p:cNvPr id="142" name="Google Shape;142;p9"/>
          <p:cNvGrpSpPr/>
          <p:nvPr/>
        </p:nvGrpSpPr>
        <p:grpSpPr>
          <a:xfrm>
            <a:off x="475504" y="468236"/>
            <a:ext cx="431074" cy="431148"/>
            <a:chOff x="974706" y="2467173"/>
            <a:chExt cx="738900" cy="738900"/>
          </a:xfrm>
        </p:grpSpPr>
        <p:sp>
          <p:nvSpPr>
            <p:cNvPr id="143" name="Google Shape;143;p9"/>
            <p:cNvSpPr/>
            <p:nvPr/>
          </p:nvSpPr>
          <p:spPr>
            <a:xfrm>
              <a:off x="974706" y="2467173"/>
              <a:ext cx="738900" cy="738900"/>
            </a:xfrm>
            <a:prstGeom prst="ellipse">
              <a:avLst/>
            </a:prstGeom>
            <a:solidFill>
              <a:srgbClr val="EAFF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4" name="Google Shape;144;p9" title="ícono de actividad en clase"/>
            <p:cNvPicPr preferRelativeResize="0"/>
            <p:nvPr/>
          </p:nvPicPr>
          <p:blipFill rotWithShape="1">
            <a:blip r:embed="rId3">
              <a:alphaModFix/>
            </a:blip>
            <a:srcRect b="0" l="0" r="0" t="0"/>
            <a:stretch/>
          </p:blipFill>
          <p:spPr>
            <a:xfrm>
              <a:off x="1109750" y="2610275"/>
              <a:ext cx="452650" cy="452650"/>
            </a:xfrm>
            <a:prstGeom prst="rect">
              <a:avLst/>
            </a:prstGeom>
            <a:noFill/>
            <a:ln>
              <a:noFill/>
            </a:ln>
          </p:spPr>
        </p:pic>
      </p:grpSp>
      <p:pic>
        <p:nvPicPr>
          <p:cNvPr id="145" name="Google Shape;145;p9"/>
          <p:cNvPicPr preferRelativeResize="0"/>
          <p:nvPr/>
        </p:nvPicPr>
        <p:blipFill rotWithShape="1">
          <a:blip r:embed="rId4">
            <a:alphaModFix/>
          </a:blip>
          <a:srcRect b="0" l="0" r="0" t="0"/>
          <a:stretch/>
        </p:blipFill>
        <p:spPr>
          <a:xfrm>
            <a:off x="5716919" y="-6775"/>
            <a:ext cx="3428163" cy="51435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0"/>
          <p:cNvSpPr txBox="1"/>
          <p:nvPr/>
        </p:nvSpPr>
        <p:spPr>
          <a:xfrm>
            <a:off x="1461288" y="2202300"/>
            <a:ext cx="62214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4000"/>
              <a:buFont typeface="Arial"/>
              <a:buNone/>
            </a:pPr>
            <a:r>
              <a:rPr b="1" i="0" lang="es" sz="4000" u="none" cap="none" strike="noStrike">
                <a:solidFill>
                  <a:schemeClr val="lt1"/>
                </a:solidFill>
                <a:latin typeface="DM Sans"/>
                <a:ea typeface="DM Sans"/>
                <a:cs typeface="DM Sans"/>
                <a:sym typeface="DM Sans"/>
              </a:rPr>
              <a:t>SASS</a:t>
            </a:r>
            <a:endParaRPr b="1" i="0" sz="4000" u="none" cap="none" strike="noStrike">
              <a:solidFill>
                <a:schemeClr val="accent6"/>
              </a:solidFill>
              <a:latin typeface="DM Sans"/>
              <a:ea typeface="DM Sans"/>
              <a:cs typeface="DM Sans"/>
              <a:sym typeface="DM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3"/>
          <p:cNvSpPr txBox="1"/>
          <p:nvPr/>
        </p:nvSpPr>
        <p:spPr>
          <a:xfrm>
            <a:off x="1447300" y="537575"/>
            <a:ext cx="7169400" cy="6696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3500"/>
              <a:buFont typeface="Arial"/>
              <a:buNone/>
            </a:pPr>
            <a:r>
              <a:rPr b="1" i="0" lang="es" sz="3500" u="none" cap="none" strike="noStrike">
                <a:solidFill>
                  <a:schemeClr val="dk1"/>
                </a:solidFill>
                <a:latin typeface="DM Sans"/>
                <a:ea typeface="DM Sans"/>
                <a:cs typeface="DM Sans"/>
                <a:sym typeface="DM Sans"/>
              </a:rPr>
              <a:t>Ejemplo en vivo</a:t>
            </a:r>
            <a:endParaRPr b="1" i="0" sz="3500" u="none" cap="none" strike="noStrike">
              <a:solidFill>
                <a:schemeClr val="dk1"/>
              </a:solidFill>
              <a:latin typeface="DM Sans"/>
              <a:ea typeface="DM Sans"/>
              <a:cs typeface="DM Sans"/>
              <a:sym typeface="DM Sans"/>
            </a:endParaRPr>
          </a:p>
        </p:txBody>
      </p:sp>
      <p:sp>
        <p:nvSpPr>
          <p:cNvPr id="156" name="Google Shape;156;p13"/>
          <p:cNvSpPr txBox="1"/>
          <p:nvPr/>
        </p:nvSpPr>
        <p:spPr>
          <a:xfrm>
            <a:off x="475500" y="1474850"/>
            <a:ext cx="7169400" cy="210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B7B7B7"/>
              </a:solidFill>
              <a:latin typeface="DM Sans"/>
              <a:ea typeface="DM Sans"/>
              <a:cs typeface="DM Sans"/>
              <a:sym typeface="DM Sans"/>
            </a:endParaRPr>
          </a:p>
          <a:p>
            <a:pPr indent="0" lvl="0" marL="0" marR="0" rtl="0" algn="l">
              <a:lnSpc>
                <a:spcPct val="100000"/>
              </a:lnSpc>
              <a:spcBef>
                <a:spcPts val="0"/>
              </a:spcBef>
              <a:spcAft>
                <a:spcPts val="0"/>
              </a:spcAft>
              <a:buClr>
                <a:schemeClr val="dk1"/>
              </a:buClr>
              <a:buSzPts val="1100"/>
              <a:buFont typeface="Arial"/>
              <a:buNone/>
            </a:pPr>
            <a:r>
              <a:rPr b="0" i="0" lang="es" sz="2500" u="none" cap="none" strike="noStrike">
                <a:solidFill>
                  <a:schemeClr val="dk2"/>
                </a:solidFill>
                <a:latin typeface="DM Sans"/>
                <a:ea typeface="DM Sans"/>
                <a:cs typeface="DM Sans"/>
                <a:sym typeface="DM Sans"/>
              </a:rPr>
              <a:t>Aplicar desde cero el uso de SASS en una nueva carpeta, arquitectura de carpetas, uso de propiedades y sintaxis de sass con SCSS</a:t>
            </a:r>
            <a:endParaRPr b="0" i="0" sz="2500" u="none" cap="none" strike="noStrike">
              <a:solidFill>
                <a:schemeClr val="dk2"/>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2500"/>
              <a:buFont typeface="Arial"/>
              <a:buNone/>
            </a:pPr>
            <a:r>
              <a:t/>
            </a:r>
            <a:endParaRPr b="1" i="0" sz="2500" u="none" cap="none" strike="noStrike">
              <a:solidFill>
                <a:srgbClr val="B7B7B7"/>
              </a:solidFill>
              <a:latin typeface="Helvetica Neue"/>
              <a:ea typeface="Helvetica Neue"/>
              <a:cs typeface="Helvetica Neue"/>
              <a:sym typeface="Helvetica Neue"/>
            </a:endParaRPr>
          </a:p>
        </p:txBody>
      </p:sp>
      <p:grpSp>
        <p:nvGrpSpPr>
          <p:cNvPr id="157" name="Google Shape;157;p13"/>
          <p:cNvGrpSpPr/>
          <p:nvPr/>
        </p:nvGrpSpPr>
        <p:grpSpPr>
          <a:xfrm>
            <a:off x="475501" y="468273"/>
            <a:ext cx="738900" cy="738900"/>
            <a:chOff x="473351" y="619523"/>
            <a:chExt cx="738900" cy="738900"/>
          </a:xfrm>
        </p:grpSpPr>
        <p:sp>
          <p:nvSpPr>
            <p:cNvPr id="158" name="Google Shape;158;p13"/>
            <p:cNvSpPr/>
            <p:nvPr/>
          </p:nvSpPr>
          <p:spPr>
            <a:xfrm>
              <a:off x="473351" y="619523"/>
              <a:ext cx="738900" cy="738900"/>
            </a:xfrm>
            <a:prstGeom prst="ellips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59" name="Google Shape;159;p13" title="ícono de ejemplo en vivo"/>
            <p:cNvPicPr preferRelativeResize="0"/>
            <p:nvPr/>
          </p:nvPicPr>
          <p:blipFill rotWithShape="1">
            <a:blip r:embed="rId3">
              <a:alphaModFix/>
            </a:blip>
            <a:srcRect b="0" l="0" r="0" t="0"/>
            <a:stretch/>
          </p:blipFill>
          <p:spPr>
            <a:xfrm>
              <a:off x="616475" y="762650"/>
              <a:ext cx="452650" cy="452650"/>
            </a:xfrm>
            <a:prstGeom prst="rect">
              <a:avLst/>
            </a:prstGeom>
            <a:noFill/>
            <a:ln>
              <a:noFill/>
            </a:ln>
          </p:spPr>
        </p:pic>
      </p:grpSp>
      <p:sp>
        <p:nvSpPr>
          <p:cNvPr id="160" name="Google Shape;160;p13"/>
          <p:cNvSpPr txBox="1"/>
          <p:nvPr/>
        </p:nvSpPr>
        <p:spPr>
          <a:xfrm>
            <a:off x="475500" y="3829300"/>
            <a:ext cx="7169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chemeClr val="dk2"/>
                </a:solidFill>
                <a:latin typeface="DM Sans"/>
                <a:ea typeface="DM Sans"/>
                <a:cs typeface="DM Sans"/>
                <a:sym typeface="DM Sans"/>
              </a:rPr>
              <a:t>Duración: </a:t>
            </a:r>
            <a:r>
              <a:rPr b="1" i="0" lang="es" sz="2000" u="none" cap="none" strike="noStrike">
                <a:solidFill>
                  <a:schemeClr val="dk2"/>
                </a:solidFill>
                <a:latin typeface="DM Sans"/>
                <a:ea typeface="DM Sans"/>
                <a:cs typeface="DM Sans"/>
                <a:sym typeface="DM Sans"/>
              </a:rPr>
              <a:t>10 minutos</a:t>
            </a:r>
            <a:endParaRPr b="1" i="0" sz="2000" u="none" cap="none" strike="noStrike">
              <a:solidFill>
                <a:schemeClr val="dk2"/>
              </a:solidFill>
              <a:latin typeface="DM Sans"/>
              <a:ea typeface="DM Sans"/>
              <a:cs typeface="DM Sans"/>
              <a:sym typeface="DM Sans"/>
            </a:endParaRPr>
          </a:p>
        </p:txBody>
      </p:sp>
      <p:grpSp>
        <p:nvGrpSpPr>
          <p:cNvPr id="161" name="Google Shape;161;p13"/>
          <p:cNvGrpSpPr/>
          <p:nvPr/>
        </p:nvGrpSpPr>
        <p:grpSpPr>
          <a:xfrm>
            <a:off x="0" y="-7400"/>
            <a:ext cx="9143925" cy="44400"/>
            <a:chOff x="0" y="-7400"/>
            <a:chExt cx="9143925" cy="44400"/>
          </a:xfrm>
        </p:grpSpPr>
        <p:sp>
          <p:nvSpPr>
            <p:cNvPr id="162" name="Google Shape;162;p13"/>
            <p:cNvSpPr/>
            <p:nvPr/>
          </p:nvSpPr>
          <p:spPr>
            <a:xfrm>
              <a:off x="5846625" y="-7400"/>
              <a:ext cx="3297300" cy="444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DM Sans"/>
                <a:ea typeface="DM Sans"/>
                <a:cs typeface="DM Sans"/>
                <a:sym typeface="DM Sans"/>
              </a:endParaRPr>
            </a:p>
          </p:txBody>
        </p:sp>
        <p:sp>
          <p:nvSpPr>
            <p:cNvPr id="163" name="Google Shape;163;p13"/>
            <p:cNvSpPr/>
            <p:nvPr/>
          </p:nvSpPr>
          <p:spPr>
            <a:xfrm>
              <a:off x="0" y="-7400"/>
              <a:ext cx="5846700" cy="444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4"/>
          <p:cNvSpPr txBox="1"/>
          <p:nvPr/>
        </p:nvSpPr>
        <p:spPr>
          <a:xfrm>
            <a:off x="1461300" y="1598325"/>
            <a:ext cx="6221400" cy="14316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5000"/>
              <a:buFont typeface="Arial"/>
              <a:buNone/>
            </a:pPr>
            <a:r>
              <a:rPr b="0" i="0" lang="es" sz="5000" u="none" cap="none" strike="noStrike">
                <a:solidFill>
                  <a:srgbClr val="E8E7E3"/>
                </a:solidFill>
                <a:latin typeface="Arial"/>
                <a:ea typeface="Arial"/>
                <a:cs typeface="Arial"/>
                <a:sym typeface="Arial"/>
              </a:rPr>
              <a:t>☕</a:t>
            </a:r>
            <a:endParaRPr b="0" i="0" sz="5000" u="none" cap="none" strike="noStrike">
              <a:solidFill>
                <a:srgbClr val="E8E7E3"/>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4000"/>
              <a:buFont typeface="Arial"/>
              <a:buNone/>
            </a:pPr>
            <a:r>
              <a:rPr b="1" i="0" lang="es" sz="4000" u="none" cap="none" strike="noStrike">
                <a:solidFill>
                  <a:srgbClr val="EAFF6A"/>
                </a:solidFill>
                <a:latin typeface="DM Sans"/>
                <a:ea typeface="DM Sans"/>
                <a:cs typeface="DM Sans"/>
                <a:sym typeface="DM Sans"/>
              </a:rPr>
              <a:t>Break</a:t>
            </a:r>
            <a:endParaRPr b="1" i="0" sz="4000" u="none" cap="none" strike="noStrike">
              <a:solidFill>
                <a:schemeClr val="lt1"/>
              </a:solidFill>
              <a:latin typeface="DM Sans"/>
              <a:ea typeface="DM Sans"/>
              <a:cs typeface="DM Sans"/>
              <a:sym typeface="DM Sans"/>
            </a:endParaRPr>
          </a:p>
        </p:txBody>
      </p:sp>
      <p:sp>
        <p:nvSpPr>
          <p:cNvPr id="169" name="Google Shape;169;p14"/>
          <p:cNvSpPr txBox="1"/>
          <p:nvPr/>
        </p:nvSpPr>
        <p:spPr>
          <a:xfrm>
            <a:off x="2809200" y="2971950"/>
            <a:ext cx="35256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s" sz="2000" u="none" cap="none" strike="noStrike">
                <a:solidFill>
                  <a:schemeClr val="lt1"/>
                </a:solidFill>
                <a:latin typeface="DM Sans"/>
                <a:ea typeface="DM Sans"/>
                <a:cs typeface="DM Sans"/>
                <a:sym typeface="DM Sans"/>
              </a:rPr>
              <a:t>¡En unos minutos volvemos!</a:t>
            </a:r>
            <a:endParaRPr b="0" i="0" sz="2000" u="none" cap="none" strike="noStrike">
              <a:solidFill>
                <a:schemeClr val="lt1"/>
              </a:solidFill>
              <a:latin typeface="DM Sans"/>
              <a:ea typeface="DM Sans"/>
              <a:cs typeface="DM Sans"/>
              <a:sym typeface="DM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6"/>
          <p:cNvSpPr txBox="1"/>
          <p:nvPr/>
        </p:nvSpPr>
        <p:spPr>
          <a:xfrm>
            <a:off x="1447300" y="537575"/>
            <a:ext cx="7169400" cy="6696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3500"/>
              <a:buFont typeface="Arial"/>
              <a:buNone/>
            </a:pPr>
            <a:r>
              <a:rPr b="1" i="0" lang="es" sz="3500" u="none" cap="none" strike="noStrike">
                <a:solidFill>
                  <a:schemeClr val="dk1"/>
                </a:solidFill>
                <a:latin typeface="DM Sans"/>
                <a:ea typeface="DM Sans"/>
                <a:cs typeface="DM Sans"/>
                <a:sym typeface="DM Sans"/>
              </a:rPr>
              <a:t>Ejemplo en vivo</a:t>
            </a:r>
            <a:endParaRPr b="1" i="0" sz="3500" u="none" cap="none" strike="noStrike">
              <a:solidFill>
                <a:schemeClr val="dk1"/>
              </a:solidFill>
              <a:latin typeface="DM Sans"/>
              <a:ea typeface="DM Sans"/>
              <a:cs typeface="DM Sans"/>
              <a:sym typeface="DM Sans"/>
            </a:endParaRPr>
          </a:p>
        </p:txBody>
      </p:sp>
      <p:sp>
        <p:nvSpPr>
          <p:cNvPr id="175" name="Google Shape;175;p16"/>
          <p:cNvSpPr txBox="1"/>
          <p:nvPr/>
        </p:nvSpPr>
        <p:spPr>
          <a:xfrm>
            <a:off x="475500" y="1474850"/>
            <a:ext cx="7169400" cy="133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B7B7B7"/>
              </a:solidFill>
              <a:latin typeface="DM Sans"/>
              <a:ea typeface="DM Sans"/>
              <a:cs typeface="DM Sans"/>
              <a:sym typeface="DM Sans"/>
            </a:endParaRPr>
          </a:p>
          <a:p>
            <a:pPr indent="0" lvl="0" marL="0" marR="0" rtl="0" algn="l">
              <a:lnSpc>
                <a:spcPct val="100000"/>
              </a:lnSpc>
              <a:spcBef>
                <a:spcPts val="0"/>
              </a:spcBef>
              <a:spcAft>
                <a:spcPts val="0"/>
              </a:spcAft>
              <a:buClr>
                <a:schemeClr val="dk1"/>
              </a:buClr>
              <a:buSzPts val="1100"/>
              <a:buFont typeface="Arial"/>
              <a:buNone/>
            </a:pPr>
            <a:r>
              <a:rPr b="0" i="0" lang="es" sz="2500" u="none" cap="none" strike="noStrike">
                <a:solidFill>
                  <a:schemeClr val="dk2"/>
                </a:solidFill>
                <a:latin typeface="DM Sans"/>
                <a:ea typeface="DM Sans"/>
                <a:cs typeface="DM Sans"/>
                <a:sym typeface="DM Sans"/>
              </a:rPr>
              <a:t>Implementación de extend y mixins.</a:t>
            </a:r>
            <a:endParaRPr b="0" i="0" sz="2500" u="none" cap="none" strike="noStrike">
              <a:solidFill>
                <a:schemeClr val="dk2"/>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2500"/>
              <a:buFont typeface="Arial"/>
              <a:buNone/>
            </a:pPr>
            <a:r>
              <a:t/>
            </a:r>
            <a:endParaRPr b="1" i="0" sz="2500" u="none" cap="none" strike="noStrike">
              <a:solidFill>
                <a:srgbClr val="B7B7B7"/>
              </a:solidFill>
              <a:latin typeface="Helvetica Neue"/>
              <a:ea typeface="Helvetica Neue"/>
              <a:cs typeface="Helvetica Neue"/>
              <a:sym typeface="Helvetica Neue"/>
            </a:endParaRPr>
          </a:p>
        </p:txBody>
      </p:sp>
      <p:grpSp>
        <p:nvGrpSpPr>
          <p:cNvPr id="176" name="Google Shape;176;p16"/>
          <p:cNvGrpSpPr/>
          <p:nvPr/>
        </p:nvGrpSpPr>
        <p:grpSpPr>
          <a:xfrm>
            <a:off x="475501" y="468273"/>
            <a:ext cx="738900" cy="738900"/>
            <a:chOff x="473351" y="619523"/>
            <a:chExt cx="738900" cy="738900"/>
          </a:xfrm>
        </p:grpSpPr>
        <p:sp>
          <p:nvSpPr>
            <p:cNvPr id="177" name="Google Shape;177;p16"/>
            <p:cNvSpPr/>
            <p:nvPr/>
          </p:nvSpPr>
          <p:spPr>
            <a:xfrm>
              <a:off x="473351" y="619523"/>
              <a:ext cx="738900" cy="738900"/>
            </a:xfrm>
            <a:prstGeom prst="ellips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8" name="Google Shape;178;p16" title="ícono de ejemplo en vivo"/>
            <p:cNvPicPr preferRelativeResize="0"/>
            <p:nvPr/>
          </p:nvPicPr>
          <p:blipFill rotWithShape="1">
            <a:blip r:embed="rId3">
              <a:alphaModFix/>
            </a:blip>
            <a:srcRect b="0" l="0" r="0" t="0"/>
            <a:stretch/>
          </p:blipFill>
          <p:spPr>
            <a:xfrm>
              <a:off x="616475" y="762650"/>
              <a:ext cx="452650" cy="452650"/>
            </a:xfrm>
            <a:prstGeom prst="rect">
              <a:avLst/>
            </a:prstGeom>
            <a:noFill/>
            <a:ln>
              <a:noFill/>
            </a:ln>
          </p:spPr>
        </p:pic>
      </p:grpSp>
      <p:sp>
        <p:nvSpPr>
          <p:cNvPr id="179" name="Google Shape;179;p16"/>
          <p:cNvSpPr txBox="1"/>
          <p:nvPr/>
        </p:nvSpPr>
        <p:spPr>
          <a:xfrm>
            <a:off x="475500" y="3829300"/>
            <a:ext cx="7169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chemeClr val="dk2"/>
                </a:solidFill>
                <a:latin typeface="DM Sans"/>
                <a:ea typeface="DM Sans"/>
                <a:cs typeface="DM Sans"/>
                <a:sym typeface="DM Sans"/>
              </a:rPr>
              <a:t>Duración: </a:t>
            </a:r>
            <a:r>
              <a:rPr b="1" i="0" lang="es" sz="2000" u="none" cap="none" strike="noStrike">
                <a:solidFill>
                  <a:schemeClr val="dk2"/>
                </a:solidFill>
                <a:latin typeface="DM Sans"/>
                <a:ea typeface="DM Sans"/>
                <a:cs typeface="DM Sans"/>
                <a:sym typeface="DM Sans"/>
              </a:rPr>
              <a:t>10 minutos</a:t>
            </a:r>
            <a:endParaRPr b="1" i="0" sz="2000" u="none" cap="none" strike="noStrike">
              <a:solidFill>
                <a:schemeClr val="dk2"/>
              </a:solidFill>
              <a:latin typeface="DM Sans"/>
              <a:ea typeface="DM Sans"/>
              <a:cs typeface="DM Sans"/>
              <a:sym typeface="DM Sans"/>
            </a:endParaRPr>
          </a:p>
        </p:txBody>
      </p:sp>
      <p:grpSp>
        <p:nvGrpSpPr>
          <p:cNvPr id="180" name="Google Shape;180;p16"/>
          <p:cNvGrpSpPr/>
          <p:nvPr/>
        </p:nvGrpSpPr>
        <p:grpSpPr>
          <a:xfrm>
            <a:off x="0" y="-7400"/>
            <a:ext cx="9143925" cy="44400"/>
            <a:chOff x="0" y="-7400"/>
            <a:chExt cx="9143925" cy="44400"/>
          </a:xfrm>
        </p:grpSpPr>
        <p:sp>
          <p:nvSpPr>
            <p:cNvPr id="181" name="Google Shape;181;p16"/>
            <p:cNvSpPr/>
            <p:nvPr/>
          </p:nvSpPr>
          <p:spPr>
            <a:xfrm>
              <a:off x="5846625" y="-7400"/>
              <a:ext cx="3297300" cy="444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DM Sans"/>
                <a:ea typeface="DM Sans"/>
                <a:cs typeface="DM Sans"/>
                <a:sym typeface="DM Sans"/>
              </a:endParaRPr>
            </a:p>
          </p:txBody>
        </p:sp>
        <p:sp>
          <p:nvSpPr>
            <p:cNvPr id="182" name="Google Shape;182;p16"/>
            <p:cNvSpPr/>
            <p:nvPr/>
          </p:nvSpPr>
          <p:spPr>
            <a:xfrm>
              <a:off x="0" y="-7400"/>
              <a:ext cx="5846700" cy="444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grpSp>
        <p:nvGrpSpPr>
          <p:cNvPr id="187" name="Google Shape;187;p17"/>
          <p:cNvGrpSpPr/>
          <p:nvPr/>
        </p:nvGrpSpPr>
        <p:grpSpPr>
          <a:xfrm>
            <a:off x="4202556" y="994173"/>
            <a:ext cx="738900" cy="738900"/>
            <a:chOff x="974706" y="2467173"/>
            <a:chExt cx="738900" cy="738900"/>
          </a:xfrm>
        </p:grpSpPr>
        <p:sp>
          <p:nvSpPr>
            <p:cNvPr id="188" name="Google Shape;188;p17"/>
            <p:cNvSpPr/>
            <p:nvPr/>
          </p:nvSpPr>
          <p:spPr>
            <a:xfrm>
              <a:off x="974706" y="2467173"/>
              <a:ext cx="738900" cy="738900"/>
            </a:xfrm>
            <a:prstGeom prst="ellips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9" name="Google Shape;189;p17" title="ícono de actividad en clase"/>
            <p:cNvPicPr preferRelativeResize="0"/>
            <p:nvPr/>
          </p:nvPicPr>
          <p:blipFill rotWithShape="1">
            <a:blip r:embed="rId3">
              <a:alphaModFix/>
            </a:blip>
            <a:srcRect b="0" l="0" r="0" t="0"/>
            <a:stretch/>
          </p:blipFill>
          <p:spPr>
            <a:xfrm>
              <a:off x="1109750" y="2610275"/>
              <a:ext cx="452650" cy="452650"/>
            </a:xfrm>
            <a:prstGeom prst="rect">
              <a:avLst/>
            </a:prstGeom>
            <a:noFill/>
            <a:ln>
              <a:noFill/>
            </a:ln>
          </p:spPr>
        </p:pic>
      </p:grpSp>
      <p:sp>
        <p:nvSpPr>
          <p:cNvPr id="190" name="Google Shape;190;p17"/>
          <p:cNvSpPr txBox="1"/>
          <p:nvPr/>
        </p:nvSpPr>
        <p:spPr>
          <a:xfrm>
            <a:off x="1461300" y="2208625"/>
            <a:ext cx="62214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4000"/>
              <a:buFont typeface="Arial"/>
              <a:buNone/>
            </a:pPr>
            <a:r>
              <a:rPr b="1" i="0" lang="es" sz="4000" u="none" cap="none" strike="noStrike">
                <a:solidFill>
                  <a:schemeClr val="dk1"/>
                </a:solidFill>
                <a:latin typeface="DM Sans"/>
                <a:ea typeface="DM Sans"/>
                <a:cs typeface="DM Sans"/>
                <a:sym typeface="DM Sans"/>
              </a:rPr>
              <a:t>Practicando SASS</a:t>
            </a:r>
            <a:endParaRPr b="1" i="0" sz="4000" u="none" cap="none" strike="noStrike">
              <a:solidFill>
                <a:schemeClr val="dk1"/>
              </a:solidFill>
              <a:highlight>
                <a:srgbClr val="EAFF6A"/>
              </a:highlight>
              <a:latin typeface="DM Sans"/>
              <a:ea typeface="DM Sans"/>
              <a:cs typeface="DM Sans"/>
              <a:sym typeface="DM Sans"/>
            </a:endParaRPr>
          </a:p>
        </p:txBody>
      </p:sp>
      <p:sp>
        <p:nvSpPr>
          <p:cNvPr id="191" name="Google Shape;191;p17"/>
          <p:cNvSpPr txBox="1"/>
          <p:nvPr/>
        </p:nvSpPr>
        <p:spPr>
          <a:xfrm>
            <a:off x="987263" y="3818588"/>
            <a:ext cx="7169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s" sz="2000" u="none" cap="none" strike="noStrike">
                <a:solidFill>
                  <a:schemeClr val="dk2"/>
                </a:solidFill>
                <a:latin typeface="DM Sans"/>
                <a:ea typeface="DM Sans"/>
                <a:cs typeface="DM Sans"/>
                <a:sym typeface="DM Sans"/>
              </a:rPr>
              <a:t>Duración: </a:t>
            </a:r>
            <a:r>
              <a:rPr b="1" i="0" lang="es" sz="2000" u="none" cap="none" strike="noStrike">
                <a:solidFill>
                  <a:schemeClr val="dk2"/>
                </a:solidFill>
                <a:latin typeface="DM Sans"/>
                <a:ea typeface="DM Sans"/>
                <a:cs typeface="DM Sans"/>
                <a:sym typeface="DM Sans"/>
              </a:rPr>
              <a:t>10 minutos</a:t>
            </a:r>
            <a:endParaRPr b="1" i="0" sz="2000" u="none" cap="none" strike="noStrike">
              <a:solidFill>
                <a:schemeClr val="dk2"/>
              </a:solidFill>
              <a:latin typeface="DM Sans"/>
              <a:ea typeface="DM Sans"/>
              <a:cs typeface="DM Sans"/>
              <a:sym typeface="DM Sans"/>
            </a:endParaRPr>
          </a:p>
        </p:txBody>
      </p:sp>
      <p:grpSp>
        <p:nvGrpSpPr>
          <p:cNvPr id="192" name="Google Shape;192;p17"/>
          <p:cNvGrpSpPr/>
          <p:nvPr/>
        </p:nvGrpSpPr>
        <p:grpSpPr>
          <a:xfrm>
            <a:off x="0" y="-7400"/>
            <a:ext cx="9143925" cy="44400"/>
            <a:chOff x="0" y="-7400"/>
            <a:chExt cx="9143925" cy="44400"/>
          </a:xfrm>
        </p:grpSpPr>
        <p:sp>
          <p:nvSpPr>
            <p:cNvPr id="193" name="Google Shape;193;p17"/>
            <p:cNvSpPr/>
            <p:nvPr/>
          </p:nvSpPr>
          <p:spPr>
            <a:xfrm>
              <a:off x="5846625" y="-7400"/>
              <a:ext cx="3297300" cy="444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DM Sans"/>
                <a:ea typeface="DM Sans"/>
                <a:cs typeface="DM Sans"/>
                <a:sym typeface="DM Sans"/>
              </a:endParaRPr>
            </a:p>
          </p:txBody>
        </p:sp>
        <p:sp>
          <p:nvSpPr>
            <p:cNvPr id="194" name="Google Shape;194;p17"/>
            <p:cNvSpPr/>
            <p:nvPr/>
          </p:nvSpPr>
          <p:spPr>
            <a:xfrm>
              <a:off x="0" y="-7400"/>
              <a:ext cx="5846700" cy="444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pic>
        <p:nvPicPr>
          <p:cNvPr id="199" name="Google Shape;199;p18"/>
          <p:cNvPicPr preferRelativeResize="0"/>
          <p:nvPr/>
        </p:nvPicPr>
        <p:blipFill rotWithShape="1">
          <a:blip r:embed="rId3">
            <a:alphaModFix/>
          </a:blip>
          <a:srcRect b="0" l="0" r="0" t="0"/>
          <a:stretch/>
        </p:blipFill>
        <p:spPr>
          <a:xfrm>
            <a:off x="5424525" y="0"/>
            <a:ext cx="3719483" cy="5143501"/>
          </a:xfrm>
          <a:prstGeom prst="rect">
            <a:avLst/>
          </a:prstGeom>
          <a:noFill/>
          <a:ln>
            <a:noFill/>
          </a:ln>
        </p:spPr>
      </p:pic>
      <p:grpSp>
        <p:nvGrpSpPr>
          <p:cNvPr id="200" name="Google Shape;200;p18"/>
          <p:cNvGrpSpPr/>
          <p:nvPr/>
        </p:nvGrpSpPr>
        <p:grpSpPr>
          <a:xfrm>
            <a:off x="457347" y="468298"/>
            <a:ext cx="431074" cy="431074"/>
            <a:chOff x="974706" y="2467173"/>
            <a:chExt cx="738900" cy="738900"/>
          </a:xfrm>
        </p:grpSpPr>
        <p:sp>
          <p:nvSpPr>
            <p:cNvPr id="201" name="Google Shape;201;p18"/>
            <p:cNvSpPr/>
            <p:nvPr/>
          </p:nvSpPr>
          <p:spPr>
            <a:xfrm>
              <a:off x="974706" y="2467173"/>
              <a:ext cx="738900" cy="738900"/>
            </a:xfrm>
            <a:prstGeom prst="ellips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02" name="Google Shape;202;p18" title="ícono de actividad en clase"/>
            <p:cNvPicPr preferRelativeResize="0"/>
            <p:nvPr/>
          </p:nvPicPr>
          <p:blipFill rotWithShape="1">
            <a:blip r:embed="rId4">
              <a:alphaModFix/>
            </a:blip>
            <a:srcRect b="0" l="0" r="0" t="0"/>
            <a:stretch/>
          </p:blipFill>
          <p:spPr>
            <a:xfrm>
              <a:off x="1109750" y="2610275"/>
              <a:ext cx="452650" cy="452650"/>
            </a:xfrm>
            <a:prstGeom prst="rect">
              <a:avLst/>
            </a:prstGeom>
            <a:noFill/>
            <a:ln>
              <a:noFill/>
            </a:ln>
          </p:spPr>
        </p:pic>
      </p:grpSp>
      <p:sp>
        <p:nvSpPr>
          <p:cNvPr id="203" name="Google Shape;203;p18"/>
          <p:cNvSpPr txBox="1"/>
          <p:nvPr/>
        </p:nvSpPr>
        <p:spPr>
          <a:xfrm>
            <a:off x="501450" y="1081750"/>
            <a:ext cx="4987200" cy="7389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chemeClr val="dk1"/>
              </a:buClr>
              <a:buSzPts val="1100"/>
              <a:buFont typeface="Arial"/>
              <a:buNone/>
            </a:pPr>
            <a:r>
              <a:rPr b="1" i="0" lang="es" sz="4000" u="none" cap="none" strike="noStrike">
                <a:solidFill>
                  <a:schemeClr val="dk1"/>
                </a:solidFill>
                <a:latin typeface="DM Sans"/>
                <a:ea typeface="DM Sans"/>
                <a:cs typeface="DM Sans"/>
                <a:sym typeface="DM Sans"/>
              </a:rPr>
              <a:t>Practicando SASS</a:t>
            </a:r>
            <a:endParaRPr b="1" i="0" sz="4000" u="none" cap="none" strike="noStrike">
              <a:solidFill>
                <a:schemeClr val="dk1"/>
              </a:solidFill>
              <a:latin typeface="DM Sans"/>
              <a:ea typeface="DM Sans"/>
              <a:cs typeface="DM Sans"/>
              <a:sym typeface="DM Sans"/>
            </a:endParaRPr>
          </a:p>
        </p:txBody>
      </p:sp>
      <p:pic>
        <p:nvPicPr>
          <p:cNvPr id="204" name="Google Shape;204;p18"/>
          <p:cNvPicPr preferRelativeResize="0"/>
          <p:nvPr/>
        </p:nvPicPr>
        <p:blipFill rotWithShape="1">
          <a:blip r:embed="rId5">
            <a:alphaModFix/>
          </a:blip>
          <a:srcRect b="0" l="0" r="0" t="0"/>
          <a:stretch/>
        </p:blipFill>
        <p:spPr>
          <a:xfrm>
            <a:off x="7811413" y="4692275"/>
            <a:ext cx="1150750" cy="267575"/>
          </a:xfrm>
          <a:prstGeom prst="rect">
            <a:avLst/>
          </a:prstGeom>
          <a:noFill/>
          <a:ln>
            <a:noFill/>
          </a:ln>
        </p:spPr>
      </p:pic>
      <p:sp>
        <p:nvSpPr>
          <p:cNvPr id="205" name="Google Shape;205;p18"/>
          <p:cNvSpPr txBox="1"/>
          <p:nvPr/>
        </p:nvSpPr>
        <p:spPr>
          <a:xfrm>
            <a:off x="501450" y="2505200"/>
            <a:ext cx="4127700" cy="1223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50"/>
              <a:buFont typeface="Arial"/>
              <a:buNone/>
            </a:pPr>
            <a:r>
              <a:rPr b="1" i="0" lang="es" sz="1350" u="none" cap="none" strike="noStrike">
                <a:solidFill>
                  <a:srgbClr val="000000"/>
                </a:solidFill>
                <a:latin typeface="DM Sans"/>
                <a:ea typeface="DM Sans"/>
                <a:cs typeface="DM Sans"/>
                <a:sym typeface="DM Sans"/>
              </a:rPr>
              <a:t>Descripción de la actividad. </a:t>
            </a:r>
            <a:endParaRPr b="1" i="0" sz="1350" u="none" cap="none" strike="noStrike">
              <a:solidFill>
                <a:srgbClr val="000000"/>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latin typeface="DM Sans"/>
                <a:ea typeface="DM Sans"/>
                <a:cs typeface="DM Sans"/>
                <a:sym typeface="DM Sans"/>
              </a:rPr>
              <a:t>Crea un archivo SCSS llamado "estilos.scss" y guárdalo en una carpeta llamada "scss". Dentro de este archivo, crea una variable llamada "$color-primario" y asígnale un valor de color.</a:t>
            </a:r>
            <a:endParaRPr b="0" i="0" sz="1350" u="none" cap="none" strike="noStrike">
              <a:solidFill>
                <a:srgbClr val="000000"/>
              </a:solidFill>
              <a:latin typeface="DM Sans"/>
              <a:ea typeface="DM Sans"/>
              <a:cs typeface="DM Sans"/>
              <a:sym typeface="DM Sans"/>
            </a:endParaRPr>
          </a:p>
        </p:txBody>
      </p:sp>
      <p:sp>
        <p:nvSpPr>
          <p:cNvPr id="206" name="Google Shape;206;p18"/>
          <p:cNvSpPr txBox="1"/>
          <p:nvPr/>
        </p:nvSpPr>
        <p:spPr>
          <a:xfrm>
            <a:off x="930550" y="468275"/>
            <a:ext cx="2461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chemeClr val="dk1"/>
                </a:solidFill>
                <a:latin typeface="DM Sans"/>
                <a:ea typeface="DM Sans"/>
                <a:cs typeface="DM Sans"/>
                <a:sym typeface="DM Sans"/>
              </a:rPr>
              <a:t>ACTIVIDAD</a:t>
            </a:r>
            <a:endParaRPr b="0" i="0" sz="1400" u="none" cap="none" strike="noStrike">
              <a:solidFill>
                <a:srgbClr val="000000"/>
              </a:solidFill>
              <a:latin typeface="DM Sans"/>
              <a:ea typeface="DM Sans"/>
              <a:cs typeface="DM Sans"/>
              <a:sym typeface="DM Sans"/>
            </a:endParaRPr>
          </a:p>
        </p:txBody>
      </p:sp>
      <p:pic>
        <p:nvPicPr>
          <p:cNvPr id="207" name="Google Shape;207;p18"/>
          <p:cNvPicPr preferRelativeResize="0"/>
          <p:nvPr/>
        </p:nvPicPr>
        <p:blipFill rotWithShape="1">
          <a:blip r:embed="rId5">
            <a:alphaModFix/>
          </a:blip>
          <a:srcRect b="0" l="0" r="0" t="0"/>
          <a:stretch/>
        </p:blipFill>
        <p:spPr>
          <a:xfrm>
            <a:off x="7811413" y="4692275"/>
            <a:ext cx="1150750" cy="267575"/>
          </a:xfrm>
          <a:prstGeom prst="rect">
            <a:avLst/>
          </a:prstGeom>
          <a:noFill/>
          <a:ln>
            <a:noFill/>
          </a:ln>
        </p:spPr>
      </p:pic>
      <p:sp>
        <p:nvSpPr>
          <p:cNvPr id="208" name="Google Shape;208;p18"/>
          <p:cNvSpPr txBox="1"/>
          <p:nvPr/>
        </p:nvSpPr>
        <p:spPr>
          <a:xfrm>
            <a:off x="501450" y="4649063"/>
            <a:ext cx="66318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100"/>
              <a:buFont typeface="Arial"/>
              <a:buNone/>
            </a:pPr>
            <a:r>
              <a:rPr b="0" i="0" lang="es" sz="1100" u="none" cap="none" strike="noStrike">
                <a:solidFill>
                  <a:srgbClr val="595959"/>
                </a:solidFill>
                <a:latin typeface="DM Sans"/>
                <a:ea typeface="DM Sans"/>
                <a:cs typeface="DM Sans"/>
                <a:sym typeface="DM Sans"/>
              </a:rPr>
              <a:t>Fuente de la imagen: </a:t>
            </a:r>
            <a:r>
              <a:rPr b="0" i="0" lang="es" sz="1100" u="sng" cap="none" strike="noStrike">
                <a:solidFill>
                  <a:srgbClr val="83AEFB"/>
                </a:solidFill>
                <a:latin typeface="DM Sans"/>
                <a:ea typeface="DM Sans"/>
                <a:cs typeface="DM Sans"/>
                <a:sym typeface="DM Sans"/>
                <a:hlinkClick r:id="rId6">
                  <a:extLst>
                    <a:ext uri="{A12FA001-AC4F-418D-AE19-62706E023703}">
                      <ahyp:hlinkClr val="tx"/>
                    </a:ext>
                  </a:extLst>
                </a:hlinkClick>
              </a:rPr>
              <a:t> Amza Andrei</a:t>
            </a:r>
            <a:endParaRPr b="0" i="0" sz="1100" u="none" cap="none" strike="noStrike">
              <a:solidFill>
                <a:srgbClr val="595959"/>
              </a:solidFill>
              <a:latin typeface="DM Sans"/>
              <a:ea typeface="DM Sans"/>
              <a:cs typeface="DM Sans"/>
              <a:sym typeface="DM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pic>
        <p:nvPicPr>
          <p:cNvPr id="213" name="Google Shape;213;p19"/>
          <p:cNvPicPr preferRelativeResize="0"/>
          <p:nvPr/>
        </p:nvPicPr>
        <p:blipFill rotWithShape="1">
          <a:blip r:embed="rId3">
            <a:alphaModFix/>
          </a:blip>
          <a:srcRect b="0" l="0" r="0" t="0"/>
          <a:stretch/>
        </p:blipFill>
        <p:spPr>
          <a:xfrm>
            <a:off x="5424525" y="0"/>
            <a:ext cx="3719483" cy="5143501"/>
          </a:xfrm>
          <a:prstGeom prst="rect">
            <a:avLst/>
          </a:prstGeom>
          <a:noFill/>
          <a:ln>
            <a:noFill/>
          </a:ln>
        </p:spPr>
      </p:pic>
      <p:grpSp>
        <p:nvGrpSpPr>
          <p:cNvPr id="214" name="Google Shape;214;p19"/>
          <p:cNvGrpSpPr/>
          <p:nvPr/>
        </p:nvGrpSpPr>
        <p:grpSpPr>
          <a:xfrm>
            <a:off x="457347" y="468298"/>
            <a:ext cx="431074" cy="431074"/>
            <a:chOff x="974706" y="2467173"/>
            <a:chExt cx="738900" cy="738900"/>
          </a:xfrm>
        </p:grpSpPr>
        <p:sp>
          <p:nvSpPr>
            <p:cNvPr id="215" name="Google Shape;215;p19"/>
            <p:cNvSpPr/>
            <p:nvPr/>
          </p:nvSpPr>
          <p:spPr>
            <a:xfrm>
              <a:off x="974706" y="2467173"/>
              <a:ext cx="738900" cy="738900"/>
            </a:xfrm>
            <a:prstGeom prst="ellips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6" name="Google Shape;216;p19" title="ícono de actividad en clase"/>
            <p:cNvPicPr preferRelativeResize="0"/>
            <p:nvPr/>
          </p:nvPicPr>
          <p:blipFill rotWithShape="1">
            <a:blip r:embed="rId4">
              <a:alphaModFix/>
            </a:blip>
            <a:srcRect b="0" l="0" r="0" t="0"/>
            <a:stretch/>
          </p:blipFill>
          <p:spPr>
            <a:xfrm>
              <a:off x="1109750" y="2610275"/>
              <a:ext cx="452650" cy="452650"/>
            </a:xfrm>
            <a:prstGeom prst="rect">
              <a:avLst/>
            </a:prstGeom>
            <a:noFill/>
            <a:ln>
              <a:noFill/>
            </a:ln>
          </p:spPr>
        </p:pic>
      </p:grpSp>
      <p:sp>
        <p:nvSpPr>
          <p:cNvPr id="217" name="Google Shape;217;p19"/>
          <p:cNvSpPr txBox="1"/>
          <p:nvPr/>
        </p:nvSpPr>
        <p:spPr>
          <a:xfrm>
            <a:off x="501450" y="1081750"/>
            <a:ext cx="4987200" cy="7389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chemeClr val="dk1"/>
              </a:buClr>
              <a:buSzPts val="1100"/>
              <a:buFont typeface="Arial"/>
              <a:buNone/>
            </a:pPr>
            <a:r>
              <a:rPr b="1" i="0" lang="es" sz="4000" u="none" cap="none" strike="noStrike">
                <a:solidFill>
                  <a:schemeClr val="dk1"/>
                </a:solidFill>
                <a:latin typeface="DM Sans"/>
                <a:ea typeface="DM Sans"/>
                <a:cs typeface="DM Sans"/>
                <a:sym typeface="DM Sans"/>
              </a:rPr>
              <a:t>Practicando SASS</a:t>
            </a:r>
            <a:endParaRPr b="1" i="0" sz="4000" u="none" cap="none" strike="noStrike">
              <a:solidFill>
                <a:schemeClr val="dk1"/>
              </a:solidFill>
              <a:latin typeface="DM Sans"/>
              <a:ea typeface="DM Sans"/>
              <a:cs typeface="DM Sans"/>
              <a:sym typeface="DM Sans"/>
            </a:endParaRPr>
          </a:p>
        </p:txBody>
      </p:sp>
      <p:pic>
        <p:nvPicPr>
          <p:cNvPr id="218" name="Google Shape;218;p19"/>
          <p:cNvPicPr preferRelativeResize="0"/>
          <p:nvPr/>
        </p:nvPicPr>
        <p:blipFill rotWithShape="1">
          <a:blip r:embed="rId5">
            <a:alphaModFix/>
          </a:blip>
          <a:srcRect b="0" l="0" r="0" t="0"/>
          <a:stretch/>
        </p:blipFill>
        <p:spPr>
          <a:xfrm>
            <a:off x="7811413" y="4692275"/>
            <a:ext cx="1150750" cy="267575"/>
          </a:xfrm>
          <a:prstGeom prst="rect">
            <a:avLst/>
          </a:prstGeom>
          <a:noFill/>
          <a:ln>
            <a:noFill/>
          </a:ln>
        </p:spPr>
      </p:pic>
      <p:sp>
        <p:nvSpPr>
          <p:cNvPr id="219" name="Google Shape;219;p19"/>
          <p:cNvSpPr txBox="1"/>
          <p:nvPr/>
        </p:nvSpPr>
        <p:spPr>
          <a:xfrm>
            <a:off x="501450" y="2101650"/>
            <a:ext cx="4127700" cy="205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50"/>
              <a:buFont typeface="Arial"/>
              <a:buNone/>
            </a:pPr>
            <a:r>
              <a:rPr b="1" i="0" lang="es" sz="1350" u="none" cap="none" strike="noStrike">
                <a:solidFill>
                  <a:srgbClr val="000000"/>
                </a:solidFill>
                <a:latin typeface="DM Sans"/>
                <a:ea typeface="DM Sans"/>
                <a:cs typeface="DM Sans"/>
                <a:sym typeface="DM Sans"/>
              </a:rPr>
              <a:t>Descripción de la actividad. </a:t>
            </a:r>
            <a:endParaRPr b="1" i="0" sz="1350" u="none" cap="none" strike="noStrike">
              <a:solidFill>
                <a:srgbClr val="000000"/>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latin typeface="DM Sans"/>
                <a:ea typeface="DM Sans"/>
                <a:cs typeface="DM Sans"/>
                <a:sym typeface="DM Sans"/>
              </a:rPr>
              <a:t>Crea otro archivo SCSS llamado "botones.scss" y guárdalo en la misma carpeta "scss". Dentro de este archivo, crea un selector para un botón con la clase "boton" y define algunos estilos básicos, como el color de fondo y el tamaño de fuente. Utiliza la variable "$color-primario" que definiste anteriormente para establecer el color de fondo del botón.</a:t>
            </a:r>
            <a:endParaRPr b="0" i="0" sz="1350" u="none" cap="none" strike="noStrike">
              <a:solidFill>
                <a:srgbClr val="000000"/>
              </a:solidFill>
              <a:latin typeface="DM Sans"/>
              <a:ea typeface="DM Sans"/>
              <a:cs typeface="DM Sans"/>
              <a:sym typeface="DM Sans"/>
            </a:endParaRPr>
          </a:p>
        </p:txBody>
      </p:sp>
      <p:sp>
        <p:nvSpPr>
          <p:cNvPr id="220" name="Google Shape;220;p19"/>
          <p:cNvSpPr txBox="1"/>
          <p:nvPr/>
        </p:nvSpPr>
        <p:spPr>
          <a:xfrm>
            <a:off x="930550" y="468275"/>
            <a:ext cx="2461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chemeClr val="dk1"/>
                </a:solidFill>
                <a:latin typeface="DM Sans"/>
                <a:ea typeface="DM Sans"/>
                <a:cs typeface="DM Sans"/>
                <a:sym typeface="DM Sans"/>
              </a:rPr>
              <a:t>ACTIVIDAD</a:t>
            </a:r>
            <a:endParaRPr b="0" i="0" sz="1400" u="none" cap="none" strike="noStrike">
              <a:solidFill>
                <a:srgbClr val="000000"/>
              </a:solidFill>
              <a:latin typeface="DM Sans"/>
              <a:ea typeface="DM Sans"/>
              <a:cs typeface="DM Sans"/>
              <a:sym typeface="DM Sans"/>
            </a:endParaRPr>
          </a:p>
        </p:txBody>
      </p:sp>
      <p:pic>
        <p:nvPicPr>
          <p:cNvPr id="221" name="Google Shape;221;p19"/>
          <p:cNvPicPr preferRelativeResize="0"/>
          <p:nvPr/>
        </p:nvPicPr>
        <p:blipFill rotWithShape="1">
          <a:blip r:embed="rId5">
            <a:alphaModFix/>
          </a:blip>
          <a:srcRect b="0" l="0" r="0" t="0"/>
          <a:stretch/>
        </p:blipFill>
        <p:spPr>
          <a:xfrm>
            <a:off x="7811413" y="4692275"/>
            <a:ext cx="1150750" cy="267575"/>
          </a:xfrm>
          <a:prstGeom prst="rect">
            <a:avLst/>
          </a:prstGeom>
          <a:noFill/>
          <a:ln>
            <a:noFill/>
          </a:ln>
        </p:spPr>
      </p:pic>
      <p:sp>
        <p:nvSpPr>
          <p:cNvPr id="222" name="Google Shape;222;p19"/>
          <p:cNvSpPr txBox="1"/>
          <p:nvPr/>
        </p:nvSpPr>
        <p:spPr>
          <a:xfrm>
            <a:off x="501450" y="4649063"/>
            <a:ext cx="66318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100"/>
              <a:buFont typeface="Arial"/>
              <a:buNone/>
            </a:pPr>
            <a:r>
              <a:rPr b="0" i="0" lang="es" sz="1100" u="none" cap="none" strike="noStrike">
                <a:solidFill>
                  <a:srgbClr val="595959"/>
                </a:solidFill>
                <a:latin typeface="DM Sans"/>
                <a:ea typeface="DM Sans"/>
                <a:cs typeface="DM Sans"/>
                <a:sym typeface="DM Sans"/>
              </a:rPr>
              <a:t>Fuente de la imagen: </a:t>
            </a:r>
            <a:r>
              <a:rPr b="0" i="0" lang="es" sz="1100" u="sng" cap="none" strike="noStrike">
                <a:solidFill>
                  <a:srgbClr val="83AEFB"/>
                </a:solidFill>
                <a:latin typeface="DM Sans"/>
                <a:ea typeface="DM Sans"/>
                <a:cs typeface="DM Sans"/>
                <a:sym typeface="DM Sans"/>
                <a:hlinkClick r:id="rId6">
                  <a:extLst>
                    <a:ext uri="{A12FA001-AC4F-418D-AE19-62706E023703}">
                      <ahyp:hlinkClr val="tx"/>
                    </a:ext>
                  </a:extLst>
                </a:hlinkClick>
              </a:rPr>
              <a:t> Amza Andrei</a:t>
            </a:r>
            <a:endParaRPr b="0" i="0" sz="1100" u="none" cap="none" strike="noStrike">
              <a:solidFill>
                <a:srgbClr val="595959"/>
              </a:solidFill>
              <a:latin typeface="DM Sans"/>
              <a:ea typeface="DM Sans"/>
              <a:cs typeface="DM Sans"/>
              <a:sym typeface="DM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id="227" name="Google Shape;227;p20"/>
          <p:cNvPicPr preferRelativeResize="0"/>
          <p:nvPr/>
        </p:nvPicPr>
        <p:blipFill rotWithShape="1">
          <a:blip r:embed="rId3">
            <a:alphaModFix/>
          </a:blip>
          <a:srcRect b="0" l="0" r="0" t="0"/>
          <a:stretch/>
        </p:blipFill>
        <p:spPr>
          <a:xfrm>
            <a:off x="5424525" y="0"/>
            <a:ext cx="3719483" cy="5143501"/>
          </a:xfrm>
          <a:prstGeom prst="rect">
            <a:avLst/>
          </a:prstGeom>
          <a:noFill/>
          <a:ln>
            <a:noFill/>
          </a:ln>
        </p:spPr>
      </p:pic>
      <p:grpSp>
        <p:nvGrpSpPr>
          <p:cNvPr id="228" name="Google Shape;228;p20"/>
          <p:cNvGrpSpPr/>
          <p:nvPr/>
        </p:nvGrpSpPr>
        <p:grpSpPr>
          <a:xfrm>
            <a:off x="457347" y="468298"/>
            <a:ext cx="431074" cy="431074"/>
            <a:chOff x="974706" y="2467173"/>
            <a:chExt cx="738900" cy="738900"/>
          </a:xfrm>
        </p:grpSpPr>
        <p:sp>
          <p:nvSpPr>
            <p:cNvPr id="229" name="Google Shape;229;p20"/>
            <p:cNvSpPr/>
            <p:nvPr/>
          </p:nvSpPr>
          <p:spPr>
            <a:xfrm>
              <a:off x="974706" y="2467173"/>
              <a:ext cx="738900" cy="738900"/>
            </a:xfrm>
            <a:prstGeom prst="ellips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0" name="Google Shape;230;p20" title="ícono de actividad en clase"/>
            <p:cNvPicPr preferRelativeResize="0"/>
            <p:nvPr/>
          </p:nvPicPr>
          <p:blipFill rotWithShape="1">
            <a:blip r:embed="rId4">
              <a:alphaModFix/>
            </a:blip>
            <a:srcRect b="0" l="0" r="0" t="0"/>
            <a:stretch/>
          </p:blipFill>
          <p:spPr>
            <a:xfrm>
              <a:off x="1109750" y="2610275"/>
              <a:ext cx="452650" cy="452650"/>
            </a:xfrm>
            <a:prstGeom prst="rect">
              <a:avLst/>
            </a:prstGeom>
            <a:noFill/>
            <a:ln>
              <a:noFill/>
            </a:ln>
          </p:spPr>
        </p:pic>
      </p:grpSp>
      <p:sp>
        <p:nvSpPr>
          <p:cNvPr id="231" name="Google Shape;231;p20"/>
          <p:cNvSpPr txBox="1"/>
          <p:nvPr/>
        </p:nvSpPr>
        <p:spPr>
          <a:xfrm>
            <a:off x="501450" y="1081750"/>
            <a:ext cx="4987200" cy="7389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chemeClr val="dk1"/>
              </a:buClr>
              <a:buSzPts val="1100"/>
              <a:buFont typeface="Arial"/>
              <a:buNone/>
            </a:pPr>
            <a:r>
              <a:rPr b="1" i="0" lang="es" sz="4000" u="none" cap="none" strike="noStrike">
                <a:solidFill>
                  <a:schemeClr val="dk1"/>
                </a:solidFill>
                <a:latin typeface="DM Sans"/>
                <a:ea typeface="DM Sans"/>
                <a:cs typeface="DM Sans"/>
                <a:sym typeface="DM Sans"/>
              </a:rPr>
              <a:t>Practicando SASS</a:t>
            </a:r>
            <a:endParaRPr b="1" i="0" sz="4000" u="none" cap="none" strike="noStrike">
              <a:solidFill>
                <a:schemeClr val="dk1"/>
              </a:solidFill>
              <a:latin typeface="DM Sans"/>
              <a:ea typeface="DM Sans"/>
              <a:cs typeface="DM Sans"/>
              <a:sym typeface="DM Sans"/>
            </a:endParaRPr>
          </a:p>
        </p:txBody>
      </p:sp>
      <p:pic>
        <p:nvPicPr>
          <p:cNvPr id="232" name="Google Shape;232;p20"/>
          <p:cNvPicPr preferRelativeResize="0"/>
          <p:nvPr/>
        </p:nvPicPr>
        <p:blipFill rotWithShape="1">
          <a:blip r:embed="rId5">
            <a:alphaModFix/>
          </a:blip>
          <a:srcRect b="0" l="0" r="0" t="0"/>
          <a:stretch/>
        </p:blipFill>
        <p:spPr>
          <a:xfrm>
            <a:off x="7811413" y="4692275"/>
            <a:ext cx="1150750" cy="267575"/>
          </a:xfrm>
          <a:prstGeom prst="rect">
            <a:avLst/>
          </a:prstGeom>
          <a:noFill/>
          <a:ln>
            <a:noFill/>
          </a:ln>
        </p:spPr>
      </p:pic>
      <p:sp>
        <p:nvSpPr>
          <p:cNvPr id="233" name="Google Shape;233;p20"/>
          <p:cNvSpPr txBox="1"/>
          <p:nvPr/>
        </p:nvSpPr>
        <p:spPr>
          <a:xfrm>
            <a:off x="501450" y="2188675"/>
            <a:ext cx="4127700" cy="184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50"/>
              <a:buFont typeface="Arial"/>
              <a:buNone/>
            </a:pPr>
            <a:r>
              <a:rPr b="1" i="0" lang="es" sz="1350" u="none" cap="none" strike="noStrike">
                <a:solidFill>
                  <a:srgbClr val="000000"/>
                </a:solidFill>
                <a:latin typeface="DM Sans"/>
                <a:ea typeface="DM Sans"/>
                <a:cs typeface="DM Sans"/>
                <a:sym typeface="DM Sans"/>
              </a:rPr>
              <a:t>Descripción de la actividad. </a:t>
            </a:r>
            <a:endParaRPr b="1" i="0" sz="1350" u="none" cap="none" strike="noStrike">
              <a:solidFill>
                <a:srgbClr val="000000"/>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latin typeface="DM Sans"/>
                <a:ea typeface="DM Sans"/>
                <a:cs typeface="DM Sans"/>
                <a:sym typeface="DM Sans"/>
              </a:rPr>
              <a:t>Por último, crea un archivo HTML llamado "index.html" y guárdalo en la raíz del proyecto. Dentro de este archivo, genera un botón con la clase "boton" y verifica que se apliquen los estilos definidos en el archivo "botones.scss".</a:t>
            </a:r>
            <a:endParaRPr b="0" i="0" sz="1350" u="none" cap="none" strike="noStrike">
              <a:solidFill>
                <a:srgbClr val="000000"/>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DM Sans"/>
              <a:ea typeface="DM Sans"/>
              <a:cs typeface="DM Sans"/>
              <a:sym typeface="DM Sans"/>
            </a:endParaRPr>
          </a:p>
        </p:txBody>
      </p:sp>
      <p:sp>
        <p:nvSpPr>
          <p:cNvPr id="234" name="Google Shape;234;p20"/>
          <p:cNvSpPr txBox="1"/>
          <p:nvPr/>
        </p:nvSpPr>
        <p:spPr>
          <a:xfrm>
            <a:off x="930550" y="468275"/>
            <a:ext cx="2461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chemeClr val="dk1"/>
                </a:solidFill>
                <a:latin typeface="DM Sans"/>
                <a:ea typeface="DM Sans"/>
                <a:cs typeface="DM Sans"/>
                <a:sym typeface="DM Sans"/>
              </a:rPr>
              <a:t>ACTIVIDAD</a:t>
            </a:r>
            <a:endParaRPr b="0" i="0" sz="1400" u="none" cap="none" strike="noStrike">
              <a:solidFill>
                <a:srgbClr val="000000"/>
              </a:solidFill>
              <a:latin typeface="DM Sans"/>
              <a:ea typeface="DM Sans"/>
              <a:cs typeface="DM Sans"/>
              <a:sym typeface="DM Sans"/>
            </a:endParaRPr>
          </a:p>
        </p:txBody>
      </p:sp>
      <p:pic>
        <p:nvPicPr>
          <p:cNvPr id="235" name="Google Shape;235;p20"/>
          <p:cNvPicPr preferRelativeResize="0"/>
          <p:nvPr/>
        </p:nvPicPr>
        <p:blipFill rotWithShape="1">
          <a:blip r:embed="rId5">
            <a:alphaModFix/>
          </a:blip>
          <a:srcRect b="0" l="0" r="0" t="0"/>
          <a:stretch/>
        </p:blipFill>
        <p:spPr>
          <a:xfrm>
            <a:off x="7811413" y="4692275"/>
            <a:ext cx="1150750" cy="267575"/>
          </a:xfrm>
          <a:prstGeom prst="rect">
            <a:avLst/>
          </a:prstGeom>
          <a:noFill/>
          <a:ln>
            <a:noFill/>
          </a:ln>
        </p:spPr>
      </p:pic>
      <p:sp>
        <p:nvSpPr>
          <p:cNvPr id="236" name="Google Shape;236;p20"/>
          <p:cNvSpPr txBox="1"/>
          <p:nvPr/>
        </p:nvSpPr>
        <p:spPr>
          <a:xfrm>
            <a:off x="501450" y="4649063"/>
            <a:ext cx="66318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100"/>
              <a:buFont typeface="Arial"/>
              <a:buNone/>
            </a:pPr>
            <a:r>
              <a:rPr b="0" i="0" lang="es" sz="1100" u="none" cap="none" strike="noStrike">
                <a:solidFill>
                  <a:srgbClr val="595959"/>
                </a:solidFill>
                <a:latin typeface="DM Sans"/>
                <a:ea typeface="DM Sans"/>
                <a:cs typeface="DM Sans"/>
                <a:sym typeface="DM Sans"/>
              </a:rPr>
              <a:t>Fuente de la imagen: </a:t>
            </a:r>
            <a:r>
              <a:rPr b="0" i="0" lang="es" sz="1100" u="sng" cap="none" strike="noStrike">
                <a:solidFill>
                  <a:srgbClr val="83AEFB"/>
                </a:solidFill>
                <a:latin typeface="DM Sans"/>
                <a:ea typeface="DM Sans"/>
                <a:cs typeface="DM Sans"/>
                <a:sym typeface="DM Sans"/>
                <a:hlinkClick r:id="rId6">
                  <a:extLst>
                    <a:ext uri="{A12FA001-AC4F-418D-AE19-62706E023703}">
                      <ahyp:hlinkClr val="tx"/>
                    </a:ext>
                  </a:extLst>
                </a:hlinkClick>
              </a:rPr>
              <a:t> Amza Andrei</a:t>
            </a:r>
            <a:endParaRPr b="0" i="0" sz="1100" u="none" cap="none" strike="noStrike">
              <a:solidFill>
                <a:srgbClr val="595959"/>
              </a:solidFill>
              <a:latin typeface="DM Sans"/>
              <a:ea typeface="DM Sans"/>
              <a:cs typeface="DM Sans"/>
              <a:sym typeface="DM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pic>
        <p:nvPicPr>
          <p:cNvPr id="241" name="Google Shape;241;p21"/>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grpSp>
        <p:nvGrpSpPr>
          <p:cNvPr id="242" name="Google Shape;242;p21"/>
          <p:cNvGrpSpPr/>
          <p:nvPr/>
        </p:nvGrpSpPr>
        <p:grpSpPr>
          <a:xfrm>
            <a:off x="4243306" y="1320073"/>
            <a:ext cx="738900" cy="738900"/>
            <a:chOff x="974706" y="2467173"/>
            <a:chExt cx="738900" cy="738900"/>
          </a:xfrm>
        </p:grpSpPr>
        <p:sp>
          <p:nvSpPr>
            <p:cNvPr id="243" name="Google Shape;243;p21"/>
            <p:cNvSpPr/>
            <p:nvPr/>
          </p:nvSpPr>
          <p:spPr>
            <a:xfrm>
              <a:off x="974706" y="2467173"/>
              <a:ext cx="738900" cy="738900"/>
            </a:xfrm>
            <a:prstGeom prst="ellips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44" name="Google Shape;244;p21" title="ícono de actividad en clase"/>
            <p:cNvPicPr preferRelativeResize="0"/>
            <p:nvPr/>
          </p:nvPicPr>
          <p:blipFill rotWithShape="1">
            <a:blip r:embed="rId4">
              <a:alphaModFix/>
            </a:blip>
            <a:srcRect b="0" l="0" r="0" t="0"/>
            <a:stretch/>
          </p:blipFill>
          <p:spPr>
            <a:xfrm>
              <a:off x="1109750" y="2610275"/>
              <a:ext cx="452650" cy="452650"/>
            </a:xfrm>
            <a:prstGeom prst="rect">
              <a:avLst/>
            </a:prstGeom>
            <a:noFill/>
            <a:ln>
              <a:noFill/>
            </a:ln>
          </p:spPr>
        </p:pic>
      </p:grpSp>
      <p:sp>
        <p:nvSpPr>
          <p:cNvPr id="245" name="Google Shape;245;p21"/>
          <p:cNvSpPr txBox="1"/>
          <p:nvPr/>
        </p:nvSpPr>
        <p:spPr>
          <a:xfrm>
            <a:off x="1502050" y="2406788"/>
            <a:ext cx="62214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4000"/>
              <a:buFont typeface="Arial"/>
              <a:buNone/>
            </a:pPr>
            <a:r>
              <a:rPr b="1" i="0" lang="es" sz="4000" u="none" cap="none" strike="noStrike">
                <a:solidFill>
                  <a:schemeClr val="dk1"/>
                </a:solidFill>
                <a:latin typeface="DM Sans"/>
                <a:ea typeface="DM Sans"/>
                <a:cs typeface="DM Sans"/>
                <a:sym typeface="DM Sans"/>
              </a:rPr>
              <a:t>Puesta en común</a:t>
            </a:r>
            <a:endParaRPr b="1" i="0" sz="4000" u="none" cap="none" strike="noStrike">
              <a:solidFill>
                <a:schemeClr val="dk1"/>
              </a:solidFill>
              <a:highlight>
                <a:srgbClr val="EAFF6A"/>
              </a:highlight>
              <a:latin typeface="DM Sans"/>
              <a:ea typeface="DM Sans"/>
              <a:cs typeface="DM Sans"/>
              <a:sym typeface="DM Sans"/>
            </a:endParaRPr>
          </a:p>
        </p:txBody>
      </p:sp>
      <p:sp>
        <p:nvSpPr>
          <p:cNvPr id="246" name="Google Shape;246;p21"/>
          <p:cNvSpPr txBox="1"/>
          <p:nvPr/>
        </p:nvSpPr>
        <p:spPr>
          <a:xfrm>
            <a:off x="2179625" y="3493500"/>
            <a:ext cx="5061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s" sz="2000" u="none" cap="none" strike="noStrike">
                <a:solidFill>
                  <a:schemeClr val="dk2"/>
                </a:solidFill>
                <a:latin typeface="DM Sans"/>
                <a:ea typeface="DM Sans"/>
                <a:cs typeface="DM Sans"/>
                <a:sym typeface="DM Sans"/>
              </a:rPr>
              <a:t>Duración: </a:t>
            </a:r>
            <a:r>
              <a:rPr b="1" i="0" lang="es" sz="2000" u="none" cap="none" strike="noStrike">
                <a:solidFill>
                  <a:schemeClr val="dk2"/>
                </a:solidFill>
                <a:latin typeface="DM Sans"/>
                <a:ea typeface="DM Sans"/>
                <a:cs typeface="DM Sans"/>
                <a:sym typeface="DM Sans"/>
              </a:rPr>
              <a:t>5 minutos</a:t>
            </a:r>
            <a:endParaRPr b="1" i="0" sz="2000" u="none" cap="none" strike="noStrike">
              <a:solidFill>
                <a:schemeClr val="dk2"/>
              </a:solidFill>
              <a:latin typeface="DM Sans"/>
              <a:ea typeface="DM Sans"/>
              <a:cs typeface="DM Sans"/>
              <a:sym typeface="DM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3"/>
          <p:cNvSpPr/>
          <p:nvPr/>
        </p:nvSpPr>
        <p:spPr>
          <a:xfrm>
            <a:off x="4202556" y="994173"/>
            <a:ext cx="738900" cy="738900"/>
          </a:xfrm>
          <a:prstGeom prst="ellips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23"/>
          <p:cNvSpPr txBox="1"/>
          <p:nvPr/>
        </p:nvSpPr>
        <p:spPr>
          <a:xfrm>
            <a:off x="1461300" y="1925250"/>
            <a:ext cx="62214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4000"/>
              <a:buFont typeface="Arial"/>
              <a:buNone/>
            </a:pPr>
            <a:r>
              <a:rPr b="1" i="0" lang="es" sz="4000" u="none" cap="none" strike="noStrike">
                <a:solidFill>
                  <a:schemeClr val="dk1"/>
                </a:solidFill>
                <a:latin typeface="DM Sans"/>
                <a:ea typeface="DM Sans"/>
                <a:cs typeface="DM Sans"/>
                <a:sym typeface="DM Sans"/>
              </a:rPr>
              <a:t>Profundizando en SASS</a:t>
            </a:r>
            <a:endParaRPr b="1" i="0" sz="4000" u="none" cap="none" strike="noStrike">
              <a:solidFill>
                <a:schemeClr val="dk1"/>
              </a:solidFill>
              <a:highlight>
                <a:srgbClr val="EAFF6A"/>
              </a:highlight>
              <a:latin typeface="DM Sans"/>
              <a:ea typeface="DM Sans"/>
              <a:cs typeface="DM Sans"/>
              <a:sym typeface="DM Sans"/>
            </a:endParaRPr>
          </a:p>
        </p:txBody>
      </p:sp>
      <p:sp>
        <p:nvSpPr>
          <p:cNvPr id="253" name="Google Shape;253;p23"/>
          <p:cNvSpPr txBox="1"/>
          <p:nvPr/>
        </p:nvSpPr>
        <p:spPr>
          <a:xfrm>
            <a:off x="987300" y="3849138"/>
            <a:ext cx="7169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s" sz="2000" u="none" cap="none" strike="noStrike">
                <a:solidFill>
                  <a:schemeClr val="dk2"/>
                </a:solidFill>
                <a:latin typeface="DM Sans"/>
                <a:ea typeface="DM Sans"/>
                <a:cs typeface="DM Sans"/>
                <a:sym typeface="DM Sans"/>
              </a:rPr>
              <a:t>Duración: </a:t>
            </a:r>
            <a:r>
              <a:rPr b="1" i="0" lang="es" sz="2000" u="none" cap="none" strike="noStrike">
                <a:solidFill>
                  <a:schemeClr val="dk2"/>
                </a:solidFill>
                <a:latin typeface="DM Sans"/>
                <a:ea typeface="DM Sans"/>
                <a:cs typeface="DM Sans"/>
                <a:sym typeface="DM Sans"/>
              </a:rPr>
              <a:t>10 minutos</a:t>
            </a:r>
            <a:endParaRPr b="1" i="0" sz="2000" u="none" cap="none" strike="noStrike">
              <a:solidFill>
                <a:schemeClr val="dk2"/>
              </a:solidFill>
              <a:latin typeface="DM Sans"/>
              <a:ea typeface="DM Sans"/>
              <a:cs typeface="DM Sans"/>
              <a:sym typeface="DM Sans"/>
            </a:endParaRPr>
          </a:p>
        </p:txBody>
      </p:sp>
      <p:grpSp>
        <p:nvGrpSpPr>
          <p:cNvPr id="254" name="Google Shape;254;p23"/>
          <p:cNvGrpSpPr/>
          <p:nvPr/>
        </p:nvGrpSpPr>
        <p:grpSpPr>
          <a:xfrm>
            <a:off x="0" y="-7400"/>
            <a:ext cx="9143925" cy="44400"/>
            <a:chOff x="0" y="-7400"/>
            <a:chExt cx="9143925" cy="44400"/>
          </a:xfrm>
        </p:grpSpPr>
        <p:sp>
          <p:nvSpPr>
            <p:cNvPr id="255" name="Google Shape;255;p23"/>
            <p:cNvSpPr/>
            <p:nvPr/>
          </p:nvSpPr>
          <p:spPr>
            <a:xfrm>
              <a:off x="5846625" y="-7400"/>
              <a:ext cx="3297300" cy="444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DM Sans"/>
                <a:ea typeface="DM Sans"/>
                <a:cs typeface="DM Sans"/>
                <a:sym typeface="DM Sans"/>
              </a:endParaRPr>
            </a:p>
          </p:txBody>
        </p:sp>
        <p:sp>
          <p:nvSpPr>
            <p:cNvPr id="256" name="Google Shape;256;p23"/>
            <p:cNvSpPr/>
            <p:nvPr/>
          </p:nvSpPr>
          <p:spPr>
            <a:xfrm>
              <a:off x="0" y="-7400"/>
              <a:ext cx="5846700" cy="444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grpSp>
      <p:pic>
        <p:nvPicPr>
          <p:cNvPr id="257" name="Google Shape;257;p23" title="ícono de actividad colaborativa"/>
          <p:cNvPicPr preferRelativeResize="0"/>
          <p:nvPr/>
        </p:nvPicPr>
        <p:blipFill rotWithShape="1">
          <a:blip r:embed="rId3">
            <a:alphaModFix/>
          </a:blip>
          <a:srcRect b="0" l="0" r="0" t="0"/>
          <a:stretch/>
        </p:blipFill>
        <p:spPr>
          <a:xfrm>
            <a:off x="4345638" y="1137297"/>
            <a:ext cx="452650" cy="4526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4"/>
          <p:cNvSpPr txBox="1"/>
          <p:nvPr/>
        </p:nvSpPr>
        <p:spPr>
          <a:xfrm>
            <a:off x="4519500" y="1820650"/>
            <a:ext cx="3834600" cy="2490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50"/>
              <a:buFont typeface="Arial"/>
              <a:buNone/>
            </a:pPr>
            <a:r>
              <a:rPr b="1" i="0" lang="es" sz="1350" u="none" cap="none" strike="noStrike">
                <a:solidFill>
                  <a:schemeClr val="dk1"/>
                </a:solidFill>
                <a:latin typeface="DM Sans"/>
                <a:ea typeface="DM Sans"/>
                <a:cs typeface="DM Sans"/>
                <a:sym typeface="DM Sans"/>
              </a:rPr>
              <a:t>Apertura al aprendizaje</a:t>
            </a:r>
            <a:endParaRPr b="1" i="0" sz="1350" u="none" cap="none" strike="noStrike">
              <a:solidFill>
                <a:schemeClr val="dk1"/>
              </a:solidFill>
              <a:latin typeface="DM Sans"/>
              <a:ea typeface="DM Sans"/>
              <a:cs typeface="DM Sans"/>
              <a:sym typeface="DM Sans"/>
            </a:endParaRPr>
          </a:p>
          <a:p>
            <a:pPr indent="0" lvl="0" marL="0" marR="0" rtl="0" algn="l">
              <a:lnSpc>
                <a:spcPct val="30000"/>
              </a:lnSpc>
              <a:spcBef>
                <a:spcPts val="0"/>
              </a:spcBef>
              <a:spcAft>
                <a:spcPts val="0"/>
              </a:spcAft>
              <a:buClr>
                <a:srgbClr val="000000"/>
              </a:buClr>
              <a:buSzPts val="1350"/>
              <a:buFont typeface="Arial"/>
              <a:buNone/>
            </a:pPr>
            <a:r>
              <a:t/>
            </a:r>
            <a:endParaRPr b="1" i="0" sz="1350" u="none" cap="none" strike="noStrike">
              <a:solidFill>
                <a:schemeClr val="dk1"/>
              </a:solidFill>
              <a:latin typeface="DM Sans"/>
              <a:ea typeface="DM Sans"/>
              <a:cs typeface="DM Sans"/>
              <a:sym typeface="DM Sans"/>
            </a:endParaRPr>
          </a:p>
          <a:p>
            <a:pPr indent="-314325" lvl="0" marL="457200" marR="0" rtl="0" algn="l">
              <a:lnSpc>
                <a:spcPct val="100000"/>
              </a:lnSpc>
              <a:spcBef>
                <a:spcPts val="0"/>
              </a:spcBef>
              <a:spcAft>
                <a:spcPts val="0"/>
              </a:spcAft>
              <a:buClr>
                <a:schemeClr val="dk2"/>
              </a:buClr>
              <a:buSzPts val="1350"/>
              <a:buFont typeface="DM Sans"/>
              <a:buChar char="✓"/>
            </a:pPr>
            <a:r>
              <a:rPr b="0" i="0" lang="es" sz="1350" u="none" cap="none" strike="noStrike">
                <a:solidFill>
                  <a:schemeClr val="dk1"/>
                </a:solidFill>
                <a:latin typeface="DM Sans"/>
                <a:ea typeface="DM Sans"/>
                <a:cs typeface="DM Sans"/>
                <a:sym typeface="DM Sans"/>
              </a:rPr>
              <a:t>Siempre, pero siempre puedes seguir aprendiendo. Compartir el conocimiento es válido, la construcción colaborativa es la propuesta.</a:t>
            </a:r>
            <a:endParaRPr b="0" i="0" sz="1350" u="none" cap="none" strike="noStrike">
              <a:solidFill>
                <a:schemeClr val="dk1"/>
              </a:solidFill>
              <a:latin typeface="DM Sans"/>
              <a:ea typeface="DM Sans"/>
              <a:cs typeface="DM Sans"/>
              <a:sym typeface="DM Sans"/>
            </a:endParaRPr>
          </a:p>
          <a:p>
            <a:pPr indent="0" lvl="0" marL="0" marR="0" rtl="0" algn="l">
              <a:lnSpc>
                <a:spcPct val="100000"/>
              </a:lnSpc>
              <a:spcBef>
                <a:spcPts val="800"/>
              </a:spcBef>
              <a:spcAft>
                <a:spcPts val="0"/>
              </a:spcAft>
              <a:buClr>
                <a:srgbClr val="000000"/>
              </a:buClr>
              <a:buSzPts val="1350"/>
              <a:buFont typeface="Arial"/>
              <a:buNone/>
            </a:pPr>
            <a:r>
              <a:t/>
            </a:r>
            <a:endParaRPr b="0" i="0" sz="1350" u="none" cap="none" strike="noStrike">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1350"/>
              <a:buFont typeface="Arial"/>
              <a:buNone/>
            </a:pPr>
            <a:r>
              <a:rPr b="1" i="0" lang="es" sz="1350" u="none" cap="none" strike="noStrike">
                <a:solidFill>
                  <a:schemeClr val="dk1"/>
                </a:solidFill>
                <a:latin typeface="DM Sans"/>
                <a:ea typeface="DM Sans"/>
                <a:cs typeface="DM Sans"/>
                <a:sym typeface="DM Sans"/>
              </a:rPr>
              <a:t>Todas las voces</a:t>
            </a:r>
            <a:endParaRPr b="1" i="0" sz="1350" u="none" cap="none" strike="noStrike">
              <a:solidFill>
                <a:schemeClr val="dk1"/>
              </a:solidFill>
              <a:latin typeface="DM Sans"/>
              <a:ea typeface="DM Sans"/>
              <a:cs typeface="DM Sans"/>
              <a:sym typeface="DM Sans"/>
            </a:endParaRPr>
          </a:p>
          <a:p>
            <a:pPr indent="0" lvl="0" marL="0" marR="0" rtl="0" algn="l">
              <a:lnSpc>
                <a:spcPct val="30000"/>
              </a:lnSpc>
              <a:spcBef>
                <a:spcPts val="0"/>
              </a:spcBef>
              <a:spcAft>
                <a:spcPts val="0"/>
              </a:spcAft>
              <a:buClr>
                <a:srgbClr val="000000"/>
              </a:buClr>
              <a:buSzPts val="1350"/>
              <a:buFont typeface="Arial"/>
              <a:buNone/>
            </a:pPr>
            <a:r>
              <a:t/>
            </a:r>
            <a:endParaRPr b="1" i="0" sz="1350" u="none" cap="none" strike="noStrike">
              <a:solidFill>
                <a:schemeClr val="dk1"/>
              </a:solidFill>
              <a:latin typeface="DM Sans"/>
              <a:ea typeface="DM Sans"/>
              <a:cs typeface="DM Sans"/>
              <a:sym typeface="DM Sans"/>
            </a:endParaRPr>
          </a:p>
          <a:p>
            <a:pPr indent="-314325" lvl="0" marL="457200" marR="0" rtl="0" algn="l">
              <a:lnSpc>
                <a:spcPct val="100000"/>
              </a:lnSpc>
              <a:spcBef>
                <a:spcPts val="0"/>
              </a:spcBef>
              <a:spcAft>
                <a:spcPts val="0"/>
              </a:spcAft>
              <a:buClr>
                <a:schemeClr val="dk2"/>
              </a:buClr>
              <a:buSzPts val="1350"/>
              <a:buFont typeface="DM Sans"/>
              <a:buChar char="✓"/>
            </a:pPr>
            <a:r>
              <a:rPr b="0" i="0" lang="es" sz="1350" u="none" cap="none" strike="noStrike">
                <a:solidFill>
                  <a:schemeClr val="dk1"/>
                </a:solidFill>
                <a:latin typeface="DM Sans"/>
                <a:ea typeface="DM Sans"/>
                <a:cs typeface="DM Sans"/>
                <a:sym typeface="DM Sans"/>
              </a:rPr>
              <a:t>Escuchar a todos, todos podemos reflexionar. Dejar el espacio para que todos podamos participar.</a:t>
            </a:r>
            <a:endParaRPr b="0" i="0" sz="1350" u="sng" cap="none" strike="noStrike">
              <a:solidFill>
                <a:schemeClr val="dk1"/>
              </a:solidFill>
              <a:latin typeface="DM Sans"/>
              <a:ea typeface="DM Sans"/>
              <a:cs typeface="DM Sans"/>
              <a:sym typeface="DM Sans"/>
            </a:endParaRPr>
          </a:p>
        </p:txBody>
      </p:sp>
      <p:sp>
        <p:nvSpPr>
          <p:cNvPr id="263" name="Google Shape;263;p24"/>
          <p:cNvSpPr txBox="1"/>
          <p:nvPr/>
        </p:nvSpPr>
        <p:spPr>
          <a:xfrm>
            <a:off x="442200" y="1820650"/>
            <a:ext cx="3834600" cy="1866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50"/>
              <a:buFont typeface="Arial"/>
              <a:buNone/>
            </a:pPr>
            <a:r>
              <a:rPr b="1" i="0" lang="es" sz="1350" u="none" cap="none" strike="noStrike">
                <a:solidFill>
                  <a:schemeClr val="dk1"/>
                </a:solidFill>
                <a:latin typeface="DM Sans"/>
                <a:ea typeface="DM Sans"/>
                <a:cs typeface="DM Sans"/>
                <a:sym typeface="DM Sans"/>
              </a:rPr>
              <a:t>Presencia</a:t>
            </a:r>
            <a:endParaRPr b="1" i="0" sz="1350" u="none" cap="none" strike="noStrike">
              <a:solidFill>
                <a:schemeClr val="dk1"/>
              </a:solidFill>
              <a:latin typeface="DM Sans"/>
              <a:ea typeface="DM Sans"/>
              <a:cs typeface="DM Sans"/>
              <a:sym typeface="DM Sans"/>
            </a:endParaRPr>
          </a:p>
          <a:p>
            <a:pPr indent="0" lvl="0" marL="0" marR="0" rtl="0" algn="l">
              <a:lnSpc>
                <a:spcPct val="30000"/>
              </a:lnSpc>
              <a:spcBef>
                <a:spcPts val="0"/>
              </a:spcBef>
              <a:spcAft>
                <a:spcPts val="0"/>
              </a:spcAft>
              <a:buClr>
                <a:srgbClr val="000000"/>
              </a:buClr>
              <a:buSzPts val="1350"/>
              <a:buFont typeface="Arial"/>
              <a:buNone/>
            </a:pPr>
            <a:r>
              <a:t/>
            </a:r>
            <a:endParaRPr b="1" i="0" sz="1350" u="none" cap="none" strike="noStrike">
              <a:solidFill>
                <a:schemeClr val="dk1"/>
              </a:solidFill>
              <a:latin typeface="DM Sans"/>
              <a:ea typeface="DM Sans"/>
              <a:cs typeface="DM Sans"/>
              <a:sym typeface="DM Sans"/>
            </a:endParaRPr>
          </a:p>
          <a:p>
            <a:pPr indent="-314325" lvl="0" marL="457200" marR="0" rtl="0" algn="l">
              <a:lnSpc>
                <a:spcPct val="100000"/>
              </a:lnSpc>
              <a:spcBef>
                <a:spcPts val="0"/>
              </a:spcBef>
              <a:spcAft>
                <a:spcPts val="0"/>
              </a:spcAft>
              <a:buClr>
                <a:schemeClr val="dk2"/>
              </a:buClr>
              <a:buSzPts val="1350"/>
              <a:buFont typeface="DM Sans"/>
              <a:buChar char="✓"/>
            </a:pPr>
            <a:r>
              <a:rPr b="0" i="0" lang="es" sz="1350" u="none" cap="none" strike="noStrike">
                <a:solidFill>
                  <a:schemeClr val="dk1"/>
                </a:solidFill>
                <a:latin typeface="DM Sans"/>
                <a:ea typeface="DM Sans"/>
                <a:cs typeface="DM Sans"/>
                <a:sym typeface="DM Sans"/>
              </a:rPr>
              <a:t>Participar y “estar” en la clase, que tu alrededor no te distraiga</a:t>
            </a:r>
            <a:endParaRPr b="0" i="0" sz="1350" u="none" cap="none" strike="noStrike">
              <a:solidFill>
                <a:schemeClr val="dk1"/>
              </a:solidFill>
              <a:latin typeface="DM Sans"/>
              <a:ea typeface="DM Sans"/>
              <a:cs typeface="DM Sans"/>
              <a:sym typeface="DM Sans"/>
            </a:endParaRPr>
          </a:p>
          <a:p>
            <a:pPr indent="0" lvl="0" marL="0" marR="0" rtl="0" algn="l">
              <a:lnSpc>
                <a:spcPct val="100000"/>
              </a:lnSpc>
              <a:spcBef>
                <a:spcPts val="800"/>
              </a:spcBef>
              <a:spcAft>
                <a:spcPts val="0"/>
              </a:spcAft>
              <a:buClr>
                <a:srgbClr val="000000"/>
              </a:buClr>
              <a:buSzPts val="1350"/>
              <a:buFont typeface="Arial"/>
              <a:buNone/>
            </a:pPr>
            <a:r>
              <a:t/>
            </a:r>
            <a:endParaRPr b="0" i="0" sz="1350" u="none" cap="none" strike="noStrike">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1350"/>
              <a:buFont typeface="Arial"/>
              <a:buNone/>
            </a:pPr>
            <a:r>
              <a:rPr b="1" i="0" lang="es" sz="1350" u="none" cap="none" strike="noStrike">
                <a:solidFill>
                  <a:schemeClr val="dk1"/>
                </a:solidFill>
                <a:latin typeface="DM Sans"/>
                <a:ea typeface="DM Sans"/>
                <a:cs typeface="DM Sans"/>
                <a:sym typeface="DM Sans"/>
              </a:rPr>
              <a:t>Escucha activa</a:t>
            </a:r>
            <a:endParaRPr b="1" i="0" sz="1350" u="none" cap="none" strike="noStrike">
              <a:solidFill>
                <a:schemeClr val="dk1"/>
              </a:solidFill>
              <a:latin typeface="DM Sans"/>
              <a:ea typeface="DM Sans"/>
              <a:cs typeface="DM Sans"/>
              <a:sym typeface="DM Sans"/>
            </a:endParaRPr>
          </a:p>
          <a:p>
            <a:pPr indent="0" lvl="0" marL="0" marR="0" rtl="0" algn="l">
              <a:lnSpc>
                <a:spcPct val="30000"/>
              </a:lnSpc>
              <a:spcBef>
                <a:spcPts val="0"/>
              </a:spcBef>
              <a:spcAft>
                <a:spcPts val="0"/>
              </a:spcAft>
              <a:buClr>
                <a:srgbClr val="000000"/>
              </a:buClr>
              <a:buSzPts val="1350"/>
              <a:buFont typeface="Arial"/>
              <a:buNone/>
            </a:pPr>
            <a:r>
              <a:t/>
            </a:r>
            <a:endParaRPr b="1" i="0" sz="1350" u="none" cap="none" strike="noStrike">
              <a:solidFill>
                <a:schemeClr val="dk1"/>
              </a:solidFill>
              <a:latin typeface="DM Sans"/>
              <a:ea typeface="DM Sans"/>
              <a:cs typeface="DM Sans"/>
              <a:sym typeface="DM Sans"/>
            </a:endParaRPr>
          </a:p>
          <a:p>
            <a:pPr indent="-314325" lvl="0" marL="457200" marR="0" rtl="0" algn="l">
              <a:lnSpc>
                <a:spcPct val="100000"/>
              </a:lnSpc>
              <a:spcBef>
                <a:spcPts val="0"/>
              </a:spcBef>
              <a:spcAft>
                <a:spcPts val="0"/>
              </a:spcAft>
              <a:buClr>
                <a:schemeClr val="dk2"/>
              </a:buClr>
              <a:buSzPts val="1350"/>
              <a:buFont typeface="DM Sans"/>
              <a:buChar char="✓"/>
            </a:pPr>
            <a:r>
              <a:rPr b="0" i="0" lang="es" sz="1350" u="none" cap="none" strike="noStrike">
                <a:solidFill>
                  <a:schemeClr val="dk1"/>
                </a:solidFill>
                <a:latin typeface="DM Sans"/>
                <a:ea typeface="DM Sans"/>
                <a:cs typeface="DM Sans"/>
                <a:sym typeface="DM Sans"/>
              </a:rPr>
              <a:t>Escuchar más allá de lo que la persona está expresando directamente</a:t>
            </a:r>
            <a:endParaRPr b="0" i="0" sz="1350" u="sng" cap="none" strike="noStrike">
              <a:solidFill>
                <a:schemeClr val="dk1"/>
              </a:solidFill>
              <a:latin typeface="DM Sans"/>
              <a:ea typeface="DM Sans"/>
              <a:cs typeface="DM Sans"/>
              <a:sym typeface="DM Sans"/>
            </a:endParaRPr>
          </a:p>
        </p:txBody>
      </p:sp>
      <p:sp>
        <p:nvSpPr>
          <p:cNvPr id="264" name="Google Shape;264;p24"/>
          <p:cNvSpPr txBox="1"/>
          <p:nvPr/>
        </p:nvSpPr>
        <p:spPr>
          <a:xfrm>
            <a:off x="501450" y="990513"/>
            <a:ext cx="7310100" cy="7389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4000"/>
              <a:buFont typeface="Arial"/>
              <a:buNone/>
            </a:pPr>
            <a:r>
              <a:rPr b="1" i="0" lang="es" sz="4000" u="none" cap="none" strike="noStrike">
                <a:solidFill>
                  <a:schemeClr val="dk1"/>
                </a:solidFill>
                <a:latin typeface="DM Sans"/>
                <a:ea typeface="DM Sans"/>
                <a:cs typeface="DM Sans"/>
                <a:sym typeface="DM Sans"/>
              </a:rPr>
              <a:t>Acuerdos</a:t>
            </a:r>
            <a:endParaRPr b="1" i="0" sz="4000" u="none" cap="none" strike="noStrike">
              <a:solidFill>
                <a:schemeClr val="dk1"/>
              </a:solidFill>
              <a:latin typeface="DM Sans"/>
              <a:ea typeface="DM Sans"/>
              <a:cs typeface="DM Sans"/>
              <a:sym typeface="DM Sans"/>
            </a:endParaRPr>
          </a:p>
        </p:txBody>
      </p:sp>
      <p:sp>
        <p:nvSpPr>
          <p:cNvPr id="265" name="Google Shape;265;p24"/>
          <p:cNvSpPr txBox="1"/>
          <p:nvPr/>
        </p:nvSpPr>
        <p:spPr>
          <a:xfrm>
            <a:off x="930550" y="468275"/>
            <a:ext cx="29175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chemeClr val="dk1"/>
                </a:solidFill>
                <a:latin typeface="DM Sans"/>
                <a:ea typeface="DM Sans"/>
                <a:cs typeface="DM Sans"/>
                <a:sym typeface="DM Sans"/>
              </a:rPr>
              <a:t>ACTIVIDAD COLABORATIVA</a:t>
            </a:r>
            <a:endParaRPr b="0" i="0" sz="1400" u="none" cap="none" strike="noStrike">
              <a:solidFill>
                <a:srgbClr val="000000"/>
              </a:solidFill>
              <a:latin typeface="DM Sans"/>
              <a:ea typeface="DM Sans"/>
              <a:cs typeface="DM Sans"/>
              <a:sym typeface="DM Sans"/>
            </a:endParaRPr>
          </a:p>
        </p:txBody>
      </p:sp>
      <p:grpSp>
        <p:nvGrpSpPr>
          <p:cNvPr id="266" name="Google Shape;266;p24"/>
          <p:cNvGrpSpPr/>
          <p:nvPr/>
        </p:nvGrpSpPr>
        <p:grpSpPr>
          <a:xfrm>
            <a:off x="475500" y="468286"/>
            <a:ext cx="431100" cy="431100"/>
            <a:chOff x="475500" y="468286"/>
            <a:chExt cx="431100" cy="431100"/>
          </a:xfrm>
        </p:grpSpPr>
        <p:sp>
          <p:nvSpPr>
            <p:cNvPr id="267" name="Google Shape;267;p24"/>
            <p:cNvSpPr/>
            <p:nvPr/>
          </p:nvSpPr>
          <p:spPr>
            <a:xfrm>
              <a:off x="475500" y="468286"/>
              <a:ext cx="431100" cy="431100"/>
            </a:xfrm>
            <a:prstGeom prst="ellips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68" name="Google Shape;268;p24" title="ícono de actividad colaborativa"/>
            <p:cNvPicPr preferRelativeResize="0"/>
            <p:nvPr/>
          </p:nvPicPr>
          <p:blipFill rotWithShape="1">
            <a:blip r:embed="rId3">
              <a:alphaModFix/>
            </a:blip>
            <a:srcRect b="0" l="0" r="0" t="0"/>
            <a:stretch/>
          </p:blipFill>
          <p:spPr>
            <a:xfrm>
              <a:off x="558998" y="551785"/>
              <a:ext cx="264076" cy="264076"/>
            </a:xfrm>
            <a:prstGeom prst="rect">
              <a:avLst/>
            </a:prstGeom>
            <a:noFill/>
            <a:ln>
              <a:noFill/>
            </a:ln>
          </p:spPr>
        </p:pic>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5"/>
          <p:cNvSpPr txBox="1"/>
          <p:nvPr/>
        </p:nvSpPr>
        <p:spPr>
          <a:xfrm>
            <a:off x="549525" y="2374663"/>
            <a:ext cx="4987200" cy="205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50"/>
              <a:buFont typeface="Arial"/>
              <a:buNone/>
            </a:pPr>
            <a:r>
              <a:rPr b="1" i="0" lang="es" sz="1350" u="none" cap="none" strike="noStrike">
                <a:solidFill>
                  <a:srgbClr val="000000"/>
                </a:solidFill>
                <a:latin typeface="DM Sans"/>
                <a:ea typeface="DM Sans"/>
                <a:cs typeface="DM Sans"/>
                <a:sym typeface="DM Sans"/>
              </a:rPr>
              <a:t>Descripción de la actividad. </a:t>
            </a:r>
            <a:endParaRPr b="1" i="0" sz="1350" u="none" cap="none" strike="noStrike">
              <a:solidFill>
                <a:srgbClr val="000000"/>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latin typeface="DM Sans"/>
                <a:ea typeface="DM Sans"/>
                <a:cs typeface="DM Sans"/>
                <a:sym typeface="DM Sans"/>
              </a:rPr>
              <a:t>Compartan sus proyectos con sus colegas y de forma colaborativa realizar peer programing con recomendaciones y aplicación de mejoras a través de sass. </a:t>
            </a:r>
            <a:endParaRPr b="0" i="0" sz="1350" u="none" cap="none" strike="noStrike">
              <a:solidFill>
                <a:srgbClr val="000000"/>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DM Sans"/>
              <a:ea typeface="DM Sans"/>
              <a:cs typeface="DM Sans"/>
              <a:sym typeface="DM Sans"/>
            </a:endParaRPr>
          </a:p>
          <a:p>
            <a:pPr indent="0" lvl="0" marL="0" marR="0" rtl="0" algn="l">
              <a:lnSpc>
                <a:spcPct val="100000"/>
              </a:lnSpc>
              <a:spcBef>
                <a:spcPts val="0"/>
              </a:spcBef>
              <a:spcAft>
                <a:spcPts val="0"/>
              </a:spcAft>
              <a:buClr>
                <a:schemeClr val="dk1"/>
              </a:buClr>
              <a:buSzPts val="1100"/>
              <a:buFont typeface="Arial"/>
              <a:buNone/>
            </a:pPr>
            <a:r>
              <a:t/>
            </a:r>
            <a:endParaRPr b="0" i="0" sz="1350" u="none" cap="none" strike="noStrike">
              <a:solidFill>
                <a:srgbClr val="000000"/>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DM Sans"/>
              <a:ea typeface="DM Sans"/>
              <a:cs typeface="DM Sans"/>
              <a:sym typeface="DM Sans"/>
            </a:endParaRPr>
          </a:p>
        </p:txBody>
      </p:sp>
      <p:pic>
        <p:nvPicPr>
          <p:cNvPr id="274" name="Google Shape;274;p25"/>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
        <p:nvSpPr>
          <p:cNvPr id="275" name="Google Shape;275;p25"/>
          <p:cNvSpPr txBox="1"/>
          <p:nvPr/>
        </p:nvSpPr>
        <p:spPr>
          <a:xfrm>
            <a:off x="930550" y="468275"/>
            <a:ext cx="29175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chemeClr val="dk1"/>
                </a:solidFill>
                <a:latin typeface="DM Sans"/>
                <a:ea typeface="DM Sans"/>
                <a:cs typeface="DM Sans"/>
                <a:sym typeface="DM Sans"/>
              </a:rPr>
              <a:t>ACTIVIDAD COLABORATIVA</a:t>
            </a:r>
            <a:endParaRPr b="0" i="0" sz="1400" u="none" cap="none" strike="noStrike">
              <a:solidFill>
                <a:srgbClr val="000000"/>
              </a:solidFill>
              <a:latin typeface="DM Sans"/>
              <a:ea typeface="DM Sans"/>
              <a:cs typeface="DM Sans"/>
              <a:sym typeface="DM Sans"/>
            </a:endParaRPr>
          </a:p>
        </p:txBody>
      </p:sp>
      <p:grpSp>
        <p:nvGrpSpPr>
          <p:cNvPr id="276" name="Google Shape;276;p25"/>
          <p:cNvGrpSpPr/>
          <p:nvPr/>
        </p:nvGrpSpPr>
        <p:grpSpPr>
          <a:xfrm>
            <a:off x="475500" y="468286"/>
            <a:ext cx="431100" cy="431100"/>
            <a:chOff x="475500" y="468286"/>
            <a:chExt cx="431100" cy="431100"/>
          </a:xfrm>
        </p:grpSpPr>
        <p:sp>
          <p:nvSpPr>
            <p:cNvPr id="277" name="Google Shape;277;p25"/>
            <p:cNvSpPr/>
            <p:nvPr/>
          </p:nvSpPr>
          <p:spPr>
            <a:xfrm>
              <a:off x="475500" y="468286"/>
              <a:ext cx="431100" cy="431100"/>
            </a:xfrm>
            <a:prstGeom prst="ellips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78" name="Google Shape;278;p25" title="ícono de actividad colaborativa"/>
            <p:cNvPicPr preferRelativeResize="0"/>
            <p:nvPr/>
          </p:nvPicPr>
          <p:blipFill rotWithShape="1">
            <a:blip r:embed="rId4">
              <a:alphaModFix/>
            </a:blip>
            <a:srcRect b="0" l="0" r="0" t="0"/>
            <a:stretch/>
          </p:blipFill>
          <p:spPr>
            <a:xfrm>
              <a:off x="558998" y="551785"/>
              <a:ext cx="264076" cy="264076"/>
            </a:xfrm>
            <a:prstGeom prst="rect">
              <a:avLst/>
            </a:prstGeom>
            <a:noFill/>
            <a:ln>
              <a:noFill/>
            </a:ln>
          </p:spPr>
        </p:pic>
      </p:grpSp>
      <p:sp>
        <p:nvSpPr>
          <p:cNvPr id="279" name="Google Shape;279;p25"/>
          <p:cNvSpPr txBox="1"/>
          <p:nvPr/>
        </p:nvSpPr>
        <p:spPr>
          <a:xfrm>
            <a:off x="501450" y="990513"/>
            <a:ext cx="7310100" cy="7389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4000"/>
              <a:buFont typeface="Arial"/>
              <a:buNone/>
            </a:pPr>
            <a:r>
              <a:rPr b="1" i="0" lang="es" sz="4000" u="none" cap="none" strike="noStrike">
                <a:solidFill>
                  <a:schemeClr val="dk1"/>
                </a:solidFill>
                <a:latin typeface="DM Sans"/>
                <a:ea typeface="DM Sans"/>
                <a:cs typeface="DM Sans"/>
                <a:sym typeface="DM Sans"/>
              </a:rPr>
              <a:t>Profundizando en SASS</a:t>
            </a:r>
            <a:endParaRPr b="1" i="0" sz="4000" u="none" cap="none" strike="noStrike">
              <a:solidFill>
                <a:schemeClr val="dk1"/>
              </a:solidFill>
              <a:latin typeface="DM Sans"/>
              <a:ea typeface="DM Sans"/>
              <a:cs typeface="DM Sans"/>
              <a:sym typeface="DM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6"/>
          <p:cNvSpPr/>
          <p:nvPr/>
        </p:nvSpPr>
        <p:spPr>
          <a:xfrm>
            <a:off x="4416456" y="1431810"/>
            <a:ext cx="738900" cy="738900"/>
          </a:xfrm>
          <a:prstGeom prst="ellips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26"/>
          <p:cNvSpPr txBox="1"/>
          <p:nvPr/>
        </p:nvSpPr>
        <p:spPr>
          <a:xfrm>
            <a:off x="1593725" y="2253875"/>
            <a:ext cx="62214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4000"/>
              <a:buFont typeface="Arial"/>
              <a:buNone/>
            </a:pPr>
            <a:r>
              <a:rPr b="1" i="0" lang="es" sz="4000" u="none" cap="none" strike="noStrike">
                <a:solidFill>
                  <a:schemeClr val="dk1"/>
                </a:solidFill>
                <a:latin typeface="DM Sans"/>
                <a:ea typeface="DM Sans"/>
                <a:cs typeface="DM Sans"/>
                <a:sym typeface="DM Sans"/>
              </a:rPr>
              <a:t>Puesta en común</a:t>
            </a:r>
            <a:endParaRPr b="1" i="0" sz="4000" u="none" cap="none" strike="noStrike">
              <a:solidFill>
                <a:schemeClr val="dk1"/>
              </a:solidFill>
              <a:highlight>
                <a:srgbClr val="EAFF6A"/>
              </a:highlight>
              <a:latin typeface="DM Sans"/>
              <a:ea typeface="DM Sans"/>
              <a:cs typeface="DM Sans"/>
              <a:sym typeface="DM Sans"/>
            </a:endParaRPr>
          </a:p>
        </p:txBody>
      </p:sp>
      <p:pic>
        <p:nvPicPr>
          <p:cNvPr id="286" name="Google Shape;286;p26" title="ícono de actividad colaborativa"/>
          <p:cNvPicPr preferRelativeResize="0"/>
          <p:nvPr/>
        </p:nvPicPr>
        <p:blipFill rotWithShape="1">
          <a:blip r:embed="rId3">
            <a:alphaModFix/>
          </a:blip>
          <a:srcRect b="0" l="0" r="0" t="0"/>
          <a:stretch/>
        </p:blipFill>
        <p:spPr>
          <a:xfrm>
            <a:off x="4559538" y="1574935"/>
            <a:ext cx="452650" cy="452650"/>
          </a:xfrm>
          <a:prstGeom prst="rect">
            <a:avLst/>
          </a:prstGeom>
          <a:noFill/>
          <a:ln>
            <a:noFill/>
          </a:ln>
        </p:spPr>
      </p:pic>
      <p:sp>
        <p:nvSpPr>
          <p:cNvPr id="287" name="Google Shape;287;p26"/>
          <p:cNvSpPr txBox="1"/>
          <p:nvPr/>
        </p:nvSpPr>
        <p:spPr>
          <a:xfrm>
            <a:off x="2312050" y="3219100"/>
            <a:ext cx="45936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s" sz="2000" u="none" cap="none" strike="noStrike">
                <a:solidFill>
                  <a:schemeClr val="dk2"/>
                </a:solidFill>
                <a:latin typeface="DM Sans"/>
                <a:ea typeface="DM Sans"/>
                <a:cs typeface="DM Sans"/>
                <a:sym typeface="DM Sans"/>
              </a:rPr>
              <a:t>Duración: </a:t>
            </a:r>
            <a:r>
              <a:rPr b="1" i="0" lang="es" sz="2000" u="none" cap="none" strike="noStrike">
                <a:solidFill>
                  <a:schemeClr val="dk2"/>
                </a:solidFill>
                <a:latin typeface="DM Sans"/>
                <a:ea typeface="DM Sans"/>
                <a:cs typeface="DM Sans"/>
                <a:sym typeface="DM Sans"/>
              </a:rPr>
              <a:t>5 minutos</a:t>
            </a:r>
            <a:endParaRPr b="0" i="0" sz="1400" u="none" cap="none" strike="noStrike">
              <a:solidFill>
                <a:schemeClr val="dk2"/>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0"/>
          <p:cNvSpPr txBox="1"/>
          <p:nvPr/>
        </p:nvSpPr>
        <p:spPr>
          <a:xfrm>
            <a:off x="508200" y="468275"/>
            <a:ext cx="81276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4000"/>
              <a:buFont typeface="Arial"/>
              <a:buNone/>
            </a:pPr>
            <a:r>
              <a:rPr b="1" i="0" lang="es" sz="4000" u="none" cap="none" strike="noStrike">
                <a:solidFill>
                  <a:srgbClr val="EAFF6A"/>
                </a:solidFill>
                <a:latin typeface="DM Sans"/>
                <a:ea typeface="DM Sans"/>
                <a:cs typeface="DM Sans"/>
                <a:sym typeface="DM Sans"/>
              </a:rPr>
              <a:t>¡Para no olvidarse!</a:t>
            </a:r>
            <a:endParaRPr b="1" i="0" sz="4000" u="none" cap="none" strike="noStrike">
              <a:solidFill>
                <a:srgbClr val="EAFF6A"/>
              </a:solidFill>
              <a:latin typeface="DM Sans"/>
              <a:ea typeface="DM Sans"/>
              <a:cs typeface="DM Sans"/>
              <a:sym typeface="DM Sans"/>
            </a:endParaRPr>
          </a:p>
        </p:txBody>
      </p:sp>
      <p:sp>
        <p:nvSpPr>
          <p:cNvPr id="293" name="Google Shape;293;p30"/>
          <p:cNvSpPr txBox="1"/>
          <p:nvPr/>
        </p:nvSpPr>
        <p:spPr>
          <a:xfrm>
            <a:off x="508200" y="1300425"/>
            <a:ext cx="8127600" cy="80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s" sz="2000" u="none" cap="none" strike="noStrike">
                <a:solidFill>
                  <a:schemeClr val="lt1"/>
                </a:solidFill>
                <a:latin typeface="DM Sans"/>
                <a:ea typeface="DM Sans"/>
                <a:cs typeface="DM Sans"/>
                <a:sym typeface="DM Sans"/>
              </a:rPr>
              <a:t>La próxima semana tendremos se encuentra pautada la </a:t>
            </a:r>
            <a:endParaRPr b="1" i="0" sz="2000" u="none" cap="none" strike="noStrike">
              <a:solidFill>
                <a:schemeClr val="lt1"/>
              </a:solidFill>
              <a:latin typeface="DM Sans"/>
              <a:ea typeface="DM Sans"/>
              <a:cs typeface="DM Sans"/>
              <a:sym typeface="DM Sans"/>
            </a:endParaRPr>
          </a:p>
          <a:p>
            <a:pPr indent="0" lvl="0" marL="0" marR="0" rtl="0" algn="ctr">
              <a:lnSpc>
                <a:spcPct val="100000"/>
              </a:lnSpc>
              <a:spcBef>
                <a:spcPts val="0"/>
              </a:spcBef>
              <a:spcAft>
                <a:spcPts val="0"/>
              </a:spcAft>
              <a:buClr>
                <a:schemeClr val="dk1"/>
              </a:buClr>
              <a:buSzPts val="1100"/>
              <a:buFont typeface="Arial"/>
              <a:buNone/>
            </a:pPr>
            <a:r>
              <a:rPr b="1" lang="es" sz="2000">
                <a:solidFill>
                  <a:srgbClr val="EAFF6A"/>
                </a:solidFill>
                <a:latin typeface="DM Sans"/>
                <a:ea typeface="DM Sans"/>
                <a:cs typeface="DM Sans"/>
                <a:sym typeface="DM Sans"/>
              </a:rPr>
              <a:t>E</a:t>
            </a:r>
            <a:r>
              <a:rPr b="1" i="0" lang="es" sz="2000" u="none" cap="none" strike="noStrike">
                <a:solidFill>
                  <a:srgbClr val="EAFF6A"/>
                </a:solidFill>
                <a:latin typeface="DM Sans"/>
                <a:ea typeface="DM Sans"/>
                <a:cs typeface="DM Sans"/>
                <a:sym typeface="DM Sans"/>
              </a:rPr>
              <a:t>ntrega </a:t>
            </a:r>
            <a:r>
              <a:rPr b="1" lang="es" sz="2000">
                <a:solidFill>
                  <a:srgbClr val="EAFF6A"/>
                </a:solidFill>
                <a:latin typeface="DM Sans"/>
                <a:ea typeface="DM Sans"/>
                <a:cs typeface="DM Sans"/>
                <a:sym typeface="DM Sans"/>
              </a:rPr>
              <a:t>3</a:t>
            </a:r>
            <a:r>
              <a:rPr b="1" i="0" lang="es" sz="2000" u="none" cap="none" strike="noStrike">
                <a:solidFill>
                  <a:schemeClr val="lt1"/>
                </a:solidFill>
                <a:latin typeface="DM Sans"/>
                <a:ea typeface="DM Sans"/>
                <a:cs typeface="DM Sans"/>
                <a:sym typeface="DM Sans"/>
              </a:rPr>
              <a:t>. </a:t>
            </a:r>
            <a:endParaRPr b="1" i="0" sz="2000" u="none" cap="none" strike="noStrike">
              <a:solidFill>
                <a:srgbClr val="DEFC52"/>
              </a:solidFill>
              <a:latin typeface="Helvetica Neue"/>
              <a:ea typeface="Helvetica Neue"/>
              <a:cs typeface="Helvetica Neue"/>
              <a:sym typeface="Helvetica Neue"/>
            </a:endParaRPr>
          </a:p>
        </p:txBody>
      </p:sp>
      <p:pic>
        <p:nvPicPr>
          <p:cNvPr id="294" name="Google Shape;294;p30" title="gif de persona escribiendo código"/>
          <p:cNvPicPr preferRelativeResize="0"/>
          <p:nvPr/>
        </p:nvPicPr>
        <p:blipFill rotWithShape="1">
          <a:blip r:embed="rId3">
            <a:alphaModFix/>
          </a:blip>
          <a:srcRect b="0" l="0" r="0" t="0"/>
          <a:stretch/>
        </p:blipFill>
        <p:spPr>
          <a:xfrm>
            <a:off x="3456509" y="2979112"/>
            <a:ext cx="2230974" cy="12469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1"/>
          <p:cNvSpPr txBox="1"/>
          <p:nvPr/>
        </p:nvSpPr>
        <p:spPr>
          <a:xfrm>
            <a:off x="1461300" y="1478925"/>
            <a:ext cx="62214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4000"/>
              <a:buFont typeface="Arial"/>
              <a:buNone/>
            </a:pPr>
            <a:r>
              <a:rPr b="1" i="0" lang="es" sz="4000" u="none" cap="none" strike="noStrike">
                <a:solidFill>
                  <a:srgbClr val="EAFF6A"/>
                </a:solidFill>
                <a:latin typeface="DM Sans"/>
                <a:ea typeface="DM Sans"/>
                <a:cs typeface="DM Sans"/>
                <a:sym typeface="DM Sans"/>
              </a:rPr>
              <a:t>¿Preguntas?</a:t>
            </a:r>
            <a:endParaRPr b="1" i="0" sz="4000" u="none" cap="none" strike="noStrike">
              <a:solidFill>
                <a:srgbClr val="EAFF6A"/>
              </a:solidFill>
              <a:latin typeface="DM Sans"/>
              <a:ea typeface="DM Sans"/>
              <a:cs typeface="DM Sans"/>
              <a:sym typeface="DM Sans"/>
            </a:endParaRPr>
          </a:p>
        </p:txBody>
      </p:sp>
      <p:sp>
        <p:nvSpPr>
          <p:cNvPr id="300" name="Google Shape;300;p31"/>
          <p:cNvSpPr txBox="1"/>
          <p:nvPr/>
        </p:nvSpPr>
        <p:spPr>
          <a:xfrm>
            <a:off x="2998200" y="2248575"/>
            <a:ext cx="3147600" cy="1416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s" sz="2000" u="none" cap="none" strike="noStrike">
                <a:solidFill>
                  <a:srgbClr val="FFFFFF"/>
                </a:solidFill>
                <a:latin typeface="DM Sans"/>
                <a:ea typeface="DM Sans"/>
                <a:cs typeface="DM Sans"/>
                <a:sym typeface="DM Sans"/>
              </a:rPr>
              <a:t>Te invitamos a abrir el micrófono y compartir tus dudas o ponerlas en el chat.</a:t>
            </a:r>
            <a:endParaRPr b="0" i="0" sz="2000" u="sng" cap="none" strike="noStrike">
              <a:solidFill>
                <a:srgbClr val="83AEFB"/>
              </a:solidFill>
              <a:latin typeface="DM Sans"/>
              <a:ea typeface="DM Sans"/>
              <a:cs typeface="DM Sans"/>
              <a:sym typeface="DM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3"/>
          <p:cNvSpPr txBox="1"/>
          <p:nvPr/>
        </p:nvSpPr>
        <p:spPr>
          <a:xfrm>
            <a:off x="2109143" y="2502363"/>
            <a:ext cx="4925700" cy="1608600"/>
          </a:xfrm>
          <a:prstGeom prst="rect">
            <a:avLst/>
          </a:prstGeom>
          <a:noFill/>
          <a:ln>
            <a:noFill/>
          </a:ln>
        </p:spPr>
        <p:txBody>
          <a:bodyPr anchorCtr="0" anchor="t" bIns="91425" lIns="91425" spcFirstLastPara="1" rIns="91425" wrap="square" tIns="91425">
            <a:spAutoFit/>
          </a:bodyPr>
          <a:lstStyle/>
          <a:p>
            <a:pPr indent="-314325" lvl="0" marL="457200" marR="0" rtl="0" algn="l">
              <a:lnSpc>
                <a:spcPct val="100000"/>
              </a:lnSpc>
              <a:spcBef>
                <a:spcPts val="1000"/>
              </a:spcBef>
              <a:spcAft>
                <a:spcPts val="0"/>
              </a:spcAft>
              <a:buClr>
                <a:srgbClr val="EAFF6A"/>
              </a:buClr>
              <a:buSzPts val="1350"/>
              <a:buFont typeface="DM Sans"/>
              <a:buChar char="✓"/>
            </a:pPr>
            <a:r>
              <a:rPr b="0" i="0" lang="es" sz="1350" u="none" cap="none" strike="noStrike">
                <a:solidFill>
                  <a:schemeClr val="lt1"/>
                </a:solidFill>
                <a:latin typeface="DM Sans"/>
                <a:ea typeface="DM Sans"/>
                <a:cs typeface="DM Sans"/>
                <a:sym typeface="DM Sans"/>
              </a:rPr>
              <a:t>SASS</a:t>
            </a:r>
            <a:endParaRPr b="0" i="0" sz="1350" u="none" cap="none" strike="noStrike">
              <a:solidFill>
                <a:schemeClr val="lt1"/>
              </a:solidFill>
              <a:latin typeface="DM Sans"/>
              <a:ea typeface="DM Sans"/>
              <a:cs typeface="DM Sans"/>
              <a:sym typeface="DM Sans"/>
            </a:endParaRPr>
          </a:p>
          <a:p>
            <a:pPr indent="-314325" lvl="0" marL="457200" marR="0" rtl="0" algn="l">
              <a:lnSpc>
                <a:spcPct val="100000"/>
              </a:lnSpc>
              <a:spcBef>
                <a:spcPts val="1000"/>
              </a:spcBef>
              <a:spcAft>
                <a:spcPts val="0"/>
              </a:spcAft>
              <a:buClr>
                <a:srgbClr val="EAFF6A"/>
              </a:buClr>
              <a:buSzPts val="1350"/>
              <a:buFont typeface="DM Sans"/>
              <a:buChar char="✓"/>
            </a:pPr>
            <a:r>
              <a:rPr b="0" i="0" lang="es" sz="1350" u="none" cap="none" strike="noStrike">
                <a:solidFill>
                  <a:schemeClr val="lt1"/>
                </a:solidFill>
                <a:latin typeface="DM Sans"/>
                <a:ea typeface="DM Sans"/>
                <a:cs typeface="DM Sans"/>
                <a:sym typeface="DM Sans"/>
              </a:rPr>
              <a:t>Utilización de variables, importaciones y partials para la arquitectura de las carpetas</a:t>
            </a:r>
            <a:endParaRPr b="0" i="0" sz="1350" u="none" cap="none" strike="noStrike">
              <a:solidFill>
                <a:schemeClr val="lt1"/>
              </a:solidFill>
              <a:latin typeface="DM Sans"/>
              <a:ea typeface="DM Sans"/>
              <a:cs typeface="DM Sans"/>
              <a:sym typeface="DM Sans"/>
            </a:endParaRPr>
          </a:p>
          <a:p>
            <a:pPr indent="-314325" lvl="0" marL="457200" marR="0" rtl="0" algn="l">
              <a:lnSpc>
                <a:spcPct val="100000"/>
              </a:lnSpc>
              <a:spcBef>
                <a:spcPts val="1000"/>
              </a:spcBef>
              <a:spcAft>
                <a:spcPts val="0"/>
              </a:spcAft>
              <a:buClr>
                <a:srgbClr val="EAFF6A"/>
              </a:buClr>
              <a:buSzPts val="1350"/>
              <a:buFont typeface="DM Sans"/>
              <a:buChar char="✓"/>
            </a:pPr>
            <a:r>
              <a:rPr b="0" i="0" lang="es" sz="1350" u="none" cap="none" strike="noStrike">
                <a:solidFill>
                  <a:schemeClr val="lt1"/>
                </a:solidFill>
                <a:latin typeface="DM Sans"/>
                <a:ea typeface="DM Sans"/>
                <a:cs typeface="DM Sans"/>
                <a:sym typeface="DM Sans"/>
              </a:rPr>
              <a:t>Implementación de extend y mixins </a:t>
            </a:r>
            <a:endParaRPr b="0" i="0" sz="1350" u="none" cap="none" strike="noStrike">
              <a:solidFill>
                <a:schemeClr val="lt1"/>
              </a:solidFill>
              <a:latin typeface="DM Sans"/>
              <a:ea typeface="DM Sans"/>
              <a:cs typeface="DM Sans"/>
              <a:sym typeface="DM Sans"/>
            </a:endParaRPr>
          </a:p>
          <a:p>
            <a:pPr indent="0" lvl="0" marL="0" marR="0" rtl="0" algn="l">
              <a:lnSpc>
                <a:spcPct val="100000"/>
              </a:lnSpc>
              <a:spcBef>
                <a:spcPts val="1000"/>
              </a:spcBef>
              <a:spcAft>
                <a:spcPts val="0"/>
              </a:spcAft>
              <a:buClr>
                <a:srgbClr val="000000"/>
              </a:buClr>
              <a:buSzPts val="1350"/>
              <a:buFont typeface="Arial"/>
              <a:buNone/>
            </a:pPr>
            <a:r>
              <a:t/>
            </a:r>
            <a:endParaRPr b="0" i="0" sz="1350" u="none" cap="none" strike="noStrike">
              <a:solidFill>
                <a:schemeClr val="lt1"/>
              </a:solidFill>
              <a:latin typeface="DM Sans"/>
              <a:ea typeface="DM Sans"/>
              <a:cs typeface="DM Sans"/>
              <a:sym typeface="DM Sans"/>
            </a:endParaRPr>
          </a:p>
        </p:txBody>
      </p:sp>
      <p:sp>
        <p:nvSpPr>
          <p:cNvPr id="306" name="Google Shape;306;p33"/>
          <p:cNvSpPr txBox="1"/>
          <p:nvPr/>
        </p:nvSpPr>
        <p:spPr>
          <a:xfrm>
            <a:off x="1339500" y="693075"/>
            <a:ext cx="6465000" cy="1088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s" sz="4000" u="none" cap="none" strike="noStrike">
                <a:solidFill>
                  <a:srgbClr val="EAFF6A"/>
                </a:solidFill>
                <a:latin typeface="DM Sans"/>
                <a:ea typeface="DM Sans"/>
                <a:cs typeface="DM Sans"/>
                <a:sym typeface="DM Sans"/>
              </a:rPr>
              <a:t>Resumen</a:t>
            </a:r>
            <a:r>
              <a:rPr b="1" i="0" lang="es" sz="4000" u="none" cap="none" strike="noStrike">
                <a:solidFill>
                  <a:srgbClr val="DEFC52"/>
                </a:solidFill>
                <a:latin typeface="DM Sans"/>
                <a:ea typeface="DM Sans"/>
                <a:cs typeface="DM Sans"/>
                <a:sym typeface="DM Sans"/>
              </a:rPr>
              <a:t> </a:t>
            </a:r>
            <a:endParaRPr b="1" i="0" sz="4000" u="none" cap="none" strike="noStrike">
              <a:solidFill>
                <a:srgbClr val="DEFC52"/>
              </a:solidFill>
              <a:latin typeface="DM Sans"/>
              <a:ea typeface="DM Sans"/>
              <a:cs typeface="DM Sans"/>
              <a:sym typeface="DM Sans"/>
            </a:endParaRPr>
          </a:p>
          <a:p>
            <a:pPr indent="0" lvl="0" marL="0" marR="0" rtl="0" algn="ctr">
              <a:lnSpc>
                <a:spcPct val="100000"/>
              </a:lnSpc>
              <a:spcBef>
                <a:spcPts val="0"/>
              </a:spcBef>
              <a:spcAft>
                <a:spcPts val="0"/>
              </a:spcAft>
              <a:buClr>
                <a:srgbClr val="000000"/>
              </a:buClr>
              <a:buSzPts val="4000"/>
              <a:buFont typeface="Arial"/>
              <a:buNone/>
            </a:pPr>
            <a:r>
              <a:rPr b="1" i="0" lang="es" sz="4000" u="none" cap="none" strike="noStrike">
                <a:solidFill>
                  <a:schemeClr val="lt1"/>
                </a:solidFill>
                <a:latin typeface="DM Sans"/>
                <a:ea typeface="DM Sans"/>
                <a:cs typeface="DM Sans"/>
                <a:sym typeface="DM Sans"/>
              </a:rPr>
              <a:t>de la clase hoy</a:t>
            </a:r>
            <a:endParaRPr b="0" i="0" sz="4000" u="none" cap="none" strike="noStrike">
              <a:solidFill>
                <a:schemeClr val="lt1"/>
              </a:solidFill>
              <a:latin typeface="DM Sans"/>
              <a:ea typeface="DM Sans"/>
              <a:cs typeface="DM Sans"/>
              <a:sym typeface="DM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5"/>
          <p:cNvSpPr txBox="1"/>
          <p:nvPr/>
        </p:nvSpPr>
        <p:spPr>
          <a:xfrm>
            <a:off x="1461300" y="1925250"/>
            <a:ext cx="6221400" cy="12930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4000"/>
              <a:buFont typeface="Arial"/>
              <a:buNone/>
            </a:pPr>
            <a:r>
              <a:rPr b="1" i="0" lang="es" sz="4000" u="none" cap="none" strike="noStrike">
                <a:solidFill>
                  <a:srgbClr val="EAFF6A"/>
                </a:solidFill>
                <a:latin typeface="DM Sans"/>
                <a:ea typeface="DM Sans"/>
                <a:cs typeface="DM Sans"/>
                <a:sym typeface="DM Sans"/>
              </a:rPr>
              <a:t>Opina y valora</a:t>
            </a:r>
            <a:r>
              <a:rPr b="1" i="0" lang="es" sz="4000" u="none" cap="none" strike="noStrike">
                <a:solidFill>
                  <a:srgbClr val="DEFC52"/>
                </a:solidFill>
                <a:latin typeface="DM Sans"/>
                <a:ea typeface="DM Sans"/>
                <a:cs typeface="DM Sans"/>
                <a:sym typeface="DM Sans"/>
              </a:rPr>
              <a:t> </a:t>
            </a:r>
            <a:endParaRPr b="1" i="0" sz="4000" u="none" cap="none" strike="noStrike">
              <a:solidFill>
                <a:srgbClr val="DEFC52"/>
              </a:solidFill>
              <a:latin typeface="DM Sans"/>
              <a:ea typeface="DM Sans"/>
              <a:cs typeface="DM Sans"/>
              <a:sym typeface="DM Sans"/>
            </a:endParaRPr>
          </a:p>
          <a:p>
            <a:pPr indent="0" lvl="0" marL="0" marR="0" rtl="0" algn="ctr">
              <a:lnSpc>
                <a:spcPct val="90000"/>
              </a:lnSpc>
              <a:spcBef>
                <a:spcPts val="0"/>
              </a:spcBef>
              <a:spcAft>
                <a:spcPts val="0"/>
              </a:spcAft>
              <a:buClr>
                <a:srgbClr val="000000"/>
              </a:buClr>
              <a:buSzPts val="4000"/>
              <a:buFont typeface="Arial"/>
              <a:buNone/>
            </a:pPr>
            <a:r>
              <a:rPr b="1" i="0" lang="es" sz="4000" u="none" cap="none" strike="noStrike">
                <a:solidFill>
                  <a:schemeClr val="lt1"/>
                </a:solidFill>
                <a:latin typeface="DM Sans"/>
                <a:ea typeface="DM Sans"/>
                <a:cs typeface="DM Sans"/>
                <a:sym typeface="DM Sans"/>
              </a:rPr>
              <a:t>esta clase</a:t>
            </a:r>
            <a:endParaRPr b="1" i="0" sz="4000" u="none" cap="none" strike="noStrike">
              <a:solidFill>
                <a:schemeClr val="lt1"/>
              </a:solidFill>
              <a:latin typeface="DM Sans"/>
              <a:ea typeface="DM Sans"/>
              <a:cs typeface="DM Sans"/>
              <a:sym typeface="DM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6"/>
          <p:cNvSpPr txBox="1"/>
          <p:nvPr/>
        </p:nvSpPr>
        <p:spPr>
          <a:xfrm>
            <a:off x="2382900" y="2171550"/>
            <a:ext cx="4378200" cy="80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s" sz="4000" u="none" cap="none" strike="noStrike">
                <a:solidFill>
                  <a:srgbClr val="FFFFFF"/>
                </a:solidFill>
                <a:latin typeface="DM Sans"/>
                <a:ea typeface="DM Sans"/>
                <a:cs typeface="DM Sans"/>
                <a:sym typeface="DM Sans"/>
              </a:rPr>
              <a:t>Muchas gracias</a:t>
            </a:r>
            <a:r>
              <a:rPr b="1" i="0" lang="es" sz="4000" u="none" cap="none" strike="noStrike">
                <a:solidFill>
                  <a:srgbClr val="EAFF6A"/>
                </a:solidFill>
                <a:latin typeface="DM Sans"/>
                <a:ea typeface="DM Sans"/>
                <a:cs typeface="DM Sans"/>
                <a:sym typeface="DM Sans"/>
              </a:rPr>
              <a:t>.</a:t>
            </a:r>
            <a:endParaRPr b="0" i="0" sz="4000" u="none" cap="none" strike="noStrike">
              <a:solidFill>
                <a:srgbClr val="EAFF6A"/>
              </a:solidFill>
              <a:latin typeface="DM Sans"/>
              <a:ea typeface="DM Sans"/>
              <a:cs typeface="DM Sans"/>
              <a:sym typeface="DM Sa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oder">
  <a:themeElements>
    <a:clrScheme name="Simple Light">
      <a:dk1>
        <a:srgbClr val="000000"/>
      </a:dk1>
      <a:lt1>
        <a:srgbClr val="FFFFFF"/>
      </a:lt1>
      <a:dk2>
        <a:srgbClr val="595959"/>
      </a:dk2>
      <a:lt2>
        <a:srgbClr val="EEEEEE"/>
      </a:lt2>
      <a:accent1>
        <a:srgbClr val="9DF4E2"/>
      </a:accent1>
      <a:accent2>
        <a:srgbClr val="212121"/>
      </a:accent2>
      <a:accent3>
        <a:srgbClr val="78909C"/>
      </a:accent3>
      <a:accent4>
        <a:srgbClr val="EA90FF"/>
      </a:accent4>
      <a:accent5>
        <a:srgbClr val="83AEFB"/>
      </a:accent5>
      <a:accent6>
        <a:srgbClr val="EAFF6A"/>
      </a:accent6>
      <a:hlink>
        <a:srgbClr val="83AEF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oder">
  <a:themeElements>
    <a:clrScheme name="Simple Light">
      <a:dk1>
        <a:srgbClr val="000000"/>
      </a:dk1>
      <a:lt1>
        <a:srgbClr val="FFFFFF"/>
      </a:lt1>
      <a:dk2>
        <a:srgbClr val="595959"/>
      </a:dk2>
      <a:lt2>
        <a:srgbClr val="EEEEEE"/>
      </a:lt2>
      <a:accent1>
        <a:srgbClr val="9DF4E2"/>
      </a:accent1>
      <a:accent2>
        <a:srgbClr val="212121"/>
      </a:accent2>
      <a:accent3>
        <a:srgbClr val="78909C"/>
      </a:accent3>
      <a:accent4>
        <a:srgbClr val="EA90FF"/>
      </a:accent4>
      <a:accent5>
        <a:srgbClr val="83AEFB"/>
      </a:accent5>
      <a:accent6>
        <a:srgbClr val="EAFF6A"/>
      </a:accent6>
      <a:hlink>
        <a:srgbClr val="83AEF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