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y="5143500" cx="9144000"/>
  <p:notesSz cx="6858000" cy="9144000"/>
  <p:embeddedFontLst>
    <p:embeddedFont>
      <p:font typeface="Helvetica Neue"/>
      <p:regular r:id="rId33"/>
      <p:bold r:id="rId34"/>
      <p:italic r:id="rId35"/>
      <p:boldItalic r:id="rId36"/>
    </p:embeddedFont>
    <p:embeddedFont>
      <p:font typeface="Helvetica Neue Light"/>
      <p:regular r:id="rId37"/>
      <p:bold r:id="rId38"/>
      <p:italic r:id="rId39"/>
      <p:boldItalic r:id="rId40"/>
    </p:embeddedFont>
    <p:embeddedFont>
      <p:font typeface="DM Sans"/>
      <p:regular r:id="rId41"/>
      <p:bold r:id="rId42"/>
      <p:italic r:id="rId43"/>
      <p:boldItalic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95">
          <p15:clr>
            <a:srgbClr val="A4A3A4"/>
          </p15:clr>
        </p15:guide>
        <p15:guide id="2" pos="5460">
          <p15:clr>
            <a:srgbClr val="A4A3A4"/>
          </p15:clr>
        </p15:guide>
        <p15:guide id="3" pos="300">
          <p15:clr>
            <a:srgbClr val="9AA0A6"/>
          </p15:clr>
        </p15:guide>
        <p15:guide id="4" orient="horz" pos="2892">
          <p15:clr>
            <a:srgbClr val="9AA0A6"/>
          </p15:clr>
        </p15:guide>
      </p15:sldGuideLst>
    </p:ext>
    <p:ext uri="GoogleSlidesCustomDataVersion2">
      <go:slidesCustomData xmlns:go="http://customooxmlschemas.google.com/" r:id="rId45" roundtripDataSignature="AMtx7mjlnwtUVgchFtxcQha6KHt+pZNR+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95" orient="horz"/>
        <p:guide pos="5460"/>
        <p:guide pos="300"/>
        <p:guide pos="2892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HelveticaNeueLight-boldItalic.fntdata"/><Relationship Id="rId20" Type="http://schemas.openxmlformats.org/officeDocument/2006/relationships/slide" Target="slides/slide14.xml"/><Relationship Id="rId42" Type="http://schemas.openxmlformats.org/officeDocument/2006/relationships/font" Target="fonts/DMSans-bold.fntdata"/><Relationship Id="rId41" Type="http://schemas.openxmlformats.org/officeDocument/2006/relationships/font" Target="fonts/DMSans-regular.fntdata"/><Relationship Id="rId22" Type="http://schemas.openxmlformats.org/officeDocument/2006/relationships/slide" Target="slides/slide16.xml"/><Relationship Id="rId44" Type="http://schemas.openxmlformats.org/officeDocument/2006/relationships/font" Target="fonts/DMSans-boldItalic.fntdata"/><Relationship Id="rId21" Type="http://schemas.openxmlformats.org/officeDocument/2006/relationships/slide" Target="slides/slide15.xml"/><Relationship Id="rId43" Type="http://schemas.openxmlformats.org/officeDocument/2006/relationships/font" Target="fonts/DMSans-italic.fnt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45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font" Target="fonts/HelveticaNeue-regular.fntdata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font" Target="fonts/HelveticaNeue-italic.fntdata"/><Relationship Id="rId12" Type="http://schemas.openxmlformats.org/officeDocument/2006/relationships/slide" Target="slides/slide6.xml"/><Relationship Id="rId34" Type="http://schemas.openxmlformats.org/officeDocument/2006/relationships/font" Target="fonts/HelveticaNeue-bold.fntdata"/><Relationship Id="rId15" Type="http://schemas.openxmlformats.org/officeDocument/2006/relationships/slide" Target="slides/slide9.xml"/><Relationship Id="rId37" Type="http://schemas.openxmlformats.org/officeDocument/2006/relationships/font" Target="fonts/HelveticaNeueLight-regular.fntdata"/><Relationship Id="rId14" Type="http://schemas.openxmlformats.org/officeDocument/2006/relationships/slide" Target="slides/slide8.xml"/><Relationship Id="rId36" Type="http://schemas.openxmlformats.org/officeDocument/2006/relationships/font" Target="fonts/HelveticaNeue-boldItalic.fntdata"/><Relationship Id="rId17" Type="http://schemas.openxmlformats.org/officeDocument/2006/relationships/slide" Target="slides/slide11.xml"/><Relationship Id="rId39" Type="http://schemas.openxmlformats.org/officeDocument/2006/relationships/font" Target="fonts/HelveticaNeueLight-italic.fntdata"/><Relationship Id="rId16" Type="http://schemas.openxmlformats.org/officeDocument/2006/relationships/slide" Target="slides/slide10.xml"/><Relationship Id="rId38" Type="http://schemas.openxmlformats.org/officeDocument/2006/relationships/font" Target="fonts/HelveticaNeueLight-bold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trends.google.com/home" TargetMode="Externa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trends.google.com/home" TargetMode="Externa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Colocar todas las clases.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Utilizar esta slide para Live Session </a:t>
            </a:r>
            <a:r>
              <a:rPr lang="es">
                <a:solidFill>
                  <a:schemeClr val="dk1"/>
                </a:solidFill>
                <a:highlight>
                  <a:srgbClr val="DEFC52"/>
                </a:highlight>
                <a:latin typeface="DM Sans"/>
                <a:ea typeface="DM Sans"/>
                <a:cs typeface="DM Sans"/>
                <a:sym typeface="DM Sans"/>
              </a:rPr>
              <a:t>(OPCIÓN DASH)</a:t>
            </a:r>
            <a:endParaRPr>
              <a:highlight>
                <a:srgbClr val="DEFC52"/>
              </a:highlight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Obligatoria siempre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highlight>
                <a:srgbClr val="DEFC52"/>
              </a:highlight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9b6b768491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g39b6b768491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9b6b768491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g39b6b768491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211f540fa7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g211f540fa7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highlight>
                <a:srgbClr val="DEFC52"/>
              </a:highlight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latin typeface="DM Sans"/>
                <a:ea typeface="DM Sans"/>
                <a:cs typeface="DM Sans"/>
                <a:sym typeface="DM Sans"/>
              </a:rPr>
              <a:t>Profesor: Considerar los siguientes puntos como resolución:</a:t>
            </a:r>
            <a:endParaRPr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1924"/>
              </a:buClr>
              <a:buSzPts val="1100"/>
              <a:buFont typeface="DM Sans"/>
              <a:buAutoNum type="arabicPeriod"/>
            </a:pPr>
            <a:r>
              <a:rPr lang="es">
                <a:solidFill>
                  <a:srgbClr val="071924"/>
                </a:solidFill>
                <a:latin typeface="DM Sans"/>
                <a:ea typeface="DM Sans"/>
                <a:cs typeface="DM Sans"/>
                <a:sym typeface="DM Sans"/>
              </a:rPr>
              <a:t>Crea una página HTML básica que incluya un encabezado, un párrafo de contenido y una imagen.</a:t>
            </a:r>
            <a:endParaRPr>
              <a:solidFill>
                <a:srgbClr val="07192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1924"/>
              </a:buClr>
              <a:buSzPts val="1100"/>
              <a:buFont typeface="DM Sans"/>
              <a:buAutoNum type="arabicPeriod"/>
            </a:pPr>
            <a:r>
              <a:rPr lang="es">
                <a:solidFill>
                  <a:srgbClr val="071924"/>
                </a:solidFill>
                <a:latin typeface="DM Sans"/>
                <a:ea typeface="DM Sans"/>
                <a:cs typeface="DM Sans"/>
                <a:sym typeface="DM Sans"/>
              </a:rPr>
              <a:t>Agrega las etiquetas de título y meta descripción a la sección head del documento. Asegúrate de que la etiqueta de título contenga palabras clave relevantes y sea lo suficientemente descriptiva como para que los usuarios sepan de qué se trata la página.</a:t>
            </a:r>
            <a:endParaRPr>
              <a:solidFill>
                <a:srgbClr val="07192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1924"/>
              </a:buClr>
              <a:buSzPts val="1100"/>
              <a:buFont typeface="DM Sans"/>
              <a:buAutoNum type="arabicPeriod"/>
            </a:pPr>
            <a:r>
              <a:rPr lang="es">
                <a:solidFill>
                  <a:srgbClr val="071924"/>
                </a:solidFill>
                <a:latin typeface="DM Sans"/>
                <a:ea typeface="DM Sans"/>
                <a:cs typeface="DM Sans"/>
                <a:sym typeface="DM Sans"/>
              </a:rPr>
              <a:t>Incluye una etiqueta meta keywords en la sección head y enumera las palabras clave relevantes para la página.</a:t>
            </a:r>
            <a:endParaRPr>
              <a:solidFill>
                <a:srgbClr val="07192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1924"/>
              </a:buClr>
              <a:buSzPts val="1100"/>
              <a:buFont typeface="DM Sans"/>
              <a:buAutoNum type="arabicPeriod"/>
            </a:pPr>
            <a:r>
              <a:rPr lang="es">
                <a:solidFill>
                  <a:srgbClr val="071924"/>
                </a:solidFill>
                <a:latin typeface="DM Sans"/>
                <a:ea typeface="DM Sans"/>
                <a:cs typeface="DM Sans"/>
                <a:sym typeface="DM Sans"/>
              </a:rPr>
              <a:t>Utiliza etiquetas semánticas apropiadas para describir el contenido de la página, como header, main y footer.</a:t>
            </a:r>
            <a:endParaRPr>
              <a:solidFill>
                <a:srgbClr val="07192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1924"/>
              </a:buClr>
              <a:buSzPts val="1100"/>
              <a:buFont typeface="DM Sans"/>
              <a:buAutoNum type="arabicPeriod"/>
            </a:pPr>
            <a:r>
              <a:rPr lang="es">
                <a:solidFill>
                  <a:srgbClr val="071924"/>
                </a:solidFill>
                <a:latin typeface="DM Sans"/>
                <a:ea typeface="DM Sans"/>
                <a:cs typeface="DM Sans"/>
                <a:sym typeface="DM Sans"/>
              </a:rPr>
              <a:t>Agrega atributos alt y title a la etiqueta de imagen para describir la imagen y proporcionar información adicional para los motores de búsqueda.</a:t>
            </a:r>
            <a:endParaRPr>
              <a:solidFill>
                <a:srgbClr val="07192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1924"/>
              </a:buClr>
              <a:buSzPts val="1100"/>
              <a:buFont typeface="DM Sans"/>
              <a:buAutoNum type="arabicPeriod"/>
            </a:pPr>
            <a:r>
              <a:rPr lang="es">
                <a:solidFill>
                  <a:srgbClr val="071924"/>
                </a:solidFill>
                <a:latin typeface="DM Sans"/>
                <a:ea typeface="DM Sans"/>
                <a:cs typeface="DM Sans"/>
                <a:sym typeface="DM Sans"/>
              </a:rPr>
              <a:t>Verifica que la página no tenga contenido duplicado, que los enlaces estén funcionando correctamente y que el tiempo de carga sea razonablemente rápido.</a:t>
            </a:r>
            <a:endParaRPr>
              <a:solidFill>
                <a:srgbClr val="07192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1924"/>
              </a:buClr>
              <a:buSzPts val="1100"/>
              <a:buFont typeface="DM Sans"/>
              <a:buAutoNum type="arabicPeriod"/>
            </a:pPr>
            <a:r>
              <a:rPr lang="es">
                <a:solidFill>
                  <a:srgbClr val="071924"/>
                </a:solidFill>
                <a:latin typeface="DM Sans"/>
                <a:ea typeface="DM Sans"/>
                <a:cs typeface="DM Sans"/>
                <a:sym typeface="DM Sans"/>
              </a:rPr>
              <a:t>Verifica la validez del código HTML utilizando una herramienta de validación como el validador W3C.</a:t>
            </a:r>
            <a:endParaRPr>
              <a:solidFill>
                <a:srgbClr val="07192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i="1" lang="es">
                <a:latin typeface="DM Sans"/>
                <a:ea typeface="DM Sans"/>
                <a:cs typeface="DM Sans"/>
                <a:sym typeface="DM Sans"/>
              </a:rPr>
              <a:t>Profesor: Acá sería ideal aplicar meta keywords, description, title, jerarquía de encabezados, open graph, atributo alt en &lt;img&gt;, enlaces, etc</a:t>
            </a:r>
            <a:endParaRPr i="1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i="1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Actividades individuales. </a:t>
            </a:r>
            <a:r>
              <a:rPr lang="es">
                <a:solidFill>
                  <a:schemeClr val="dk1"/>
                </a:solidFill>
                <a:highlight>
                  <a:srgbClr val="EA90FF"/>
                </a:highlight>
                <a:latin typeface="DM Sans"/>
                <a:ea typeface="DM Sans"/>
                <a:cs typeface="DM Sans"/>
                <a:sym typeface="DM Sans"/>
              </a:rPr>
              <a:t>Profe/tutor</a:t>
            </a: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: La duración que se sugiere para que los</a:t>
            </a:r>
            <a:r>
              <a:rPr b="1"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estudiantes realicen la actividad</a:t>
            </a: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es de 15 minutos. A ellos se le suman </a:t>
            </a:r>
            <a:r>
              <a:rPr lang="es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5 </a:t>
            </a: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de </a:t>
            </a:r>
            <a:r>
              <a:rPr b="1"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puesta en común</a:t>
            </a: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. Por ello, el total dedicado a la actividad completa será de aproximadamente 20 </a:t>
            </a:r>
            <a:r>
              <a:rPr b="1" lang="es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minutos.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latin typeface="DM Sans"/>
                <a:ea typeface="DM Sans"/>
                <a:cs typeface="DM Sans"/>
                <a:sym typeface="DM Sans"/>
              </a:rPr>
              <a:t>Profesor, considera compartir los siguientes tips:</a:t>
            </a:r>
            <a:endParaRPr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DM Sans"/>
              <a:buChar char="●"/>
            </a:pPr>
            <a:r>
              <a:rPr lang="es">
                <a:latin typeface="DM Sans"/>
                <a:ea typeface="DM Sans"/>
                <a:cs typeface="DM Sans"/>
                <a:sym typeface="DM Sans"/>
              </a:rPr>
              <a:t>El contenido de la etiqueta title debería tener entre 35 a 65 caracteres. </a:t>
            </a:r>
            <a:endParaRPr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DM Sans"/>
              <a:buChar char="●"/>
            </a:pPr>
            <a:r>
              <a:rPr lang="es">
                <a:latin typeface="DM Sans"/>
                <a:ea typeface="DM Sans"/>
                <a:cs typeface="DM Sans"/>
                <a:sym typeface="DM Sans"/>
              </a:rPr>
              <a:t>El contenido de la etiqueta description debería tener entre 70 a 320 caracteres. </a:t>
            </a:r>
            <a:endParaRPr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DM Sans"/>
              <a:buChar char="●"/>
            </a:pPr>
            <a:r>
              <a:rPr lang="es">
                <a:latin typeface="DM Sans"/>
                <a:ea typeface="DM Sans"/>
                <a:cs typeface="DM Sans"/>
                <a:sym typeface="DM Sans"/>
              </a:rPr>
              <a:t>Keywords puedes mostrar alguna pagina donde se pueden obtener las kw por pais tal como ​​</a:t>
            </a:r>
            <a:r>
              <a:rPr lang="es" u="sng">
                <a:solidFill>
                  <a:schemeClr val="hlink"/>
                </a:solidFill>
                <a:latin typeface="DM Sans"/>
                <a:ea typeface="DM Sans"/>
                <a:cs typeface="DM Sans"/>
                <a:sym typeface="DM Sans"/>
                <a:hlinkClick r:id="rId2"/>
              </a:rPr>
              <a:t>https://trends.google.com/home</a:t>
            </a:r>
            <a:r>
              <a:rPr lang="es">
                <a:latin typeface="DM Sans"/>
                <a:ea typeface="DM Sans"/>
                <a:cs typeface="DM Sans"/>
                <a:sym typeface="DM Sans"/>
              </a:rPr>
              <a:t> </a:t>
            </a:r>
            <a:endParaRPr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9b6b768491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g39b6b768491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latin typeface="DM Sans"/>
                <a:ea typeface="DM Sans"/>
                <a:cs typeface="DM Sans"/>
                <a:sym typeface="DM Sans"/>
              </a:rPr>
              <a:t>Profesor, considera compartir los siguientes tips:</a:t>
            </a:r>
            <a:endParaRPr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DM Sans"/>
              <a:buChar char="●"/>
            </a:pPr>
            <a:r>
              <a:rPr lang="es">
                <a:latin typeface="DM Sans"/>
                <a:ea typeface="DM Sans"/>
                <a:cs typeface="DM Sans"/>
                <a:sym typeface="DM Sans"/>
              </a:rPr>
              <a:t>El contenido de la etiqueta title debería tener entre 35 a 65 caracteres. </a:t>
            </a:r>
            <a:endParaRPr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DM Sans"/>
              <a:buChar char="●"/>
            </a:pPr>
            <a:r>
              <a:rPr lang="es">
                <a:latin typeface="DM Sans"/>
                <a:ea typeface="DM Sans"/>
                <a:cs typeface="DM Sans"/>
                <a:sym typeface="DM Sans"/>
              </a:rPr>
              <a:t>El contenido de la etiqueta description debería tener entre 70 a 320 caracteres. </a:t>
            </a:r>
            <a:endParaRPr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DM Sans"/>
              <a:buChar char="●"/>
            </a:pPr>
            <a:r>
              <a:rPr lang="es">
                <a:latin typeface="DM Sans"/>
                <a:ea typeface="DM Sans"/>
                <a:cs typeface="DM Sans"/>
                <a:sym typeface="DM Sans"/>
              </a:rPr>
              <a:t>Keywords puedes mostrar alguna pagina donde se pueden obtener las kw por pais tal como ​​</a:t>
            </a:r>
            <a:r>
              <a:rPr lang="es" u="sng">
                <a:solidFill>
                  <a:schemeClr val="hlink"/>
                </a:solidFill>
                <a:latin typeface="DM Sans"/>
                <a:ea typeface="DM Sans"/>
                <a:cs typeface="DM Sans"/>
                <a:sym typeface="DM Sans"/>
                <a:hlinkClick r:id="rId2"/>
              </a:rPr>
              <a:t>https://trends.google.com/home</a:t>
            </a:r>
            <a:r>
              <a:rPr lang="es">
                <a:latin typeface="DM Sans"/>
                <a:ea typeface="DM Sans"/>
                <a:cs typeface="DM Sans"/>
                <a:sym typeface="DM Sans"/>
              </a:rPr>
              <a:t> </a:t>
            </a:r>
            <a:endParaRPr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" name="Google Shape;220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i="1"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Profesor, considerar los siguientes pasos:</a:t>
            </a:r>
            <a:endParaRPr i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"/>
              <a:buAutoNum type="arabicPeriod"/>
            </a:pPr>
            <a:r>
              <a:rPr i="1"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Crea una página web sobre un tema específico, como "Consejos para hacer ejercicio en casa".</a:t>
            </a:r>
            <a:endParaRPr i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"/>
              <a:buAutoNum type="arabicPeriod"/>
            </a:pPr>
            <a:r>
              <a:rPr i="1"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Utiliza etiquetas semánticas apropiadas, como header, main y footer, para describir el contenido de la página.</a:t>
            </a:r>
            <a:endParaRPr i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"/>
              <a:buAutoNum type="arabicPeriod"/>
            </a:pPr>
            <a:r>
              <a:rPr i="1"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Agrega las etiquetas de título y meta descripción en la sección head del documento. Asegúrate de que la etiqueta de título contenga palabras clave relevantes y sea lo suficientemente descriptiva como para que los usuarios sepan de qué se trata la página. Ejemplo: "10 consejos para hacer ejercicio en casa - Ejercicios fáciles para mantenerse en forma".</a:t>
            </a:r>
            <a:endParaRPr i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"/>
              <a:buAutoNum type="arabicPeriod"/>
            </a:pPr>
            <a:r>
              <a:rPr i="1"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Incluye una etiqueta meta keywords en la sección head y enumera las palabras clave relevantes para la página. Ejemplo: "ejercicio en casa, ejercicios fáciles, mantenerse en forma".</a:t>
            </a:r>
            <a:endParaRPr i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i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0" name="Google Shape;23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latin typeface="DM Sans"/>
                <a:ea typeface="DM Sans"/>
                <a:cs typeface="DM Sans"/>
                <a:sym typeface="DM Sans"/>
              </a:rPr>
              <a:t>Considerar dar 5 o 10 minutos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i="1" lang="es">
                <a:latin typeface="DM Sans"/>
                <a:ea typeface="DM Sans"/>
                <a:cs typeface="DM Sans"/>
                <a:sym typeface="DM Sans"/>
              </a:rPr>
              <a:t>Profesor: </a:t>
            </a:r>
            <a:endParaRPr i="1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i="1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9" name="Google Shape;249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i="1" lang="es">
                <a:latin typeface="DM Sans"/>
                <a:ea typeface="DM Sans"/>
                <a:cs typeface="DM Sans"/>
                <a:sym typeface="DM Sans"/>
              </a:rPr>
              <a:t>Profesor: Acá seria bueno poder mostrar donde conseguir los datos FTP dentro del hosting y también la carpeta de “administración de archivos” para que vean esa otra manera de carga del proyecto. </a:t>
            </a:r>
            <a:endParaRPr i="1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i="1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2" name="Google Shape;262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Actividades individuales. </a:t>
            </a:r>
            <a:r>
              <a:rPr lang="es">
                <a:solidFill>
                  <a:schemeClr val="dk1"/>
                </a:solidFill>
                <a:highlight>
                  <a:srgbClr val="EA90FF"/>
                </a:highlight>
                <a:latin typeface="DM Sans"/>
                <a:ea typeface="DM Sans"/>
                <a:cs typeface="DM Sans"/>
                <a:sym typeface="DM Sans"/>
              </a:rPr>
              <a:t>Profe/tutor</a:t>
            </a: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: La duración que se sugiere para que los</a:t>
            </a:r>
            <a:r>
              <a:rPr b="1"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estudiantes realicen la actividad</a:t>
            </a: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es de 10 minutos. A ellos se le suman </a:t>
            </a:r>
            <a:r>
              <a:rPr lang="es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5 </a:t>
            </a: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de </a:t>
            </a:r>
            <a:r>
              <a:rPr b="1"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puesta en común</a:t>
            </a: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. Por ello, el total dedicado a la actividad completa será de aproximadamente 15 </a:t>
            </a:r>
            <a:r>
              <a:rPr b="1" lang="es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minutos.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4" name="Google Shape;274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latin typeface="DM Sans"/>
                <a:ea typeface="DM Sans"/>
                <a:cs typeface="DM Sans"/>
                <a:sym typeface="DM Sans"/>
              </a:rPr>
              <a:t>Profesor: Elegir algunos retos de la página para compartir con los estudiantes y solucionarlos en la puesta en común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7" name="Google Shape;287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latin typeface="DM Sans"/>
                <a:ea typeface="DM Sans"/>
                <a:cs typeface="DM Sans"/>
                <a:sym typeface="DM Sans"/>
              </a:rPr>
              <a:t>Utilizar solo cuando hay un entregable la semana próxima (por lo general suele ser en el marco de una tutoring). Linkear slide del entregable (ppt session).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4" name="Google Shape;294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highlight>
                  <a:srgbClr val="EA90FF"/>
                </a:highlight>
                <a:latin typeface="DM Sans"/>
                <a:ea typeface="DM Sans"/>
                <a:cs typeface="DM Sans"/>
                <a:sym typeface="DM Sans"/>
              </a:rPr>
              <a:t>Profesor: Aquí la idea es dejar en claro cómo se hará la entrega del primer preentregable y resolver todas las dudas que surjan al respecto.</a:t>
            </a:r>
            <a:endParaRPr>
              <a:highlight>
                <a:srgbClr val="EA90FF"/>
              </a:highlight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0" name="Google Shape;300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Obligatoria siempre. Completar el resumen con palabras claves de lo visto. En caso de cerrar con el “mapa de conceptos” se puede sacar. 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6" name="Google Shape;306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Obligatoria siempre.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1" name="Google Shape;311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Todas las clases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9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6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6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6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6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Relationship Id="rId3" Type="http://schemas.openxmlformats.org/officeDocument/2006/relationships/image" Target="../media/image9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Relationship Id="rId3" Type="http://schemas.openxmlformats.org/officeDocument/2006/relationships/image" Target="../media/image6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Relationship Id="rId3" Type="http://schemas.openxmlformats.org/officeDocument/2006/relationships/image" Target="../media/image6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6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Relationship Id="rId3" Type="http://schemas.openxmlformats.org/officeDocument/2006/relationships/image" Target="../media/image6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-A">
  <p:cSld name="SECTION_HEADER_1_1_1_1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33" title="logo coderhouse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-B">
  <p:cSld name="SECTION_HEADER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4" title="logo coderhouse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74775" y="4720250"/>
            <a:ext cx="1024025" cy="21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co 1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DM Sans"/>
              <a:buNone/>
              <a:defRPr b="1" sz="40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5" name="Google Shape;15;p3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Helvetica Neue Light"/>
              <a:buNone/>
              <a:defRPr sz="20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pic>
        <p:nvPicPr>
          <p:cNvPr id="16" name="Google Shape;16;p37" title="logo CoderHouse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ndo blanco">
  <p:cSld name="SECTION_HEADER_1_1_1_1_1_1_1_1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8" title="logo coderhouse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3-B 5">
  <p:cSld name="SECTION_HEADER_1_1_1_1_1_1_1_1_1_8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35" title="logo coderhouse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3-B">
  <p:cSld name="SECTION_HEADER_1_1_1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36" title="logo coderhouse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3-A">
  <p:cSld name="SECTION_HEADER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oogle Shape;24;p41" title="logo coderhouse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41"/>
          <p:cNvSpPr/>
          <p:nvPr/>
        </p:nvSpPr>
        <p:spPr>
          <a:xfrm>
            <a:off x="1089900" y="995400"/>
            <a:ext cx="6964200" cy="3152700"/>
          </a:xfrm>
          <a:prstGeom prst="rect">
            <a:avLst/>
          </a:prstGeom>
          <a:solidFill>
            <a:srgbClr val="B5B5B5">
              <a:alpha val="941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 imagen">
  <p:cSld name="SECTION_HEADER_1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2"/>
          <p:cNvSpPr/>
          <p:nvPr/>
        </p:nvSpPr>
        <p:spPr>
          <a:xfrm>
            <a:off x="6592475" y="0"/>
            <a:ext cx="2551500" cy="5143500"/>
          </a:xfrm>
          <a:prstGeom prst="rect">
            <a:avLst/>
          </a:prstGeom>
          <a:solidFill>
            <a:srgbClr val="EAFF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" name="Google Shape;28;p42" title="logo coderhouse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3-A 1">
  <p:cSld name="SECTION_HEADER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oogle Shape;30;p43" title="logo coderhouse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-B 1">
  <p:cSld name="SECTION_HEADER_1_2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44" title="logo coderhouse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874775" y="4720250"/>
            <a:ext cx="1024025" cy="21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adro">
  <p:cSld name="SECTION_HEADER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45" title="logo coderhouse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-B">
  <p:cSld name="SECTION_HEADER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oogle Shape;40;p40" title="logo coderhouse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74775" y="4720250"/>
            <a:ext cx="1024025" cy="21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co 1" type="title">
  <p:cSld name="TITLE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DM Sans"/>
              <a:buNone/>
              <a:defRPr b="1" sz="40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43" name="Google Shape;43;p4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Helvetica Neue Light"/>
              <a:buNone/>
              <a:defRPr sz="20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pic>
        <p:nvPicPr>
          <p:cNvPr id="44" name="Google Shape;44;p46" title="logo CoderHouse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3-A">
  <p:cSld name="SECTION_HEADER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47" title="logo coderhouse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47"/>
          <p:cNvSpPr/>
          <p:nvPr/>
        </p:nvSpPr>
        <p:spPr>
          <a:xfrm>
            <a:off x="1089900" y="995400"/>
            <a:ext cx="6964200" cy="3152700"/>
          </a:xfrm>
          <a:prstGeom prst="rect">
            <a:avLst/>
          </a:prstGeom>
          <a:solidFill>
            <a:srgbClr val="B5B5B5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3-A 1">
  <p:cSld name="SECTION_HEADER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49;p48" title="logo coderhouse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adro">
  <p:cSld name="SECTION_HEADER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49" title="logo coderhouse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 imagen">
  <p:cSld name="SECTION_HEADER_1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50"/>
          <p:cNvSpPr/>
          <p:nvPr/>
        </p:nvSpPr>
        <p:spPr>
          <a:xfrm>
            <a:off x="6592475" y="0"/>
            <a:ext cx="2551500" cy="5143500"/>
          </a:xfrm>
          <a:prstGeom prst="rect">
            <a:avLst/>
          </a:prstGeom>
          <a:solidFill>
            <a:srgbClr val="EAFF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4" name="Google Shape;54;p50" title="logo coderhouse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ndo blanco">
  <p:cSld name="SECTION_HEADER_1_1_1_1_1_1_1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51" title="logo coderhouse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3-B">
  <p:cSld name="SECTION_HEADER_1_1_1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p52" title="logo coderhouse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-A">
  <p:cSld name="SECTION_HEADER_1_1_1_1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53" title="logo coderhouse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3-B 5">
  <p:cSld name="SECTION_HEADER_1_1_1_1_1_1_1_1_1_8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54" title="logo coderhouse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-B 1">
  <p:cSld name="SECTION_HEADER_1_2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55" title="logo coderhouse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874775" y="4720250"/>
            <a:ext cx="1024025" cy="21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7" name="Google Shape;37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8" name="Google Shape;38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png"/><Relationship Id="rId4" Type="http://schemas.openxmlformats.org/officeDocument/2006/relationships/image" Target="../media/image2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jpg"/><Relationship Id="rId4" Type="http://schemas.openxmlformats.org/officeDocument/2006/relationships/image" Target="../media/image21.png"/><Relationship Id="rId5" Type="http://schemas.openxmlformats.org/officeDocument/2006/relationships/image" Target="../media/image6.png"/><Relationship Id="rId6" Type="http://schemas.openxmlformats.org/officeDocument/2006/relationships/hyperlink" Target="https://unsplash.com/es/fotos/cFFEeHNZEqw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jpg"/><Relationship Id="rId4" Type="http://schemas.openxmlformats.org/officeDocument/2006/relationships/image" Target="../media/image21.png"/><Relationship Id="rId5" Type="http://schemas.openxmlformats.org/officeDocument/2006/relationships/image" Target="../media/image6.png"/><Relationship Id="rId6" Type="http://schemas.openxmlformats.org/officeDocument/2006/relationships/hyperlink" Target="https://unsplash.com/es/fotos/cFFEeHNZEqw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jpg"/><Relationship Id="rId4" Type="http://schemas.openxmlformats.org/officeDocument/2006/relationships/image" Target="../media/image6.png"/><Relationship Id="rId5" Type="http://schemas.openxmlformats.org/officeDocument/2006/relationships/hyperlink" Target="https://unsplash.com/es/fotos/cFFEeHNZEqw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1.png"/><Relationship Id="rId4" Type="http://schemas.openxmlformats.org/officeDocument/2006/relationships/image" Target="../media/image2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9.jpg"/><Relationship Id="rId4" Type="http://schemas.openxmlformats.org/officeDocument/2006/relationships/image" Target="../media/image21.png"/><Relationship Id="rId5" Type="http://schemas.openxmlformats.org/officeDocument/2006/relationships/image" Target="../media/image6.png"/><Relationship Id="rId6" Type="http://schemas.openxmlformats.org/officeDocument/2006/relationships/hyperlink" Target="https://unsplash.com/es/fotos/Bss5nhYnLKU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9.jpg"/><Relationship Id="rId4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Relationship Id="rId4" Type="http://schemas.openxmlformats.org/officeDocument/2006/relationships/image" Target="../media/image2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9.jpg"/><Relationship Id="rId4" Type="http://schemas.openxmlformats.org/officeDocument/2006/relationships/image" Target="../media/image21.png"/><Relationship Id="rId5" Type="http://schemas.openxmlformats.org/officeDocument/2006/relationships/image" Target="../media/image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5.gif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"/>
          <p:cNvSpPr txBox="1"/>
          <p:nvPr/>
        </p:nvSpPr>
        <p:spPr>
          <a:xfrm>
            <a:off x="1461300" y="1925250"/>
            <a:ext cx="62214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" sz="4000" u="none" cap="none" strike="noStrike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¡Les damos la bienvenida!</a:t>
            </a:r>
            <a:endParaRPr b="1" i="0" sz="4000" u="none" cap="none" strike="noStrike">
              <a:solidFill>
                <a:srgbClr val="EAFF6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0" name="Google Shape;70;p1"/>
          <p:cNvSpPr txBox="1"/>
          <p:nvPr/>
        </p:nvSpPr>
        <p:spPr>
          <a:xfrm>
            <a:off x="3315900" y="3421350"/>
            <a:ext cx="2512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" sz="20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¿Comenzamos?</a:t>
            </a:r>
            <a:endParaRPr b="0" i="0" sz="2000" u="none" cap="none" strike="noStrik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descr="Man Dancing on Apple iOS 12.2" id="71" name="Google Shape;7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33900" y="808750"/>
            <a:ext cx="876200" cy="8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62988" y="3567300"/>
            <a:ext cx="3818026" cy="157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"/>
          <p:cNvSpPr/>
          <p:nvPr/>
        </p:nvSpPr>
        <p:spPr>
          <a:xfrm>
            <a:off x="3080700" y="2547525"/>
            <a:ext cx="2982600" cy="7938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2"/>
          <p:cNvSpPr txBox="1"/>
          <p:nvPr/>
        </p:nvSpPr>
        <p:spPr>
          <a:xfrm>
            <a:off x="1461300" y="1802163"/>
            <a:ext cx="6221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" sz="40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Esta clase va a ser</a:t>
            </a:r>
            <a:endParaRPr b="1" i="0" sz="4000" u="none" cap="none" strike="noStrike">
              <a:solidFill>
                <a:srgbClr val="DEFC5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9" name="Google Shape;79;p2"/>
          <p:cNvSpPr txBox="1"/>
          <p:nvPr/>
        </p:nvSpPr>
        <p:spPr>
          <a:xfrm>
            <a:off x="3655975" y="2541075"/>
            <a:ext cx="2407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" sz="4000" u="none" cap="none" strike="noStrike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grabada</a:t>
            </a:r>
            <a:endParaRPr b="1" i="0" sz="4000" u="none" cap="none" strike="noStrike">
              <a:solidFill>
                <a:srgbClr val="EAFF6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0" name="Google Shape;80;p2"/>
          <p:cNvSpPr/>
          <p:nvPr/>
        </p:nvSpPr>
        <p:spPr>
          <a:xfrm>
            <a:off x="3293875" y="2844525"/>
            <a:ext cx="199800" cy="1998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"/>
          <p:cNvSpPr txBox="1"/>
          <p:nvPr/>
        </p:nvSpPr>
        <p:spPr>
          <a:xfrm>
            <a:off x="2419229" y="1855900"/>
            <a:ext cx="44310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" sz="4000" u="none" cap="none" strike="noStrike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Clase práctica en vivo</a:t>
            </a:r>
            <a:endParaRPr b="1" i="0" sz="4000" u="none" cap="none" strike="noStrike">
              <a:solidFill>
                <a:srgbClr val="EAFF6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6" name="Google Shape;86;p3"/>
          <p:cNvSpPr txBox="1"/>
          <p:nvPr/>
        </p:nvSpPr>
        <p:spPr>
          <a:xfrm>
            <a:off x="3124950" y="3082025"/>
            <a:ext cx="28941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s" sz="135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¿Comenzamos?</a:t>
            </a:r>
            <a:endParaRPr b="0" i="0" sz="1350" u="none" cap="none" strike="noStrik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7" name="Google Shape;87;p3"/>
          <p:cNvSpPr txBox="1"/>
          <p:nvPr/>
        </p:nvSpPr>
        <p:spPr>
          <a:xfrm>
            <a:off x="467600" y="471175"/>
            <a:ext cx="52968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s" sz="13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DESARROLLO WEB</a:t>
            </a:r>
            <a:endParaRPr b="0" i="0" sz="1350" u="none" cap="none" strike="noStrik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88" name="Google Shape;8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62988" y="3567300"/>
            <a:ext cx="3818026" cy="157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"/>
          <p:cNvSpPr txBox="1"/>
          <p:nvPr/>
        </p:nvSpPr>
        <p:spPr>
          <a:xfrm>
            <a:off x="1461300" y="2252975"/>
            <a:ext cx="6221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" sz="4000" u="none" cap="none" strike="noStrike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SEO y servidores</a:t>
            </a:r>
            <a:endParaRPr b="1" i="0" sz="4000" u="none" cap="none" strike="noStrike">
              <a:solidFill>
                <a:srgbClr val="EAFF6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4" name="Google Shape;94;p4"/>
          <p:cNvSpPr txBox="1"/>
          <p:nvPr/>
        </p:nvSpPr>
        <p:spPr>
          <a:xfrm>
            <a:off x="1461300" y="1665250"/>
            <a:ext cx="622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18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Unidad </a:t>
            </a:r>
            <a:r>
              <a:rPr b="1" lang="es" sz="1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9</a:t>
            </a:r>
            <a:r>
              <a:rPr b="1" i="0" lang="es" sz="18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r>
              <a:rPr b="0" i="0" lang="es" sz="18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DESARROLLO WEB</a:t>
            </a:r>
            <a:endParaRPr b="0" i="0" sz="1600" u="none" cap="none" strike="noStrik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95" name="Google Shape;9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62988" y="3567300"/>
            <a:ext cx="3818026" cy="157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7"/>
          <p:cNvGrpSpPr/>
          <p:nvPr/>
        </p:nvGrpSpPr>
        <p:grpSpPr>
          <a:xfrm>
            <a:off x="4202551" y="1088764"/>
            <a:ext cx="738900" cy="738974"/>
            <a:chOff x="974706" y="2467173"/>
            <a:chExt cx="738900" cy="738900"/>
          </a:xfrm>
        </p:grpSpPr>
        <p:sp>
          <p:nvSpPr>
            <p:cNvPr id="101" name="Google Shape;101;p7"/>
            <p:cNvSpPr/>
            <p:nvPr/>
          </p:nvSpPr>
          <p:spPr>
            <a:xfrm>
              <a:off x="974706" y="2467173"/>
              <a:ext cx="738900" cy="738900"/>
            </a:xfrm>
            <a:prstGeom prst="ellipse">
              <a:avLst/>
            </a:prstGeom>
            <a:solidFill>
              <a:srgbClr val="EAFF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02" name="Google Shape;102;p7" title="ícono de actividad en clase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09750" y="2610275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3" name="Google Shape;103;p7"/>
          <p:cNvSpPr txBox="1"/>
          <p:nvPr/>
        </p:nvSpPr>
        <p:spPr>
          <a:xfrm>
            <a:off x="1547025" y="1925250"/>
            <a:ext cx="6221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" sz="4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Haciendo resaltar</a:t>
            </a:r>
            <a:endParaRPr b="1" i="0" sz="40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4" name="Google Shape;104;p7"/>
          <p:cNvSpPr txBox="1"/>
          <p:nvPr/>
        </p:nvSpPr>
        <p:spPr>
          <a:xfrm>
            <a:off x="987300" y="3287388"/>
            <a:ext cx="7169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" sz="2000" u="none" cap="none" strike="noStrike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rPr>
              <a:t>¡Vamos a recuperar lo trabajado durante la semana! </a:t>
            </a:r>
            <a:endParaRPr b="0" i="0" sz="2000" u="none" cap="none" strike="noStrike">
              <a:solidFill>
                <a:srgbClr val="999999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5" name="Google Shape;105;p7"/>
          <p:cNvSpPr txBox="1"/>
          <p:nvPr/>
        </p:nvSpPr>
        <p:spPr>
          <a:xfrm>
            <a:off x="987300" y="3849138"/>
            <a:ext cx="7169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" sz="1800" u="none" cap="none" strike="noStrike">
                <a:solidFill>
                  <a:srgbClr val="83AEFB"/>
                </a:solidFill>
                <a:latin typeface="DM Sans"/>
                <a:ea typeface="DM Sans"/>
                <a:cs typeface="DM Sans"/>
                <a:sym typeface="DM Sans"/>
              </a:rPr>
              <a:t>Duración: </a:t>
            </a:r>
            <a:r>
              <a:rPr b="1" i="0" lang="es" sz="1800" u="none" cap="none" strike="noStrike">
                <a:solidFill>
                  <a:srgbClr val="83AEFB"/>
                </a:solidFill>
                <a:latin typeface="DM Sans"/>
                <a:ea typeface="DM Sans"/>
                <a:cs typeface="DM Sans"/>
                <a:sym typeface="DM Sans"/>
              </a:rPr>
              <a:t>10 minutos</a:t>
            </a:r>
            <a:r>
              <a:rPr b="0" i="0" lang="es" sz="1800" u="none" cap="none" strike="noStrike">
                <a:solidFill>
                  <a:srgbClr val="83AEFB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b="0" i="0" sz="1800" u="none" cap="none" strike="noStrike">
              <a:solidFill>
                <a:srgbClr val="83AEFB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06" name="Google Shape;106;p7"/>
          <p:cNvGrpSpPr/>
          <p:nvPr/>
        </p:nvGrpSpPr>
        <p:grpSpPr>
          <a:xfrm>
            <a:off x="0" y="-7400"/>
            <a:ext cx="9143925" cy="44400"/>
            <a:chOff x="0" y="-7400"/>
            <a:chExt cx="9143925" cy="44400"/>
          </a:xfrm>
        </p:grpSpPr>
        <p:sp>
          <p:nvSpPr>
            <p:cNvPr id="107" name="Google Shape;107;p7"/>
            <p:cNvSpPr/>
            <p:nvPr/>
          </p:nvSpPr>
          <p:spPr>
            <a:xfrm>
              <a:off x="5846625" y="-7400"/>
              <a:ext cx="3297300" cy="4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08" name="Google Shape;108;p7"/>
            <p:cNvSpPr/>
            <p:nvPr/>
          </p:nvSpPr>
          <p:spPr>
            <a:xfrm>
              <a:off x="0" y="-7400"/>
              <a:ext cx="5846700" cy="444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6919" y="-6775"/>
            <a:ext cx="3428163" cy="51435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4" name="Google Shape;114;p8"/>
          <p:cNvGrpSpPr/>
          <p:nvPr/>
        </p:nvGrpSpPr>
        <p:grpSpPr>
          <a:xfrm>
            <a:off x="475504" y="468236"/>
            <a:ext cx="431074" cy="431148"/>
            <a:chOff x="974706" y="2467173"/>
            <a:chExt cx="738900" cy="738900"/>
          </a:xfrm>
        </p:grpSpPr>
        <p:sp>
          <p:nvSpPr>
            <p:cNvPr id="115" name="Google Shape;115;p8"/>
            <p:cNvSpPr/>
            <p:nvPr/>
          </p:nvSpPr>
          <p:spPr>
            <a:xfrm>
              <a:off x="974706" y="2467173"/>
              <a:ext cx="738900" cy="738900"/>
            </a:xfrm>
            <a:prstGeom prst="ellipse">
              <a:avLst/>
            </a:prstGeom>
            <a:solidFill>
              <a:srgbClr val="EAFF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16" name="Google Shape;116;p8" title="ícono de actividad en clase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109750" y="2610275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7" name="Google Shape;117;p8"/>
          <p:cNvSpPr txBox="1"/>
          <p:nvPr/>
        </p:nvSpPr>
        <p:spPr>
          <a:xfrm>
            <a:off x="548250" y="2220125"/>
            <a:ext cx="4753200" cy="17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Aplica SEO directamente desde tu código para optimizar la </a:t>
            </a:r>
            <a:r>
              <a:rPr b="1"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performance</a:t>
            </a: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b="1"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accesibilidad</a:t>
            </a: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b="1"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usabilidad</a:t>
            </a: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y </a:t>
            </a:r>
            <a:r>
              <a:rPr b="1"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posicionamiento</a:t>
            </a: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de tu sitio web.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Esto no solo mejora cómo te ve Google, sino también la experiencia de los usuarios que navegan tu página.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1" i="0" sz="135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18" name="Google Shape;118;p8"/>
          <p:cNvSpPr txBox="1"/>
          <p:nvPr/>
        </p:nvSpPr>
        <p:spPr>
          <a:xfrm>
            <a:off x="501450" y="1081750"/>
            <a:ext cx="4987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" sz="4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Haciendo resaltar</a:t>
            </a:r>
            <a:endParaRPr b="1" i="0" sz="40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19" name="Google Shape;119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8"/>
          <p:cNvSpPr txBox="1"/>
          <p:nvPr/>
        </p:nvSpPr>
        <p:spPr>
          <a:xfrm>
            <a:off x="930550" y="468275"/>
            <a:ext cx="3823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" sz="16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ACTIVIDAD</a:t>
            </a:r>
            <a:endParaRPr b="0" i="0" sz="14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1" name="Google Shape;121;p8"/>
          <p:cNvSpPr txBox="1"/>
          <p:nvPr/>
        </p:nvSpPr>
        <p:spPr>
          <a:xfrm>
            <a:off x="501450" y="4649063"/>
            <a:ext cx="6631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" sz="1100" u="none" cap="none" strike="noStrike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Fuente de la imagen: </a:t>
            </a:r>
            <a:r>
              <a:rPr b="0" i="0" lang="es" sz="1100" u="sng" cap="none" strike="noStrike">
                <a:solidFill>
                  <a:schemeClr val="hlink"/>
                </a:solidFill>
                <a:latin typeface="DM Sans"/>
                <a:ea typeface="DM Sans"/>
                <a:cs typeface="DM Sans"/>
                <a:sym typeface="DM Sans"/>
                <a:hlinkClick r:id="rId6"/>
              </a:rPr>
              <a:t>Kevin Canlas</a:t>
            </a:r>
            <a:endParaRPr b="0" i="0" sz="1100" u="none" cap="none" strike="noStrike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g39b6b768491_0_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6919" y="-6775"/>
            <a:ext cx="3428163" cy="51435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7" name="Google Shape;127;g39b6b768491_0_4"/>
          <p:cNvGrpSpPr/>
          <p:nvPr/>
        </p:nvGrpSpPr>
        <p:grpSpPr>
          <a:xfrm>
            <a:off x="475504" y="468237"/>
            <a:ext cx="431074" cy="431148"/>
            <a:chOff x="974706" y="2467173"/>
            <a:chExt cx="738900" cy="738900"/>
          </a:xfrm>
        </p:grpSpPr>
        <p:sp>
          <p:nvSpPr>
            <p:cNvPr id="128" name="Google Shape;128;g39b6b768491_0_4"/>
            <p:cNvSpPr/>
            <p:nvPr/>
          </p:nvSpPr>
          <p:spPr>
            <a:xfrm>
              <a:off x="974706" y="2467173"/>
              <a:ext cx="738900" cy="738900"/>
            </a:xfrm>
            <a:prstGeom prst="ellipse">
              <a:avLst/>
            </a:prstGeom>
            <a:solidFill>
              <a:srgbClr val="EAFF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29" name="Google Shape;129;g39b6b768491_0_4" title="ícono de actividad en clase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109750" y="2610275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0" name="Google Shape;130;g39b6b768491_0_4"/>
          <p:cNvSpPr txBox="1"/>
          <p:nvPr/>
        </p:nvSpPr>
        <p:spPr>
          <a:xfrm>
            <a:off x="282200" y="965300"/>
            <a:ext cx="4753200" cy="38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Seguí estas recomendaciones básicas (presentadas en los videos y prácticas del curso):</a:t>
            </a:r>
            <a:endParaRPr sz="13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🏷️ </a:t>
            </a:r>
            <a:r>
              <a:rPr b="1" lang="e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Asegurate de que la etiqueta </a:t>
            </a:r>
            <a:r>
              <a:rPr b="1" lang="es" sz="13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&lt;title&gt;</a:t>
            </a:r>
            <a:r>
              <a:rPr lang="e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incluya </a:t>
            </a:r>
            <a:r>
              <a:rPr b="1" lang="e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palabras clave relevantes</a:t>
            </a:r>
            <a:r>
              <a:rPr lang="e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y describa con claridad el contenido de la página.</a:t>
            </a:r>
            <a:br>
              <a:rPr lang="e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sz="13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🧱 </a:t>
            </a:r>
            <a:r>
              <a:rPr b="1" lang="e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Usá etiquetas HTML semánticas</a:t>
            </a:r>
            <a:r>
              <a:rPr lang="e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(</a:t>
            </a:r>
            <a:r>
              <a:rPr lang="es" sz="13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&lt;header&gt;</a:t>
            </a:r>
            <a:r>
              <a:rPr lang="e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lang="es" sz="13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&lt;nav&gt;</a:t>
            </a:r>
            <a:r>
              <a:rPr lang="e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lang="es" sz="13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&lt;main&gt;</a:t>
            </a:r>
            <a:r>
              <a:rPr lang="e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lang="es" sz="13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&lt;section&gt;</a:t>
            </a:r>
            <a:r>
              <a:rPr lang="e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lang="es" sz="13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&lt;article&gt;</a:t>
            </a:r>
            <a:r>
              <a:rPr lang="e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lang="es" sz="13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&lt;footer&gt;</a:t>
            </a:r>
            <a:r>
              <a:rPr lang="e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) para organizar correctamente la información.</a:t>
            </a:r>
            <a:br>
              <a:rPr lang="e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sz="13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♿ </a:t>
            </a:r>
            <a:r>
              <a:rPr b="1" lang="e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Verificá la accesibilidad</a:t>
            </a:r>
            <a:r>
              <a:rPr lang="e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incluyendo texto alternativo en las imágenes (</a:t>
            </a:r>
            <a:r>
              <a:rPr lang="es" sz="13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alt=""</a:t>
            </a:r>
            <a:r>
              <a:rPr lang="e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), encabezados jerárquicos (</a:t>
            </a:r>
            <a:r>
              <a:rPr lang="es" sz="13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h1</a:t>
            </a:r>
            <a:r>
              <a:rPr lang="e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lang="es" sz="13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h2</a:t>
            </a:r>
            <a:r>
              <a:rPr lang="e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lang="es" sz="13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h3</a:t>
            </a:r>
            <a:r>
              <a:rPr lang="e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) y suficiente contraste de color.</a:t>
            </a:r>
            <a:br>
              <a:rPr lang="es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i="0" sz="135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31" name="Google Shape;131;g39b6b768491_0_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g39b6b768491_0_4"/>
          <p:cNvSpPr txBox="1"/>
          <p:nvPr/>
        </p:nvSpPr>
        <p:spPr>
          <a:xfrm>
            <a:off x="930550" y="468275"/>
            <a:ext cx="3823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" sz="16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ACTIVIDAD</a:t>
            </a:r>
            <a:endParaRPr b="0" i="0" sz="14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3" name="Google Shape;133;g39b6b768491_0_4"/>
          <p:cNvSpPr txBox="1"/>
          <p:nvPr/>
        </p:nvSpPr>
        <p:spPr>
          <a:xfrm>
            <a:off x="501450" y="4649063"/>
            <a:ext cx="6631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" sz="1100" u="none" cap="none" strike="noStrike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Fuente de la imagen: </a:t>
            </a:r>
            <a:r>
              <a:rPr b="0" i="0" lang="es" sz="1100" u="sng" cap="none" strike="noStrike">
                <a:solidFill>
                  <a:schemeClr val="hlink"/>
                </a:solidFill>
                <a:latin typeface="DM Sans"/>
                <a:ea typeface="DM Sans"/>
                <a:cs typeface="DM Sans"/>
                <a:sym typeface="DM Sans"/>
                <a:hlinkClick r:id="rId6"/>
              </a:rPr>
              <a:t>Kevin Canlas</a:t>
            </a:r>
            <a:endParaRPr b="0" i="0" sz="1100" u="none" cap="none" strike="noStrike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g39b6b768491_0_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6919" y="-6775"/>
            <a:ext cx="342816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g39b6b768491_0_17"/>
          <p:cNvSpPr txBox="1"/>
          <p:nvPr/>
        </p:nvSpPr>
        <p:spPr>
          <a:xfrm>
            <a:off x="184650" y="383050"/>
            <a:ext cx="5506500" cy="41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⚙️ </a:t>
            </a:r>
            <a:r>
              <a:rPr b="1" lang="e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Comprobá la validez del código HTML</a:t>
            </a:r>
            <a:r>
              <a:rPr lang="e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con herramientas como el Validador del W3C.</a:t>
            </a:r>
            <a:br>
              <a:rPr lang="e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sz="13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🚀 </a:t>
            </a:r>
            <a:r>
              <a:rPr b="1" lang="e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Optimizá la velocidad de carga</a:t>
            </a:r>
            <a:r>
              <a:rPr lang="e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usando imágenes livianas (formatos como WebP), minificando CSS/JS y activando el atributo </a:t>
            </a:r>
            <a:r>
              <a:rPr lang="es" sz="13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loading="lazy"</a:t>
            </a:r>
            <a:r>
              <a:rPr lang="e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en las imágenes.</a:t>
            </a:r>
            <a:br>
              <a:rPr lang="e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sz="13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📱 </a:t>
            </a:r>
            <a:r>
              <a:rPr b="1" lang="e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Verificá la versión móvil</a:t>
            </a:r>
            <a:r>
              <a:rPr lang="e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de tu sitio: Google utiliza el enfoque </a:t>
            </a:r>
            <a:r>
              <a:rPr i="1" lang="e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mobile-first</a:t>
            </a:r>
            <a:r>
              <a:rPr lang="e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así que el diseño debe adaptarse correctamente a pantallas pequeñas.</a:t>
            </a:r>
            <a:br>
              <a:rPr lang="e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sz="13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💡 </a:t>
            </a:r>
            <a:r>
              <a:rPr b="1" lang="e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Recordá: </a:t>
            </a:r>
            <a:r>
              <a:rPr lang="e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un sitio rápido, accesible y con buena estructura semántica no solo posiciona mejor, sino que también ofrece una </a:t>
            </a:r>
            <a:r>
              <a:rPr b="1" lang="e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experiencia más agradable y profesional</a:t>
            </a:r>
            <a:r>
              <a:rPr lang="e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para tus visitantes.</a:t>
            </a:r>
            <a:br>
              <a:rPr lang="es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i="0" sz="135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40" name="Google Shape;140;g39b6b768491_0_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g39b6b768491_0_17"/>
          <p:cNvSpPr txBox="1"/>
          <p:nvPr/>
        </p:nvSpPr>
        <p:spPr>
          <a:xfrm>
            <a:off x="501450" y="4649063"/>
            <a:ext cx="6631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" sz="1100" u="none" cap="none" strike="noStrike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Fuente de la imagen: </a:t>
            </a:r>
            <a:r>
              <a:rPr b="0" i="0" lang="es" sz="1100" u="sng" cap="none" strike="noStrike">
                <a:solidFill>
                  <a:schemeClr val="hlink"/>
                </a:solidFill>
                <a:latin typeface="DM Sans"/>
                <a:ea typeface="DM Sans"/>
                <a:cs typeface="DM Sans"/>
                <a:sym typeface="DM Sans"/>
                <a:hlinkClick r:id="rId5"/>
              </a:rPr>
              <a:t>Kevin Canlas</a:t>
            </a:r>
            <a:endParaRPr b="0" i="0" sz="1100" u="none" cap="none" strike="noStrike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6" name="Google Shape;146;g211f540fa72_0_0"/>
          <p:cNvGrpSpPr/>
          <p:nvPr/>
        </p:nvGrpSpPr>
        <p:grpSpPr>
          <a:xfrm>
            <a:off x="4202551" y="1088764"/>
            <a:ext cx="738900" cy="738974"/>
            <a:chOff x="974706" y="2467173"/>
            <a:chExt cx="738900" cy="738900"/>
          </a:xfrm>
        </p:grpSpPr>
        <p:sp>
          <p:nvSpPr>
            <p:cNvPr id="147" name="Google Shape;147;g211f540fa72_0_0"/>
            <p:cNvSpPr/>
            <p:nvPr/>
          </p:nvSpPr>
          <p:spPr>
            <a:xfrm>
              <a:off x="974706" y="2467173"/>
              <a:ext cx="738900" cy="738900"/>
            </a:xfrm>
            <a:prstGeom prst="ellipse">
              <a:avLst/>
            </a:prstGeom>
            <a:solidFill>
              <a:srgbClr val="EAFF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48" name="Google Shape;148;g211f540fa72_0_0" title="ícono de actividad en clase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09750" y="2610275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9" name="Google Shape;149;g211f540fa72_0_0"/>
          <p:cNvSpPr txBox="1"/>
          <p:nvPr/>
        </p:nvSpPr>
        <p:spPr>
          <a:xfrm>
            <a:off x="1547025" y="1925250"/>
            <a:ext cx="6221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" sz="4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Puesta en común </a:t>
            </a:r>
            <a:endParaRPr b="1" i="0" sz="4000" u="none" cap="none" strike="noStrike">
              <a:solidFill>
                <a:schemeClr val="dk1"/>
              </a:solidFill>
              <a:highlight>
                <a:srgbClr val="EAFF6A"/>
              </a:highlight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50" name="Google Shape;150;g211f540fa72_0_0"/>
          <p:cNvSpPr txBox="1"/>
          <p:nvPr/>
        </p:nvSpPr>
        <p:spPr>
          <a:xfrm>
            <a:off x="987300" y="3849138"/>
            <a:ext cx="7169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" sz="1800" u="none" cap="none" strike="noStrike">
                <a:solidFill>
                  <a:srgbClr val="83AEFB"/>
                </a:solidFill>
                <a:latin typeface="DM Sans"/>
                <a:ea typeface="DM Sans"/>
                <a:cs typeface="DM Sans"/>
                <a:sym typeface="DM Sans"/>
              </a:rPr>
              <a:t>Duración: </a:t>
            </a:r>
            <a:r>
              <a:rPr b="1" i="0" lang="es" sz="1800" u="none" cap="none" strike="noStrike">
                <a:solidFill>
                  <a:srgbClr val="83AEFB"/>
                </a:solidFill>
                <a:latin typeface="DM Sans"/>
                <a:ea typeface="DM Sans"/>
                <a:cs typeface="DM Sans"/>
                <a:sym typeface="DM Sans"/>
              </a:rPr>
              <a:t>10 minutos</a:t>
            </a:r>
            <a:r>
              <a:rPr b="0" i="0" lang="es" sz="1800" u="none" cap="none" strike="noStrike">
                <a:solidFill>
                  <a:srgbClr val="83AEFB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b="0" i="0" sz="1800" u="none" cap="none" strike="noStrike">
              <a:solidFill>
                <a:srgbClr val="83AEFB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51" name="Google Shape;151;g211f540fa72_0_0"/>
          <p:cNvGrpSpPr/>
          <p:nvPr/>
        </p:nvGrpSpPr>
        <p:grpSpPr>
          <a:xfrm>
            <a:off x="0" y="-7400"/>
            <a:ext cx="9143925" cy="44400"/>
            <a:chOff x="0" y="-7400"/>
            <a:chExt cx="9143925" cy="44400"/>
          </a:xfrm>
        </p:grpSpPr>
        <p:sp>
          <p:nvSpPr>
            <p:cNvPr id="152" name="Google Shape;152;g211f540fa72_0_0"/>
            <p:cNvSpPr/>
            <p:nvPr/>
          </p:nvSpPr>
          <p:spPr>
            <a:xfrm>
              <a:off x="5846625" y="-7400"/>
              <a:ext cx="3297300" cy="4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53" name="Google Shape;153;g211f540fa72_0_0"/>
            <p:cNvSpPr/>
            <p:nvPr/>
          </p:nvSpPr>
          <p:spPr>
            <a:xfrm>
              <a:off x="0" y="-7400"/>
              <a:ext cx="5846700" cy="444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9"/>
          <p:cNvSpPr txBox="1"/>
          <p:nvPr/>
        </p:nvSpPr>
        <p:spPr>
          <a:xfrm>
            <a:off x="584850" y="2392425"/>
            <a:ext cx="3583800" cy="11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432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50"/>
              <a:buFont typeface="DM Sans"/>
              <a:buChar char="●"/>
            </a:pPr>
            <a:r>
              <a:rPr b="1" i="0" lang="es" sz="1350" u="none" cap="none" strike="noStrike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rPr>
              <a:t>¿Te pareció complicado utilizar SEO?</a:t>
            </a:r>
            <a:endParaRPr b="1" i="0" sz="1350" u="none" cap="none" strike="noStrike">
              <a:solidFill>
                <a:srgbClr val="999999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4325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999999"/>
              </a:buClr>
              <a:buSzPts val="1350"/>
              <a:buFont typeface="DM Sans"/>
              <a:buChar char="●"/>
            </a:pPr>
            <a:r>
              <a:rPr b="1" i="0" lang="es" sz="1350" u="none" cap="none" strike="noStrike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rPr>
              <a:t>¿Qué dificultades se te presentaron y cómo las resolviste?</a:t>
            </a:r>
            <a:endParaRPr b="1" i="0" sz="1350" u="none" cap="none" strike="noStrike">
              <a:solidFill>
                <a:srgbClr val="999999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59" name="Google Shape;159;p9"/>
          <p:cNvSpPr txBox="1"/>
          <p:nvPr/>
        </p:nvSpPr>
        <p:spPr>
          <a:xfrm>
            <a:off x="930550" y="468275"/>
            <a:ext cx="3823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" sz="16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RESULTADOS</a:t>
            </a:r>
            <a:endParaRPr b="0" i="0" sz="14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0" name="Google Shape;160;p9"/>
          <p:cNvSpPr txBox="1"/>
          <p:nvPr/>
        </p:nvSpPr>
        <p:spPr>
          <a:xfrm>
            <a:off x="488850" y="931400"/>
            <a:ext cx="41622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" sz="4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Haciendo resaltar</a:t>
            </a:r>
            <a:endParaRPr b="1" i="0" sz="40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61" name="Google Shape;161;p9"/>
          <p:cNvGrpSpPr/>
          <p:nvPr/>
        </p:nvGrpSpPr>
        <p:grpSpPr>
          <a:xfrm>
            <a:off x="475504" y="468236"/>
            <a:ext cx="431074" cy="431148"/>
            <a:chOff x="974706" y="2467173"/>
            <a:chExt cx="738900" cy="738900"/>
          </a:xfrm>
        </p:grpSpPr>
        <p:sp>
          <p:nvSpPr>
            <p:cNvPr id="162" name="Google Shape;162;p9"/>
            <p:cNvSpPr/>
            <p:nvPr/>
          </p:nvSpPr>
          <p:spPr>
            <a:xfrm>
              <a:off x="974706" y="2467173"/>
              <a:ext cx="738900" cy="738900"/>
            </a:xfrm>
            <a:prstGeom prst="ellipse">
              <a:avLst/>
            </a:prstGeom>
            <a:solidFill>
              <a:srgbClr val="EAFF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63" name="Google Shape;163;p9" title="ícono de actividad en clase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09750" y="2610275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4" name="Google Shape;164;p9"/>
          <p:cNvSpPr txBox="1"/>
          <p:nvPr/>
        </p:nvSpPr>
        <p:spPr>
          <a:xfrm>
            <a:off x="5029700" y="3536625"/>
            <a:ext cx="31806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s" sz="1350" u="none" cap="none" strike="noStrike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rPr>
              <a:t>Imagen: Ejemplo genérico</a:t>
            </a:r>
            <a:endParaRPr b="1" i="0" sz="1350" u="none" cap="none" strike="noStrike">
              <a:solidFill>
                <a:srgbClr val="999999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65" name="Google Shape;165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1656" y="1202613"/>
            <a:ext cx="4386094" cy="23004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0"/>
          <p:cNvSpPr txBox="1"/>
          <p:nvPr/>
        </p:nvSpPr>
        <p:spPr>
          <a:xfrm>
            <a:off x="1461288" y="2202300"/>
            <a:ext cx="6221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" sz="40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SEO</a:t>
            </a:r>
            <a:endParaRPr b="1" i="0" sz="4000" u="none" cap="none" strike="noStrike">
              <a:solidFill>
                <a:schemeClr val="accent6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2"/>
          <p:cNvSpPr txBox="1"/>
          <p:nvPr/>
        </p:nvSpPr>
        <p:spPr>
          <a:xfrm>
            <a:off x="1447300" y="537575"/>
            <a:ext cx="7169400" cy="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s" sz="35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Ejemplo en vivo</a:t>
            </a:r>
            <a:endParaRPr b="1" i="0" sz="35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6" name="Google Shape;176;p12"/>
          <p:cNvSpPr txBox="1"/>
          <p:nvPr/>
        </p:nvSpPr>
        <p:spPr>
          <a:xfrm>
            <a:off x="475500" y="1474850"/>
            <a:ext cx="71694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rgbClr val="B7B7B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" sz="2500" u="none" cap="none" strike="noStrike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Ajustes de código para el aporte al SEO desde el proyecto</a:t>
            </a:r>
            <a:endParaRPr b="0" i="0" sz="2500" u="none" cap="none" strike="noStrike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1" i="0" sz="2500" u="none" cap="none" strike="noStrike">
              <a:solidFill>
                <a:srgbClr val="B7B7B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177" name="Google Shape;177;p12"/>
          <p:cNvGrpSpPr/>
          <p:nvPr/>
        </p:nvGrpSpPr>
        <p:grpSpPr>
          <a:xfrm>
            <a:off x="475501" y="468273"/>
            <a:ext cx="738900" cy="738900"/>
            <a:chOff x="473351" y="619523"/>
            <a:chExt cx="738900" cy="738900"/>
          </a:xfrm>
        </p:grpSpPr>
        <p:sp>
          <p:nvSpPr>
            <p:cNvPr id="178" name="Google Shape;178;p12"/>
            <p:cNvSpPr/>
            <p:nvPr/>
          </p:nvSpPr>
          <p:spPr>
            <a:xfrm>
              <a:off x="473351" y="619523"/>
              <a:ext cx="738900" cy="73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79" name="Google Shape;179;p12" title="ícono de ejemplo en vivo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16475" y="762650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0" name="Google Shape;180;p12"/>
          <p:cNvSpPr txBox="1"/>
          <p:nvPr/>
        </p:nvSpPr>
        <p:spPr>
          <a:xfrm>
            <a:off x="475500" y="3829300"/>
            <a:ext cx="7169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" sz="2000" u="none" cap="none" strike="noStrike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Duración: </a:t>
            </a:r>
            <a:r>
              <a:rPr b="1" i="0" lang="es" sz="2000" u="none" cap="none" strike="noStrike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15 minutos</a:t>
            </a:r>
            <a:endParaRPr b="1" i="0" sz="2000" u="none" cap="none" strike="noStrike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81" name="Google Shape;181;p12"/>
          <p:cNvGrpSpPr/>
          <p:nvPr/>
        </p:nvGrpSpPr>
        <p:grpSpPr>
          <a:xfrm>
            <a:off x="0" y="-7400"/>
            <a:ext cx="9143925" cy="44400"/>
            <a:chOff x="0" y="-7400"/>
            <a:chExt cx="9143925" cy="44400"/>
          </a:xfrm>
        </p:grpSpPr>
        <p:sp>
          <p:nvSpPr>
            <p:cNvPr id="182" name="Google Shape;182;p12"/>
            <p:cNvSpPr/>
            <p:nvPr/>
          </p:nvSpPr>
          <p:spPr>
            <a:xfrm>
              <a:off x="5846625" y="-7400"/>
              <a:ext cx="3297300" cy="4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83" name="Google Shape;183;p12"/>
            <p:cNvSpPr/>
            <p:nvPr/>
          </p:nvSpPr>
          <p:spPr>
            <a:xfrm>
              <a:off x="0" y="-7400"/>
              <a:ext cx="5846700" cy="444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8" name="Google Shape;188;p13"/>
          <p:cNvGrpSpPr/>
          <p:nvPr/>
        </p:nvGrpSpPr>
        <p:grpSpPr>
          <a:xfrm>
            <a:off x="4202556" y="994173"/>
            <a:ext cx="738900" cy="738900"/>
            <a:chOff x="974706" y="2467173"/>
            <a:chExt cx="738900" cy="738900"/>
          </a:xfrm>
        </p:grpSpPr>
        <p:sp>
          <p:nvSpPr>
            <p:cNvPr id="189" name="Google Shape;189;p13"/>
            <p:cNvSpPr/>
            <p:nvPr/>
          </p:nvSpPr>
          <p:spPr>
            <a:xfrm>
              <a:off x="974706" y="2467173"/>
              <a:ext cx="738900" cy="73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90" name="Google Shape;190;p13" title="ícono de actividad en clase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09750" y="2610275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1" name="Google Shape;191;p13"/>
          <p:cNvSpPr txBox="1"/>
          <p:nvPr/>
        </p:nvSpPr>
        <p:spPr>
          <a:xfrm>
            <a:off x="1461300" y="2208625"/>
            <a:ext cx="6221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" sz="4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Aplicando SEO</a:t>
            </a:r>
            <a:endParaRPr b="1" i="0" sz="4000" u="none" cap="none" strike="noStrike">
              <a:solidFill>
                <a:schemeClr val="dk1"/>
              </a:solidFill>
              <a:highlight>
                <a:srgbClr val="EAFF6A"/>
              </a:highlight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2" name="Google Shape;192;p13"/>
          <p:cNvSpPr txBox="1"/>
          <p:nvPr/>
        </p:nvSpPr>
        <p:spPr>
          <a:xfrm>
            <a:off x="987263" y="3818588"/>
            <a:ext cx="7169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" sz="2000" u="none" cap="none" strike="noStrike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Duración: </a:t>
            </a:r>
            <a:r>
              <a:rPr b="1" i="0" lang="es" sz="2000" u="none" cap="none" strike="noStrike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15 minutos</a:t>
            </a:r>
            <a:endParaRPr b="1" i="0" sz="2000" u="none" cap="none" strike="noStrike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93" name="Google Shape;193;p13"/>
          <p:cNvGrpSpPr/>
          <p:nvPr/>
        </p:nvGrpSpPr>
        <p:grpSpPr>
          <a:xfrm>
            <a:off x="0" y="-7400"/>
            <a:ext cx="9143925" cy="44400"/>
            <a:chOff x="0" y="-7400"/>
            <a:chExt cx="9143925" cy="44400"/>
          </a:xfrm>
        </p:grpSpPr>
        <p:sp>
          <p:nvSpPr>
            <p:cNvPr id="194" name="Google Shape;194;p13"/>
            <p:cNvSpPr/>
            <p:nvPr/>
          </p:nvSpPr>
          <p:spPr>
            <a:xfrm>
              <a:off x="5846625" y="-7400"/>
              <a:ext cx="3297300" cy="4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95" name="Google Shape;195;p13"/>
            <p:cNvSpPr/>
            <p:nvPr/>
          </p:nvSpPr>
          <p:spPr>
            <a:xfrm>
              <a:off x="0" y="-7400"/>
              <a:ext cx="5846700" cy="444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24525" y="0"/>
            <a:ext cx="3719483" cy="51435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1" name="Google Shape;201;p14"/>
          <p:cNvGrpSpPr/>
          <p:nvPr/>
        </p:nvGrpSpPr>
        <p:grpSpPr>
          <a:xfrm>
            <a:off x="457347" y="468298"/>
            <a:ext cx="431074" cy="431074"/>
            <a:chOff x="974706" y="2467173"/>
            <a:chExt cx="738900" cy="738900"/>
          </a:xfrm>
        </p:grpSpPr>
        <p:sp>
          <p:nvSpPr>
            <p:cNvPr id="202" name="Google Shape;202;p14"/>
            <p:cNvSpPr/>
            <p:nvPr/>
          </p:nvSpPr>
          <p:spPr>
            <a:xfrm>
              <a:off x="974706" y="2467173"/>
              <a:ext cx="738900" cy="73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03" name="Google Shape;203;p14" title="ícono de actividad en clase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109750" y="2610275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4" name="Google Shape;204;p14"/>
          <p:cNvSpPr txBox="1"/>
          <p:nvPr/>
        </p:nvSpPr>
        <p:spPr>
          <a:xfrm>
            <a:off x="501450" y="1081750"/>
            <a:ext cx="4987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" sz="4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Aplicando SEO</a:t>
            </a:r>
            <a:endParaRPr b="1" i="0" sz="40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205" name="Google Shape;205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4"/>
          <p:cNvSpPr txBox="1"/>
          <p:nvPr/>
        </p:nvSpPr>
        <p:spPr>
          <a:xfrm>
            <a:off x="501450" y="2505200"/>
            <a:ext cx="4127700" cy="14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s" sz="135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Descripción de la actividad. </a:t>
            </a:r>
            <a:endParaRPr b="1" i="0" sz="135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Un cliente te solicita ayuda para dar a conocer su método </a:t>
            </a:r>
            <a:r>
              <a:rPr b="1"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“Ejercicios desde casa”</a:t>
            </a: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Tu tarea es </a:t>
            </a:r>
            <a:r>
              <a:rPr b="1"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crear una página sobre “Consejos para hacer ejercicio en casa”</a:t>
            </a: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aplicando las prácticas básicas de SEO vistas en clase.</a:t>
            </a:r>
            <a:endParaRPr sz="135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07" name="Google Shape;207;p14"/>
          <p:cNvSpPr txBox="1"/>
          <p:nvPr/>
        </p:nvSpPr>
        <p:spPr>
          <a:xfrm>
            <a:off x="930550" y="468275"/>
            <a:ext cx="2461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" sz="16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ACTIVIDAD</a:t>
            </a:r>
            <a:endParaRPr b="0" i="0" sz="14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208" name="Google Shape;208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14"/>
          <p:cNvSpPr txBox="1"/>
          <p:nvPr/>
        </p:nvSpPr>
        <p:spPr>
          <a:xfrm>
            <a:off x="501450" y="4649063"/>
            <a:ext cx="6631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" sz="1100" u="none" cap="none" strike="noStrike">
                <a:solidFill>
                  <a:srgbClr val="595959"/>
                </a:solidFill>
                <a:latin typeface="DM Sans"/>
                <a:ea typeface="DM Sans"/>
                <a:cs typeface="DM Sans"/>
                <a:sym typeface="DM Sans"/>
              </a:rPr>
              <a:t>Fuente de la imagen: </a:t>
            </a:r>
            <a:r>
              <a:rPr b="0" i="0" lang="es" sz="1100" u="sng" cap="none" strike="noStrike">
                <a:solidFill>
                  <a:srgbClr val="83AEFB"/>
                </a:solidFill>
                <a:latin typeface="DM Sans"/>
                <a:ea typeface="DM Sans"/>
                <a:cs typeface="DM Sans"/>
                <a:sym typeface="DM Sans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Amza Andrei</a:t>
            </a:r>
            <a:endParaRPr b="0" i="0" sz="1100" u="none" cap="none" strike="noStrike">
              <a:solidFill>
                <a:srgbClr val="595959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g39b6b768491_0_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24525" y="0"/>
            <a:ext cx="371948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g39b6b768491_0_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g39b6b768491_0_29"/>
          <p:cNvSpPr txBox="1"/>
          <p:nvPr/>
        </p:nvSpPr>
        <p:spPr>
          <a:xfrm>
            <a:off x="217650" y="297050"/>
            <a:ext cx="4808400" cy="47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Instrucciones:</a:t>
            </a:r>
            <a:endParaRPr b="1" sz="11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🏷️ Usá una </a:t>
            </a:r>
            <a:r>
              <a:rPr b="1" lang="es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estructura jerárquica de encabezados</a:t>
            </a:r>
            <a:r>
              <a:rPr lang="es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clara (</a:t>
            </a:r>
            <a:r>
              <a:rPr lang="es" sz="11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&lt;h1&gt;</a:t>
            </a:r>
            <a:r>
              <a:rPr lang="es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lang="es" sz="11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&lt;h2&gt;</a:t>
            </a:r>
            <a:r>
              <a:rPr lang="es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lang="es" sz="11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&lt;h3&gt;</a:t>
            </a:r>
            <a:r>
              <a:rPr lang="es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) para organizar el contenido.</a:t>
            </a:r>
            <a:br>
              <a:rPr lang="es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sz="11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✍️ Redactá un </a:t>
            </a:r>
            <a:r>
              <a:rPr b="1" lang="es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título (</a:t>
            </a:r>
            <a:r>
              <a:rPr b="1" lang="es" sz="11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&lt;title&gt;</a:t>
            </a:r>
            <a:r>
              <a:rPr b="1" lang="es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)</a:t>
            </a:r>
            <a:r>
              <a:rPr lang="es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y una </a:t>
            </a:r>
            <a:r>
              <a:rPr b="1" lang="es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meta descripción (</a:t>
            </a:r>
            <a:r>
              <a:rPr b="1" lang="es" sz="11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&lt;meta name="description"&gt;</a:t>
            </a:r>
            <a:r>
              <a:rPr b="1" lang="es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)</a:t>
            </a:r>
            <a:r>
              <a:rPr lang="es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atractiva, que incluyan palabras clave relacionadas con el tema.</a:t>
            </a:r>
            <a:br>
              <a:rPr lang="es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sz="11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🖼️ Agregá </a:t>
            </a:r>
            <a:r>
              <a:rPr b="1" lang="es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imágenes optimizadas</a:t>
            </a:r>
            <a:r>
              <a:rPr lang="es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y asegurate de incluir en todas un </a:t>
            </a:r>
            <a:r>
              <a:rPr b="1" lang="es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atributo </a:t>
            </a:r>
            <a:r>
              <a:rPr b="1" lang="es" sz="11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alt</a:t>
            </a:r>
            <a:r>
              <a:rPr b="1" lang="es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descriptivo</a:t>
            </a:r>
            <a:r>
              <a:rPr lang="es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útil tanto para accesibilidad como para SEO.</a:t>
            </a:r>
            <a:br>
              <a:rPr lang="es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sz="11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🔗 Usá </a:t>
            </a:r>
            <a:r>
              <a:rPr b="1" lang="es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etiquetas semánticas</a:t>
            </a:r>
            <a:r>
              <a:rPr lang="es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(</a:t>
            </a:r>
            <a:r>
              <a:rPr lang="es" sz="11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&lt;header&gt;</a:t>
            </a:r>
            <a:r>
              <a:rPr lang="es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lang="es" sz="11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&lt;main&gt;</a:t>
            </a:r>
            <a:r>
              <a:rPr lang="es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lang="es" sz="11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&lt;section&gt;</a:t>
            </a:r>
            <a:r>
              <a:rPr lang="es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lang="es" sz="11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&lt;footer&gt;</a:t>
            </a:r>
            <a:r>
              <a:rPr lang="es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) para mejorar la estructura del documento.</a:t>
            </a:r>
            <a:br>
              <a:rPr lang="es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sz="11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⚙️ Verificá que tu código sea </a:t>
            </a:r>
            <a:r>
              <a:rPr b="1" lang="es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válido y accesible</a:t>
            </a:r>
            <a:r>
              <a:rPr lang="es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usando herramientas como el Validador del W3C.</a:t>
            </a:r>
            <a:endParaRPr sz="11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💡 </a:t>
            </a:r>
            <a:r>
              <a:rPr b="1" lang="es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Objetivo:</a:t>
            </a:r>
            <a:r>
              <a:rPr lang="es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aplicar SEO desde el código para mejorar la visibilidad, accesibilidad y legibilidad de tu página, simulando un caso real de optimización para un cliente.</a:t>
            </a:r>
            <a:endParaRPr b="1" sz="1350"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217" name="Google Shape;217;g39b6b768491_0_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Google Shape;22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3" name="Google Shape;223;p15"/>
          <p:cNvGrpSpPr/>
          <p:nvPr/>
        </p:nvGrpSpPr>
        <p:grpSpPr>
          <a:xfrm>
            <a:off x="4243306" y="1320073"/>
            <a:ext cx="738900" cy="738900"/>
            <a:chOff x="974706" y="2467173"/>
            <a:chExt cx="738900" cy="738900"/>
          </a:xfrm>
        </p:grpSpPr>
        <p:sp>
          <p:nvSpPr>
            <p:cNvPr id="224" name="Google Shape;224;p15"/>
            <p:cNvSpPr/>
            <p:nvPr/>
          </p:nvSpPr>
          <p:spPr>
            <a:xfrm>
              <a:off x="974706" y="2467173"/>
              <a:ext cx="738900" cy="73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25" name="Google Shape;225;p15" title="ícono de actividad en clase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109750" y="2610275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26" name="Google Shape;226;p15"/>
          <p:cNvSpPr txBox="1"/>
          <p:nvPr/>
        </p:nvSpPr>
        <p:spPr>
          <a:xfrm>
            <a:off x="1502050" y="2406788"/>
            <a:ext cx="6221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" sz="4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Puesta en común</a:t>
            </a:r>
            <a:endParaRPr b="1" i="0" sz="4000" u="none" cap="none" strike="noStrike">
              <a:solidFill>
                <a:schemeClr val="dk1"/>
              </a:solidFill>
              <a:highlight>
                <a:srgbClr val="EAFF6A"/>
              </a:highlight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7" name="Google Shape;227;p15"/>
          <p:cNvSpPr txBox="1"/>
          <p:nvPr/>
        </p:nvSpPr>
        <p:spPr>
          <a:xfrm>
            <a:off x="2179625" y="3493500"/>
            <a:ext cx="5061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" sz="2000" u="none" cap="none" strike="noStrike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Duración: </a:t>
            </a:r>
            <a:r>
              <a:rPr b="1" i="0" lang="es" sz="2000" u="none" cap="none" strike="noStrike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5 minutos</a:t>
            </a:r>
            <a:endParaRPr b="1" i="0" sz="2000" u="none" cap="none" strike="noStrike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6"/>
          <p:cNvSpPr txBox="1"/>
          <p:nvPr/>
        </p:nvSpPr>
        <p:spPr>
          <a:xfrm>
            <a:off x="1461300" y="1598325"/>
            <a:ext cx="6221400" cy="14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s" sz="5000" u="none" cap="none" strike="noStrike">
                <a:solidFill>
                  <a:srgbClr val="E8E7E3"/>
                </a:solidFill>
                <a:latin typeface="Arial"/>
                <a:ea typeface="Arial"/>
                <a:cs typeface="Arial"/>
                <a:sym typeface="Arial"/>
              </a:rPr>
              <a:t>☕</a:t>
            </a:r>
            <a:endParaRPr b="0" i="0" sz="5000" u="none" cap="none" strike="noStrike">
              <a:solidFill>
                <a:srgbClr val="E8E7E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" sz="4000" u="none" cap="none" strike="noStrike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Break</a:t>
            </a:r>
            <a:endParaRPr b="1" i="0" sz="4000" u="none" cap="none" strike="noStrik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33" name="Google Shape;233;p16"/>
          <p:cNvSpPr txBox="1"/>
          <p:nvPr/>
        </p:nvSpPr>
        <p:spPr>
          <a:xfrm>
            <a:off x="2809200" y="2971950"/>
            <a:ext cx="3525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" sz="20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¡En unos minutos volvemos!</a:t>
            </a:r>
            <a:endParaRPr b="0" i="0" sz="2000" u="none" cap="none" strike="noStrik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8"/>
          <p:cNvSpPr txBox="1"/>
          <p:nvPr/>
        </p:nvSpPr>
        <p:spPr>
          <a:xfrm>
            <a:off x="1447300" y="537575"/>
            <a:ext cx="7169400" cy="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s" sz="35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Ejemplo en vivo</a:t>
            </a:r>
            <a:endParaRPr b="1" i="0" sz="35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39" name="Google Shape;239;p18"/>
          <p:cNvSpPr txBox="1"/>
          <p:nvPr/>
        </p:nvSpPr>
        <p:spPr>
          <a:xfrm>
            <a:off x="475500" y="1474850"/>
            <a:ext cx="7169400" cy="24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rgbClr val="B7B7B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" sz="2500" u="none" cap="none" strike="noStrike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Contratar un hosting, la búsqueda de disponibilidad de dominios, delegación y transferencia de dominios cuando hay que alojarlos en nuestro hosting. </a:t>
            </a:r>
            <a:endParaRPr b="0" i="0" sz="2500" u="none" cap="none" strike="noStrike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1" i="0" sz="2500" u="none" cap="none" strike="noStrike">
              <a:solidFill>
                <a:srgbClr val="B7B7B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240" name="Google Shape;240;p18"/>
          <p:cNvGrpSpPr/>
          <p:nvPr/>
        </p:nvGrpSpPr>
        <p:grpSpPr>
          <a:xfrm>
            <a:off x="475501" y="468273"/>
            <a:ext cx="738900" cy="738900"/>
            <a:chOff x="473351" y="619523"/>
            <a:chExt cx="738900" cy="738900"/>
          </a:xfrm>
        </p:grpSpPr>
        <p:sp>
          <p:nvSpPr>
            <p:cNvPr id="241" name="Google Shape;241;p18"/>
            <p:cNvSpPr/>
            <p:nvPr/>
          </p:nvSpPr>
          <p:spPr>
            <a:xfrm>
              <a:off x="473351" y="619523"/>
              <a:ext cx="738900" cy="73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42" name="Google Shape;242;p18" title="ícono de ejemplo en vivo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16475" y="762650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3" name="Google Shape;243;p18"/>
          <p:cNvSpPr txBox="1"/>
          <p:nvPr/>
        </p:nvSpPr>
        <p:spPr>
          <a:xfrm>
            <a:off x="475500" y="3829300"/>
            <a:ext cx="7169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" sz="2000" u="none" cap="none" strike="noStrike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Duración: </a:t>
            </a:r>
            <a:r>
              <a:rPr b="1" i="0" lang="es" sz="2000" u="none" cap="none" strike="noStrike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15 minutos</a:t>
            </a:r>
            <a:endParaRPr b="1" i="0" sz="2000" u="none" cap="none" strike="noStrike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244" name="Google Shape;244;p18"/>
          <p:cNvGrpSpPr/>
          <p:nvPr/>
        </p:nvGrpSpPr>
        <p:grpSpPr>
          <a:xfrm>
            <a:off x="0" y="-7400"/>
            <a:ext cx="9143925" cy="44400"/>
            <a:chOff x="0" y="-7400"/>
            <a:chExt cx="9143925" cy="44400"/>
          </a:xfrm>
        </p:grpSpPr>
        <p:sp>
          <p:nvSpPr>
            <p:cNvPr id="245" name="Google Shape;245;p18"/>
            <p:cNvSpPr/>
            <p:nvPr/>
          </p:nvSpPr>
          <p:spPr>
            <a:xfrm>
              <a:off x="5846625" y="-7400"/>
              <a:ext cx="3297300" cy="4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46" name="Google Shape;246;p18"/>
            <p:cNvSpPr/>
            <p:nvPr/>
          </p:nvSpPr>
          <p:spPr>
            <a:xfrm>
              <a:off x="0" y="-7400"/>
              <a:ext cx="5846700" cy="444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9"/>
          <p:cNvSpPr txBox="1"/>
          <p:nvPr/>
        </p:nvSpPr>
        <p:spPr>
          <a:xfrm>
            <a:off x="1447300" y="537575"/>
            <a:ext cx="7169400" cy="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s" sz="35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Ejemplo en vivo</a:t>
            </a:r>
            <a:endParaRPr b="1" i="0" sz="35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52" name="Google Shape;252;p19"/>
          <p:cNvSpPr txBox="1"/>
          <p:nvPr/>
        </p:nvSpPr>
        <p:spPr>
          <a:xfrm>
            <a:off x="475500" y="1474850"/>
            <a:ext cx="7169400" cy="27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" sz="2500" u="none" cap="none" strike="noStrike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Utilizando un host gratuito</a:t>
            </a:r>
            <a:r>
              <a:rPr lang="es" sz="25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,</a:t>
            </a:r>
            <a:r>
              <a:rPr b="0" i="0" lang="es" sz="2500" u="none" cap="none" strike="noStrike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mostrar las funcionalidades y formas de cargar nuestro proyecto</a:t>
            </a:r>
            <a:r>
              <a:rPr lang="es" sz="25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sz="25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5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Utilizamos GithubPages, Netlify o Vercel.</a:t>
            </a:r>
            <a:endParaRPr sz="26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5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Plataformas estándar en desarrollo web actual, fáciles de usar y con integración CI/CD.</a:t>
            </a:r>
            <a:endParaRPr b="1" i="0" sz="2500" u="none" cap="none" strike="noStrike">
              <a:solidFill>
                <a:srgbClr val="B7B7B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253" name="Google Shape;253;p19"/>
          <p:cNvGrpSpPr/>
          <p:nvPr/>
        </p:nvGrpSpPr>
        <p:grpSpPr>
          <a:xfrm>
            <a:off x="475501" y="468273"/>
            <a:ext cx="738900" cy="738900"/>
            <a:chOff x="473351" y="619523"/>
            <a:chExt cx="738900" cy="738900"/>
          </a:xfrm>
        </p:grpSpPr>
        <p:sp>
          <p:nvSpPr>
            <p:cNvPr id="254" name="Google Shape;254;p19"/>
            <p:cNvSpPr/>
            <p:nvPr/>
          </p:nvSpPr>
          <p:spPr>
            <a:xfrm>
              <a:off x="473351" y="619523"/>
              <a:ext cx="738900" cy="73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55" name="Google Shape;255;p19" title="ícono de ejemplo en vivo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16475" y="762650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56" name="Google Shape;256;p19"/>
          <p:cNvSpPr txBox="1"/>
          <p:nvPr/>
        </p:nvSpPr>
        <p:spPr>
          <a:xfrm>
            <a:off x="369075" y="4591050"/>
            <a:ext cx="7169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" sz="2000" u="none" cap="none" strike="noStrike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Duración: </a:t>
            </a:r>
            <a:r>
              <a:rPr b="1" i="0" lang="es" sz="2000" u="none" cap="none" strike="noStrike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10 minutos</a:t>
            </a:r>
            <a:endParaRPr b="1" i="0" sz="2000" u="none" cap="none" strike="noStrike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257" name="Google Shape;257;p19"/>
          <p:cNvGrpSpPr/>
          <p:nvPr/>
        </p:nvGrpSpPr>
        <p:grpSpPr>
          <a:xfrm>
            <a:off x="0" y="-7400"/>
            <a:ext cx="9143925" cy="44400"/>
            <a:chOff x="0" y="-7400"/>
            <a:chExt cx="9143925" cy="44400"/>
          </a:xfrm>
        </p:grpSpPr>
        <p:sp>
          <p:nvSpPr>
            <p:cNvPr id="258" name="Google Shape;258;p19"/>
            <p:cNvSpPr/>
            <p:nvPr/>
          </p:nvSpPr>
          <p:spPr>
            <a:xfrm>
              <a:off x="5846625" y="-7400"/>
              <a:ext cx="3297300" cy="4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59" name="Google Shape;259;p19"/>
            <p:cNvSpPr/>
            <p:nvPr/>
          </p:nvSpPr>
          <p:spPr>
            <a:xfrm>
              <a:off x="0" y="-7400"/>
              <a:ext cx="5846700" cy="444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4" name="Google Shape;264;p20"/>
          <p:cNvGrpSpPr/>
          <p:nvPr/>
        </p:nvGrpSpPr>
        <p:grpSpPr>
          <a:xfrm>
            <a:off x="4202556" y="994173"/>
            <a:ext cx="738900" cy="738900"/>
            <a:chOff x="974706" y="2467173"/>
            <a:chExt cx="738900" cy="738900"/>
          </a:xfrm>
        </p:grpSpPr>
        <p:sp>
          <p:nvSpPr>
            <p:cNvPr id="265" name="Google Shape;265;p20"/>
            <p:cNvSpPr/>
            <p:nvPr/>
          </p:nvSpPr>
          <p:spPr>
            <a:xfrm>
              <a:off x="974706" y="2467173"/>
              <a:ext cx="738900" cy="73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66" name="Google Shape;266;p20" title="ícono de actividad en clase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09750" y="2610275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67" name="Google Shape;267;p20"/>
          <p:cNvSpPr txBox="1"/>
          <p:nvPr/>
        </p:nvSpPr>
        <p:spPr>
          <a:xfrm>
            <a:off x="1461300" y="2208625"/>
            <a:ext cx="6221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" sz="4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Cargando tu proyecto</a:t>
            </a:r>
            <a:endParaRPr b="1" i="0" sz="4000" u="none" cap="none" strike="noStrike">
              <a:solidFill>
                <a:schemeClr val="dk1"/>
              </a:solidFill>
              <a:highlight>
                <a:srgbClr val="EAFF6A"/>
              </a:highlight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68" name="Google Shape;268;p20"/>
          <p:cNvSpPr txBox="1"/>
          <p:nvPr/>
        </p:nvSpPr>
        <p:spPr>
          <a:xfrm>
            <a:off x="987263" y="3818588"/>
            <a:ext cx="7169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" sz="2000" u="none" cap="none" strike="noStrike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Duración: </a:t>
            </a:r>
            <a:r>
              <a:rPr b="1" i="0" lang="es" sz="2000" u="none" cap="none" strike="noStrike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10 minutos</a:t>
            </a:r>
            <a:endParaRPr b="1" i="0" sz="2000" u="none" cap="none" strike="noStrike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269" name="Google Shape;269;p20"/>
          <p:cNvGrpSpPr/>
          <p:nvPr/>
        </p:nvGrpSpPr>
        <p:grpSpPr>
          <a:xfrm>
            <a:off x="0" y="-7400"/>
            <a:ext cx="9143925" cy="44400"/>
            <a:chOff x="0" y="-7400"/>
            <a:chExt cx="9143925" cy="44400"/>
          </a:xfrm>
        </p:grpSpPr>
        <p:sp>
          <p:nvSpPr>
            <p:cNvPr id="270" name="Google Shape;270;p20"/>
            <p:cNvSpPr/>
            <p:nvPr/>
          </p:nvSpPr>
          <p:spPr>
            <a:xfrm>
              <a:off x="5846625" y="-7400"/>
              <a:ext cx="3297300" cy="4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71" name="Google Shape;271;p20"/>
            <p:cNvSpPr/>
            <p:nvPr/>
          </p:nvSpPr>
          <p:spPr>
            <a:xfrm>
              <a:off x="0" y="-7400"/>
              <a:ext cx="5846700" cy="444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" name="Google Shape;27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24525" y="0"/>
            <a:ext cx="3719483" cy="51435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7" name="Google Shape;277;p21"/>
          <p:cNvGrpSpPr/>
          <p:nvPr/>
        </p:nvGrpSpPr>
        <p:grpSpPr>
          <a:xfrm>
            <a:off x="204606" y="60366"/>
            <a:ext cx="431074" cy="431074"/>
            <a:chOff x="974706" y="2467173"/>
            <a:chExt cx="738900" cy="738900"/>
          </a:xfrm>
        </p:grpSpPr>
        <p:sp>
          <p:nvSpPr>
            <p:cNvPr id="278" name="Google Shape;278;p21"/>
            <p:cNvSpPr/>
            <p:nvPr/>
          </p:nvSpPr>
          <p:spPr>
            <a:xfrm>
              <a:off x="974706" y="2467173"/>
              <a:ext cx="738900" cy="73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79" name="Google Shape;279;p21" title="ícono de actividad en clase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109750" y="2610275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80" name="Google Shape;280;p21"/>
          <p:cNvSpPr txBox="1"/>
          <p:nvPr/>
        </p:nvSpPr>
        <p:spPr>
          <a:xfrm>
            <a:off x="182175" y="432158"/>
            <a:ext cx="4987200" cy="6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" sz="3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Cargando tu proyecto</a:t>
            </a:r>
            <a:endParaRPr b="1" i="0" sz="34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281" name="Google Shape;281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21"/>
          <p:cNvSpPr txBox="1"/>
          <p:nvPr/>
        </p:nvSpPr>
        <p:spPr>
          <a:xfrm>
            <a:off x="31275" y="1161696"/>
            <a:ext cx="5289000" cy="37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Llegó el momento de </a:t>
            </a:r>
            <a:r>
              <a:rPr b="1" lang="es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publicar tu proyecto y verlo online</a:t>
            </a:r>
            <a:r>
              <a:rPr lang="es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br>
              <a:rPr lang="es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r>
              <a:rPr lang="es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Vas a cargar tu sitio en un </a:t>
            </a:r>
            <a:r>
              <a:rPr b="1" lang="es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hosting gratuito moderno</a:t>
            </a:r>
            <a:r>
              <a:rPr lang="es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para que cualquier persona pueda acceder desde Internet.</a:t>
            </a:r>
            <a:endParaRPr sz="11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🔹 Pasos sugeridos:</a:t>
            </a:r>
            <a:endParaRPr b="1" sz="13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s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Subí tu proyecto a GitHub</a:t>
            </a:r>
            <a:r>
              <a:rPr lang="es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si aún no lo hiciste.</a:t>
            </a:r>
            <a:endParaRPr sz="11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s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Conectá tu repositorio con un servicio de hosting gratuito</a:t>
            </a:r>
            <a:r>
              <a:rPr lang="es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endParaRPr sz="11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s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Realizá el deploy automático:</a:t>
            </a:r>
            <a:r>
              <a:rPr lang="es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cada vez que hagas un </a:t>
            </a:r>
            <a:r>
              <a:rPr i="1" lang="es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push</a:t>
            </a:r>
            <a:r>
              <a:rPr lang="es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en GitHub, tu sitio se actualizará en línea automáticamente.</a:t>
            </a:r>
            <a:br>
              <a:rPr lang="es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r>
              <a:rPr lang="es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(Esto se conoce como un flujo básico de </a:t>
            </a:r>
            <a:r>
              <a:rPr b="1" lang="es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CI/CD — Integración y Despliegue Continuo</a:t>
            </a:r>
            <a:r>
              <a:rPr lang="es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).</a:t>
            </a:r>
            <a:endParaRPr sz="11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s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Verificá que tu sitio cargue correctamente</a:t>
            </a:r>
            <a:r>
              <a:rPr lang="es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en distintas pantallas (celular, tablet y PC).</a:t>
            </a:r>
            <a:br>
              <a:rPr lang="es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sz="11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💡 </a:t>
            </a:r>
            <a:r>
              <a:rPr b="1" lang="es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Objetivo:</a:t>
            </a:r>
            <a:r>
              <a:rPr lang="es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aprender cómo funcionan los flujos modernos de publicación web y entender cómo se automatiza la actualización del sitio al subir cambios desde el repositorio.</a:t>
            </a:r>
            <a:endParaRPr b="1" sz="135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83" name="Google Shape;283;p21"/>
          <p:cNvSpPr txBox="1"/>
          <p:nvPr/>
        </p:nvSpPr>
        <p:spPr>
          <a:xfrm>
            <a:off x="677809" y="60342"/>
            <a:ext cx="2461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" sz="16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ACTIVIDAD</a:t>
            </a:r>
            <a:endParaRPr b="0" i="0" sz="14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284" name="Google Shape;284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3"/>
          <p:cNvSpPr txBox="1"/>
          <p:nvPr/>
        </p:nvSpPr>
        <p:spPr>
          <a:xfrm>
            <a:off x="508200" y="468275"/>
            <a:ext cx="8127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" sz="4000" u="none" cap="none" strike="noStrike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¡Para no olvidarse!</a:t>
            </a:r>
            <a:endParaRPr b="1" i="0" sz="4000" u="none" cap="none" strike="noStrike">
              <a:solidFill>
                <a:srgbClr val="EAFF6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90" name="Google Shape;290;p23"/>
          <p:cNvSpPr txBox="1"/>
          <p:nvPr/>
        </p:nvSpPr>
        <p:spPr>
          <a:xfrm>
            <a:off x="508200" y="1300425"/>
            <a:ext cx="8127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" sz="20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La próxima semana tendremos se encuentra pautada la entrega del</a:t>
            </a:r>
            <a:r>
              <a:rPr b="0" i="0" lang="es" sz="2000" u="none" cap="none" strike="noStrike">
                <a:solidFill>
                  <a:srgbClr val="FF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1" i="0" lang="es" sz="2000" u="none" cap="none" strike="noStrike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Proyecto Final</a:t>
            </a:r>
            <a:r>
              <a:rPr b="1" i="0" lang="es" sz="20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. </a:t>
            </a:r>
            <a:endParaRPr b="1" i="0" sz="2000" u="none" cap="none" strike="noStrike">
              <a:solidFill>
                <a:srgbClr val="DEFC5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91" name="Google Shape;291;p23" title="gif de persona escribiendo código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56509" y="2979112"/>
            <a:ext cx="2230974" cy="1246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4"/>
          <p:cNvSpPr txBox="1"/>
          <p:nvPr/>
        </p:nvSpPr>
        <p:spPr>
          <a:xfrm>
            <a:off x="1461300" y="1478925"/>
            <a:ext cx="6221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" sz="4000" u="none" cap="none" strike="noStrike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¿Preguntas?</a:t>
            </a:r>
            <a:endParaRPr b="1" i="0" sz="4000" u="none" cap="none" strike="noStrike">
              <a:solidFill>
                <a:srgbClr val="EAFF6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97" name="Google Shape;297;p24"/>
          <p:cNvSpPr txBox="1"/>
          <p:nvPr/>
        </p:nvSpPr>
        <p:spPr>
          <a:xfrm>
            <a:off x="2998200" y="2248575"/>
            <a:ext cx="31476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" sz="20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Te invitamos a abrir el micrófono y compartir tus dudas o ponerlas en el chat.</a:t>
            </a:r>
            <a:endParaRPr b="0" i="0" sz="2000" u="sng" cap="none" strike="noStrike">
              <a:solidFill>
                <a:srgbClr val="83AEFB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7"/>
          <p:cNvSpPr txBox="1"/>
          <p:nvPr/>
        </p:nvSpPr>
        <p:spPr>
          <a:xfrm>
            <a:off x="2109143" y="2502363"/>
            <a:ext cx="4925700" cy="7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4325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AFF6A"/>
              </a:buClr>
              <a:buSzPts val="1350"/>
              <a:buFont typeface="DM Sans"/>
              <a:buChar char="✓"/>
            </a:pPr>
            <a:r>
              <a:rPr b="0" i="0" lang="es" sz="135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SEO: TIpos y usos</a:t>
            </a:r>
            <a:endParaRPr b="0" i="0" sz="1350" u="none" cap="none" strike="noStrik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4325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AFF6A"/>
              </a:buClr>
              <a:buSzPts val="1350"/>
              <a:buFont typeface="DM Sans"/>
              <a:buChar char="✓"/>
            </a:pPr>
            <a:r>
              <a:rPr b="0" i="0" lang="es" sz="135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Hosting</a:t>
            </a:r>
            <a:endParaRPr b="0" i="0" sz="1350" u="none" cap="none" strike="noStrik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03" name="Google Shape;303;p27"/>
          <p:cNvSpPr txBox="1"/>
          <p:nvPr/>
        </p:nvSpPr>
        <p:spPr>
          <a:xfrm>
            <a:off x="1339500" y="693075"/>
            <a:ext cx="6465000" cy="10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" sz="4000" u="none" cap="none" strike="noStrike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Resumen</a:t>
            </a:r>
            <a:r>
              <a:rPr b="1" i="0" lang="es" sz="4000" u="none" cap="none" strike="noStrike">
                <a:solidFill>
                  <a:srgbClr val="DEFC52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b="1" i="0" sz="4000" u="none" cap="none" strike="noStrike">
              <a:solidFill>
                <a:srgbClr val="DEFC5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" sz="40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de la clase hoy</a:t>
            </a:r>
            <a:endParaRPr b="0" i="0" sz="4000" u="none" cap="none" strike="noStrik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9"/>
          <p:cNvSpPr txBox="1"/>
          <p:nvPr/>
        </p:nvSpPr>
        <p:spPr>
          <a:xfrm>
            <a:off x="1461300" y="1925250"/>
            <a:ext cx="62214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" sz="4000" u="none" cap="none" strike="noStrike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Opina y valora</a:t>
            </a:r>
            <a:r>
              <a:rPr b="1" i="0" lang="es" sz="4000" u="none" cap="none" strike="noStrike">
                <a:solidFill>
                  <a:srgbClr val="DEFC52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b="1" i="0" sz="4000" u="none" cap="none" strike="noStrike">
              <a:solidFill>
                <a:srgbClr val="DEFC5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" sz="40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esta clase</a:t>
            </a:r>
            <a:endParaRPr b="1" i="0" sz="4000" u="none" cap="none" strike="noStrik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0"/>
          <p:cNvSpPr txBox="1"/>
          <p:nvPr/>
        </p:nvSpPr>
        <p:spPr>
          <a:xfrm>
            <a:off x="2382900" y="2171550"/>
            <a:ext cx="43782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" sz="40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Muchas gracias</a:t>
            </a:r>
            <a:r>
              <a:rPr b="1" i="0" lang="es" sz="4000" u="none" cap="none" strike="noStrike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b="0" i="0" sz="4000" u="none" cap="none" strike="noStrike">
              <a:solidFill>
                <a:srgbClr val="EAFF6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od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9DF4E2"/>
      </a:accent1>
      <a:accent2>
        <a:srgbClr val="212121"/>
      </a:accent2>
      <a:accent3>
        <a:srgbClr val="78909C"/>
      </a:accent3>
      <a:accent4>
        <a:srgbClr val="EA90FF"/>
      </a:accent4>
      <a:accent5>
        <a:srgbClr val="83AEFB"/>
      </a:accent5>
      <a:accent6>
        <a:srgbClr val="EAFF6A"/>
      </a:accent6>
      <a:hlink>
        <a:srgbClr val="83AEF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Cod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9DF4E2"/>
      </a:accent1>
      <a:accent2>
        <a:srgbClr val="212121"/>
      </a:accent2>
      <a:accent3>
        <a:srgbClr val="78909C"/>
      </a:accent3>
      <a:accent4>
        <a:srgbClr val="EA90FF"/>
      </a:accent4>
      <a:accent5>
        <a:srgbClr val="83AEFB"/>
      </a:accent5>
      <a:accent6>
        <a:srgbClr val="EAFF6A"/>
      </a:accent6>
      <a:hlink>
        <a:srgbClr val="83AEF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