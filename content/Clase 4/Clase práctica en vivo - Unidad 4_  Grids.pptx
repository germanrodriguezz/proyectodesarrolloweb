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Helvetica Neue"/>
      <p:regular r:id="rId38"/>
      <p:bold r:id="rId39"/>
      <p:italic r:id="rId40"/>
      <p:boldItalic r:id="rId41"/>
    </p:embeddedFont>
    <p:embeddedFont>
      <p:font typeface="Helvetica Neue Light"/>
      <p:regular r:id="rId42"/>
      <p:bold r:id="rId43"/>
      <p:italic r:id="rId44"/>
      <p:boldItalic r:id="rId45"/>
    </p:embeddedFont>
    <p:embeddedFont>
      <p:font typeface="Roboto Mono"/>
      <p:regular r:id="rId46"/>
      <p:bold r:id="rId47"/>
      <p:italic r:id="rId48"/>
      <p:boldItalic r:id="rId49"/>
    </p:embeddedFont>
    <p:embeddedFont>
      <p:font typeface="DM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2892">
          <p15:clr>
            <a:srgbClr val="9AA0A6"/>
          </p15:clr>
        </p15:guide>
      </p15:sldGuideLst>
    </p:ext>
    <p:ext uri="GoogleSlidesCustomDataVersion2">
      <go:slidesCustomData xmlns:go="http://customooxmlschemas.google.com/" r:id="rId54" roundtripDataSignature="AMtx7miVd4yx3x84Lw4Y58m6OiBoOoPi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" orient="horz"/>
        <p:guide pos="5460"/>
        <p:guide pos="300"/>
        <p:guide pos="28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italic.fntdata"/><Relationship Id="rId42" Type="http://schemas.openxmlformats.org/officeDocument/2006/relationships/font" Target="fonts/HelveticaNeueLight-regular.fntdata"/><Relationship Id="rId41" Type="http://schemas.openxmlformats.org/officeDocument/2006/relationships/font" Target="fonts/HelveticaNeue-boldItalic.fntdata"/><Relationship Id="rId44" Type="http://schemas.openxmlformats.org/officeDocument/2006/relationships/font" Target="fonts/HelveticaNeueLight-italic.fntdata"/><Relationship Id="rId43" Type="http://schemas.openxmlformats.org/officeDocument/2006/relationships/font" Target="fonts/HelveticaNeueLight-bold.fntdata"/><Relationship Id="rId46" Type="http://schemas.openxmlformats.org/officeDocument/2006/relationships/font" Target="fonts/RobotoMono-regular.fntdata"/><Relationship Id="rId45" Type="http://schemas.openxmlformats.org/officeDocument/2006/relationships/font" Target="fonts/HelveticaNeue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obotoMono-italic.fntdata"/><Relationship Id="rId47" Type="http://schemas.openxmlformats.org/officeDocument/2006/relationships/font" Target="fonts/RobotoMono-bold.fntdata"/><Relationship Id="rId49" Type="http://schemas.openxmlformats.org/officeDocument/2006/relationships/font" Target="fonts/RobotoMon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HelveticaNeue-bold.fntdata"/><Relationship Id="rId38" Type="http://schemas.openxmlformats.org/officeDocument/2006/relationships/font" Target="fonts/HelveticaNeue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DMSans-bold.fntdata"/><Relationship Id="rId50" Type="http://schemas.openxmlformats.org/officeDocument/2006/relationships/font" Target="fonts/DMSans-regular.fntdata"/><Relationship Id="rId53" Type="http://schemas.openxmlformats.org/officeDocument/2006/relationships/font" Target="fonts/DMSans-boldItalic.fntdata"/><Relationship Id="rId52" Type="http://schemas.openxmlformats.org/officeDocument/2006/relationships/font" Target="fonts/DM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Live Session </a:t>
            </a:r>
            <a:r>
              <a:rPr lang="es">
                <a:solidFill>
                  <a:schemeClr val="dk1"/>
                </a:solidFill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(OPCIÓN DASH)</a:t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044e0d7b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8044e0d7b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Nota para el docente: si desean enseñar</a:t>
            </a:r>
            <a:r>
              <a:rPr b="1" lang="es">
                <a:solidFill>
                  <a:schemeClr val="dk1"/>
                </a:solidFill>
              </a:rPr>
              <a:t> mobile-first</a:t>
            </a:r>
            <a:r>
              <a:rPr lang="es">
                <a:solidFill>
                  <a:schemeClr val="dk1"/>
                </a:solidFill>
              </a:rPr>
              <a:t> o </a:t>
            </a:r>
            <a:r>
              <a:rPr b="1" lang="es">
                <a:solidFill>
                  <a:schemeClr val="dk1"/>
                </a:solidFill>
              </a:rPr>
              <a:t>desktop-first</a:t>
            </a:r>
            <a:r>
              <a:rPr lang="es">
                <a:solidFill>
                  <a:schemeClr val="dk1"/>
                </a:solidFill>
              </a:rPr>
              <a:t>, inviertan la lógica. Esto permite mostrar ambos enfoques según el objetivo pedagógico.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41fe9485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841fe9485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6ad2096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2e6ad2096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044e0d7b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8044e0d7b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044e0d7b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8044e0d7b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10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20 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41fe9485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841fe9485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044e0d7b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8044e0d7b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841fe9485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841fe9485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41fe9485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841fe9485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41fe9485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841fe9485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Profesor, organizar los ítems del navbar. considerar los siguientes pasos para compartir: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Identificar la sección de la página que se quiere aplicar grid y determinar cuántas filas y columnas se necesitan para organizar los elementos.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Definir las áreas de la cuadrícula utilizando la propiedad "grid-template-areas", asignando un nombre a cada área y especificando qué elementos pertenecen a cada área.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la propiedad "grid-template-rows" y "grid-template-columns" para establecer el tamaño de las filas y columnas de la cuadrícula.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Asignar los elementos a las áreas correspondientes utilizando la propiedad "grid-area".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Ajustar el espacio entre los elementos utilizando la propiedad "grid-gap".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Probar diferentes combinaciones y ajustes hasta que se logre el diseño deseado. 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Considerar dar 5 o 10 minutos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41fe948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841fe948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10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20 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41fe9485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841fe9485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e24b0dad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8e24b0dad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41fe9485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841fe9485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Profesor: Aquí la idea es dejar en claro cómo se hará la entrega del primer preentregable y resolver todas las dudas que surjan al respecto.</a:t>
            </a:r>
            <a:endParaRPr>
              <a:highlight>
                <a:srgbClr val="EA90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8044e0d7b2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8044e0d7b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9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40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6" name="Google Shape;16;p43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4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8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48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1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2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7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7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9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0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1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6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3" name="Google Shape;43;p5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44" name="Google Shape;44;p52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5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3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4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55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6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56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57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58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59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60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61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hyperlink" Target="https://unsplash.com/es/fotos/cFFEeHNZEqw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jp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hyperlink" Target="https://unsplash.com/es/fotos/Bss5nhYnLKU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hyperlink" Target="https://unsplash.com/es/fotos/Bss5nhYnLKU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¡Les damos la bienvenida!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315900" y="3421350"/>
            <a:ext cx="25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¿Comenzamos?</a:t>
            </a:r>
            <a:endParaRPr b="0" i="0" sz="2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Man Dancing on Apple iOS 12.2" id="71" name="Google Shape;7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3900" y="808750"/>
            <a:ext cx="876200" cy="8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2988" y="3567300"/>
            <a:ext cx="3818026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b="1" i="0" sz="4000" u="none" cap="none" strike="noStrik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3655975" y="2541075"/>
            <a:ext cx="229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2356504" y="1970925"/>
            <a:ext cx="443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Clase práctica en vivo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3124950" y="3082025"/>
            <a:ext cx="289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¿Comenzamos?</a:t>
            </a:r>
            <a:endParaRPr b="0" i="0" sz="135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467600" y="471175"/>
            <a:ext cx="529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DESARROLLO WEB</a:t>
            </a:r>
            <a:endParaRPr b="0" i="0" sz="135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8" name="Google Shape;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988" y="3567300"/>
            <a:ext cx="3818026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/>
        </p:nvSpPr>
        <p:spPr>
          <a:xfrm>
            <a:off x="1461300" y="22529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GRIDS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Unidad </a:t>
            </a: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r>
              <a:rPr b="1" i="0" lang="es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b="0" i="0" lang="es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DESARROLLO WEB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988" y="3567300"/>
            <a:ext cx="3818026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7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01" name="Google Shape;101;p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2" name="Google Shape;102;p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7"/>
          <p:cNvSpPr txBox="1"/>
          <p:nvPr/>
        </p:nvSpPr>
        <p:spPr>
          <a:xfrm>
            <a:off x="1547025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Aplicando Grids </a:t>
            </a: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á</a:t>
            </a: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reas y Media Queries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987300" y="32873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¡Vamos a recuperar lo trabajado durante la semana! </a:t>
            </a:r>
            <a:endParaRPr b="0" i="0" sz="200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800" u="none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6" name="Google Shape;106;p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07" name="Google Shape;107;p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6919" y="-6775"/>
            <a:ext cx="342816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8"/>
          <p:cNvGrpSpPr/>
          <p:nvPr/>
        </p:nvGrpSpPr>
        <p:grpSpPr>
          <a:xfrm>
            <a:off x="475504" y="468236"/>
            <a:ext cx="431074" cy="431148"/>
            <a:chOff x="974706" y="2467173"/>
            <a:chExt cx="738900" cy="738900"/>
          </a:xfrm>
        </p:grpSpPr>
        <p:sp>
          <p:nvSpPr>
            <p:cNvPr id="115" name="Google Shape;115;p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6" name="Google Shape;116;p8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8"/>
          <p:cNvSpPr txBox="1"/>
          <p:nvPr/>
        </p:nvSpPr>
        <p:spPr>
          <a:xfrm>
            <a:off x="431250" y="2220125"/>
            <a:ext cx="49188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Construir un layout clásico con header, nav, main, aside y footer usando CSS Grid, para refrescar la sintaxis y el trabajo con áreas. (Podés aplicarlo a tu proyecto o hacerlo como práctica independiente.)</a:t>
            </a:r>
            <a:endParaRPr b="0" i="0" sz="13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431250" y="977200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Aplicando Grids y Media Queries 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9" name="Google Shape;11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6"/>
              </a:rPr>
              <a:t>Kevin Canlas</a:t>
            </a:r>
            <a:endParaRPr b="0" i="0" sz="11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g38044e0d7b2_0_89"/>
          <p:cNvGrpSpPr/>
          <p:nvPr/>
        </p:nvGrpSpPr>
        <p:grpSpPr>
          <a:xfrm>
            <a:off x="475504" y="468237"/>
            <a:ext cx="431074" cy="431148"/>
            <a:chOff x="974706" y="2467173"/>
            <a:chExt cx="738900" cy="738900"/>
          </a:xfrm>
        </p:grpSpPr>
        <p:sp>
          <p:nvSpPr>
            <p:cNvPr id="127" name="Google Shape;127;g38044e0d7b2_0_89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8" name="Google Shape;128;g38044e0d7b2_0_89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9" name="Google Shape;129;g38044e0d7b2_0_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8044e0d7b2_0_89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1" name="Google Shape;131;g38044e0d7b2_0_89"/>
          <p:cNvSpPr txBox="1"/>
          <p:nvPr/>
        </p:nvSpPr>
        <p:spPr>
          <a:xfrm>
            <a:off x="539850" y="969100"/>
            <a:ext cx="6766200" cy="3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Instrucciones: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HTML: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creá un documento con las cinco secciones semánticas: &lt;header&gt;, &lt;nav&gt;, &lt;main&gt;, &lt;aside&gt;, &lt;footer&gt;.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Grid en el contenedor: 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aplicá display: grid al contenedor padre y definí columnas/filas (ej. 3 columnas en desktop).</a:t>
            </a:r>
            <a:b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Áreas de la grilla: 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usá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grid-template-areas 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asigná cada sección con grid-area.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Distribución inicial (desktop): por ejemplo: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Fila 1: header a lo ancho.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Fila 2: nav (izq.), main (centro), aside (der.).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Fila 3: footer a lo ancho.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Visualización: 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agregá border o background temporales para distinguir cada área.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41fe94856_0_84"/>
          <p:cNvSpPr txBox="1"/>
          <p:nvPr/>
        </p:nvSpPr>
        <p:spPr>
          <a:xfrm>
            <a:off x="1447300" y="8529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g3841fe94856_0_84"/>
          <p:cNvSpPr txBox="1"/>
          <p:nvPr/>
        </p:nvSpPr>
        <p:spPr>
          <a:xfrm>
            <a:off x="475500" y="1905338"/>
            <a:ext cx="7169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2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repasar cómo l</a:t>
            </a:r>
            <a:r>
              <a:rPr lang="es" sz="225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ograr la actividad anterior.</a:t>
            </a:r>
            <a:endParaRPr b="1" i="0" sz="25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38" name="Google Shape;138;g3841fe94856_0_84"/>
          <p:cNvGrpSpPr/>
          <p:nvPr/>
        </p:nvGrpSpPr>
        <p:grpSpPr>
          <a:xfrm>
            <a:off x="475501" y="783623"/>
            <a:ext cx="738900" cy="738900"/>
            <a:chOff x="473351" y="619523"/>
            <a:chExt cx="738900" cy="738900"/>
          </a:xfrm>
        </p:grpSpPr>
        <p:sp>
          <p:nvSpPr>
            <p:cNvPr id="139" name="Google Shape;139;g3841fe94856_0_84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0" name="Google Shape;140;g3841fe94856_0_84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" name="Google Shape;141;g3841fe94856_0_84"/>
          <p:cNvSpPr txBox="1"/>
          <p:nvPr/>
        </p:nvSpPr>
        <p:spPr>
          <a:xfrm>
            <a:off x="578575" y="281915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5/10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2" name="Google Shape;142;g3841fe94856_0_84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43" name="Google Shape;143;g3841fe94856_0_84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4" name="Google Shape;144;g3841fe94856_0_84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g2e6ad209691_0_0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50" name="Google Shape;150;g2e6ad209691_0_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1" name="Google Shape;151;g2e6ad209691_0_0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g2e6ad209691_0_0"/>
          <p:cNvSpPr txBox="1"/>
          <p:nvPr/>
        </p:nvSpPr>
        <p:spPr>
          <a:xfrm>
            <a:off x="1547025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 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g2e6ad209691_0_0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5/10 minutos</a:t>
            </a: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800" u="none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4" name="Google Shape;154;g2e6ad209691_0_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55" name="Google Shape;155;g2e6ad209691_0_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" name="Google Shape;156;g2e6ad209691_0_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57" name="Google Shape;157;g2e6ad209691_0_0"/>
          <p:cNvSpPr txBox="1"/>
          <p:nvPr/>
        </p:nvSpPr>
        <p:spPr>
          <a:xfrm>
            <a:off x="2234775" y="2715675"/>
            <a:ext cx="5199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50"/>
              <a:buFont typeface="DM Sans"/>
              <a:buChar char="●"/>
            </a:pPr>
            <a:r>
              <a:rPr b="1" i="0" lang="es" sz="13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¿Te pareció complicado utilizar Grids?</a:t>
            </a:r>
            <a:endParaRPr b="1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999999"/>
              </a:buClr>
              <a:buSzPts val="1350"/>
              <a:buFont typeface="DM Sans"/>
              <a:buChar char="●"/>
            </a:pPr>
            <a:r>
              <a:rPr b="1" i="0" lang="es" sz="13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¿Qué dificultades se te presentaron y cómo las resolviste?</a:t>
            </a:r>
            <a:endParaRPr b="1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/>
        </p:nvSpPr>
        <p:spPr>
          <a:xfrm>
            <a:off x="1404863" y="19413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GRIDS</a:t>
            </a:r>
            <a:endParaRPr b="1" i="0" sz="4000" u="none" cap="none" strike="noStrike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12"/>
          <p:cNvSpPr txBox="1"/>
          <p:nvPr/>
        </p:nvSpPr>
        <p:spPr>
          <a:xfrm>
            <a:off x="475500" y="1474850"/>
            <a:ext cx="7169400" cy="29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50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crear una estructura básica con CSS Grid utilizando grid-template-columns y grid-template-rows.</a:t>
            </a:r>
            <a:endParaRPr b="0" i="0" sz="250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69" name="Google Shape;169;p12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170" name="Google Shape;170;p12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" name="Google Shape;171;p12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12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74" name="Google Shape;174;p1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044e0d7b2_0_46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1" name="Google Shape;181;g38044e0d7b2_0_46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182" name="Google Shape;182;g38044e0d7b2_0_46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3" name="Google Shape;183;g38044e0d7b2_0_46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g38044e0d7b2_0_46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85" name="Google Shape;185;g38044e0d7b2_0_46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6" name="Google Shape;186;g38044e0d7b2_0_46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87" name="Google Shape;187;g38044e0d7b2_0_46"/>
          <p:cNvSpPr txBox="1"/>
          <p:nvPr/>
        </p:nvSpPr>
        <p:spPr>
          <a:xfrm>
            <a:off x="943813" y="1310100"/>
            <a:ext cx="32982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7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1 – Estructura inicial en HTML:</a:t>
            </a:r>
            <a:endParaRPr b="1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&lt;section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"gallery"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"item"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sz="10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"item"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sz="10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"item"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sz="10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"item"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sz="10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"item"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sz="10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"item"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sz="10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&lt;/section&gt;</a:t>
            </a:r>
            <a:endParaRPr sz="10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88038"/>
              </a:solidFill>
              <a:highlight>
                <a:srgbClr val="E8E7E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8044e0d7b2_0_46"/>
          <p:cNvSpPr txBox="1"/>
          <p:nvPr/>
        </p:nvSpPr>
        <p:spPr>
          <a:xfrm>
            <a:off x="4726713" y="1310100"/>
            <a:ext cx="3473400" cy="3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2 – Estilos iniciales (sin grilla):</a:t>
            </a:r>
            <a:endParaRPr b="1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.contenedor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0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#f4f4f4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.item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0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#ddd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20px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text-align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0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188038"/>
              </a:solidFill>
              <a:highlight>
                <a:srgbClr val="E8E7E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88038"/>
              </a:solidFill>
              <a:highlight>
                <a:srgbClr val="E8E7E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88038"/>
              </a:solidFill>
              <a:highlight>
                <a:srgbClr val="E8E7E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044e0d7b2_0_61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4" name="Google Shape;194;g38044e0d7b2_0_61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195" name="Google Shape;195;g38044e0d7b2_0_61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6" name="Google Shape;196;g38044e0d7b2_0_61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g38044e0d7b2_0_61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98" name="Google Shape;198;g38044e0d7b2_0_61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99" name="Google Shape;199;g38044e0d7b2_0_61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00" name="Google Shape;200;g38044e0d7b2_0_61"/>
          <p:cNvSpPr txBox="1"/>
          <p:nvPr/>
        </p:nvSpPr>
        <p:spPr>
          <a:xfrm>
            <a:off x="610550" y="1361825"/>
            <a:ext cx="4233900" cy="30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 Definir la grilla</a:t>
            </a:r>
            <a:b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Convierte al contenedor en una grilla y define columnas y filas: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.contenedor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05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grid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grid-template-columns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repeat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1fr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3 columnas iguales */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2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E50000"/>
                </a:solidFill>
                <a:latin typeface="Courier New"/>
                <a:ea typeface="Courier New"/>
                <a:cs typeface="Courier New"/>
                <a:sym typeface="Courier New"/>
              </a:rPr>
              <a:t>grid-template-rows:</a:t>
            </a:r>
            <a:r>
              <a:rPr lang="es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repeat</a:t>
            </a:r>
            <a:r>
              <a:rPr lang="es" sz="105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(2, minmax(150px, auto));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2 filas de 150px */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gap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20px</a:t>
            </a: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s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espacio entre filas y columnas */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8044e0d7b2_0_61"/>
          <p:cNvSpPr txBox="1"/>
          <p:nvPr/>
        </p:nvSpPr>
        <p:spPr>
          <a:xfrm>
            <a:off x="4886025" y="1411150"/>
            <a:ext cx="3473400" cy="24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4. Resultado esperado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mostrarán 3 columnas y 2 filas con los 6 ítems distribuidos uniformemente.</a:t>
            </a:r>
            <a:b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Cada celda tendrá 150px de alto.</a:t>
            </a:r>
            <a:b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Habrá 20px de separación entre los elementos.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8044e0d7b2_0_61"/>
          <p:cNvSpPr txBox="1"/>
          <p:nvPr/>
        </p:nvSpPr>
        <p:spPr>
          <a:xfrm>
            <a:off x="1943825" y="4180475"/>
            <a:ext cx="50262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💡 Tip: agregá bordes o colores de fondo di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tintos para ver más claramente cómo se distribuyen las áreas de la grilla.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3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208" name="Google Shape;208;p1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9" name="Google Shape;209;p13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13"/>
          <p:cNvSpPr txBox="1"/>
          <p:nvPr/>
        </p:nvSpPr>
        <p:spPr>
          <a:xfrm>
            <a:off x="1461300" y="2208625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Galería de Imágenes con CSS Grid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2" name="Google Shape;212;p1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13" name="Google Shape;213;p1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g3841fe94856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25" y="0"/>
            <a:ext cx="37194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g3841fe94856_0_30"/>
          <p:cNvGrpSpPr/>
          <p:nvPr/>
        </p:nvGrpSpPr>
        <p:grpSpPr>
          <a:xfrm>
            <a:off x="457347" y="468299"/>
            <a:ext cx="431074" cy="431074"/>
            <a:chOff x="974706" y="2467173"/>
            <a:chExt cx="738900" cy="738900"/>
          </a:xfrm>
        </p:grpSpPr>
        <p:sp>
          <p:nvSpPr>
            <p:cNvPr id="221" name="Google Shape;221;g3841fe94856_0_3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2" name="Google Shape;222;g3841fe94856_0_30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" name="Google Shape;223;g3841fe94856_0_30"/>
          <p:cNvSpPr txBox="1"/>
          <p:nvPr/>
        </p:nvSpPr>
        <p:spPr>
          <a:xfrm>
            <a:off x="457350" y="1597125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Galería con Grid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4" name="Google Shape;224;g3841fe94856_0_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841fe94856_0_30"/>
          <p:cNvSpPr txBox="1"/>
          <p:nvPr/>
        </p:nvSpPr>
        <p:spPr>
          <a:xfrm>
            <a:off x="501450" y="2557125"/>
            <a:ext cx="41277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Aplicar lo aprendido para construir una galería de imágenes de 3 columnas y 3 filas, organizando los elementos con CSS Grid.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6" name="Google Shape;226;g3841fe94856_0_30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7" name="Google Shape;227;g3841fe94856_0_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841fe94856_0_30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95959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Amza Andrei</a:t>
            </a:r>
            <a:endParaRPr b="0" i="0" sz="1100" u="none" cap="none" strike="noStrike">
              <a:solidFill>
                <a:srgbClr val="59595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g38044e0d7b2_0_27"/>
          <p:cNvGrpSpPr/>
          <p:nvPr/>
        </p:nvGrpSpPr>
        <p:grpSpPr>
          <a:xfrm>
            <a:off x="476247" y="272549"/>
            <a:ext cx="431074" cy="431074"/>
            <a:chOff x="974706" y="2467173"/>
            <a:chExt cx="738900" cy="738900"/>
          </a:xfrm>
        </p:grpSpPr>
        <p:sp>
          <p:nvSpPr>
            <p:cNvPr id="234" name="Google Shape;234;g38044e0d7b2_0_2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5" name="Google Shape;235;g38044e0d7b2_0_2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6" name="Google Shape;236;g38044e0d7b2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8044e0d7b2_0_27"/>
          <p:cNvSpPr txBox="1"/>
          <p:nvPr/>
        </p:nvSpPr>
        <p:spPr>
          <a:xfrm>
            <a:off x="520350" y="830550"/>
            <a:ext cx="5903400" cy="3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Instrucciones: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Estructura HTML de la galería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Creá un contenedor que agrupe las imágenes. Dentro de él, colocá al menos 9 elementos (imágenes o bloques representativos).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Estilos iniciales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Asegurate de que cada ítem de la galería tenga un estilo básico que permita identificarlo fácilmente (bordes, colores de fondo o espaciado interno).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Definir la grilla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Configura el contenedor como una grilla con 3 columnas y 3 filas. Establecé también un espacio uniforme entre cada elemento.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Visualización esperada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galería debe mostrar los ítems distribuidos en un formato 3x3, con separación clara entre ellos y ocupando todo el a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cho del contenedor.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188038"/>
              </a:solidFill>
              <a:highlight>
                <a:srgbClr val="E8E7E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g38044e0d7b2_0_27"/>
          <p:cNvSpPr txBox="1"/>
          <p:nvPr/>
        </p:nvSpPr>
        <p:spPr>
          <a:xfrm>
            <a:off x="949450" y="27252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9" name="Google Shape;239;g38044e0d7b2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8044e0d7b2_0_27"/>
          <p:cNvSpPr txBox="1"/>
          <p:nvPr/>
        </p:nvSpPr>
        <p:spPr>
          <a:xfrm>
            <a:off x="6629850" y="703625"/>
            <a:ext cx="2514300" cy="28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💡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Tips de práctica: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Podés usar imágenes de tu propio proyecto en lugar de genéricas para empezar a integrar componentes reales.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Recordá que el uso de  gap mejora la legibilidad y organización visual.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41fe94856_0_108"/>
          <p:cNvSpPr txBox="1"/>
          <p:nvPr/>
        </p:nvSpPr>
        <p:spPr>
          <a:xfrm>
            <a:off x="1404863" y="19413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Diseño </a:t>
            </a:r>
            <a:r>
              <a:rPr b="1" i="0" lang="es" sz="4000" u="none" cap="none" strike="noStrike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Responsive</a:t>
            </a:r>
            <a:endParaRPr b="1" i="0" sz="4000" u="none" cap="none" strike="noStrike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41fe94856_0_72"/>
          <p:cNvSpPr txBox="1"/>
          <p:nvPr/>
        </p:nvSpPr>
        <p:spPr>
          <a:xfrm>
            <a:off x="1447300" y="8529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g3841fe94856_0_72"/>
          <p:cNvSpPr txBox="1"/>
          <p:nvPr/>
        </p:nvSpPr>
        <p:spPr>
          <a:xfrm>
            <a:off x="475500" y="1474850"/>
            <a:ext cx="7169400" cy="28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2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repasar cómo l</a:t>
            </a:r>
            <a:r>
              <a:rPr lang="es" sz="225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ograr la actividad anterior y como las</a:t>
            </a:r>
            <a:r>
              <a:rPr b="0" i="0" lang="es" sz="22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s" sz="22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media queries</a:t>
            </a:r>
            <a:r>
              <a:rPr b="0" i="0" lang="es" sz="22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 nos ayudan a que una grilla se adapte a diferentes tamaños de pantalla.</a:t>
            </a:r>
            <a:endParaRPr b="0" i="0" sz="22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52" name="Google Shape;252;g3841fe94856_0_72"/>
          <p:cNvGrpSpPr/>
          <p:nvPr/>
        </p:nvGrpSpPr>
        <p:grpSpPr>
          <a:xfrm>
            <a:off x="475501" y="783623"/>
            <a:ext cx="738900" cy="738900"/>
            <a:chOff x="473351" y="619523"/>
            <a:chExt cx="738900" cy="738900"/>
          </a:xfrm>
        </p:grpSpPr>
        <p:sp>
          <p:nvSpPr>
            <p:cNvPr id="253" name="Google Shape;253;g3841fe94856_0_72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4" name="Google Shape;254;g3841fe94856_0_72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g3841fe94856_0_72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5/10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6" name="Google Shape;256;g3841fe94856_0_7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57" name="Google Shape;257;g3841fe94856_0_7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8" name="Google Shape;258;g3841fe94856_0_7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g3841fe94856_0_146"/>
          <p:cNvGrpSpPr/>
          <p:nvPr/>
        </p:nvGrpSpPr>
        <p:grpSpPr>
          <a:xfrm>
            <a:off x="476247" y="272550"/>
            <a:ext cx="431074" cy="431074"/>
            <a:chOff x="974706" y="2467173"/>
            <a:chExt cx="738900" cy="738900"/>
          </a:xfrm>
        </p:grpSpPr>
        <p:sp>
          <p:nvSpPr>
            <p:cNvPr id="264" name="Google Shape;264;g3841fe94856_0_146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5" name="Google Shape;265;g3841fe94856_0_146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6" name="Google Shape;266;g3841fe94856_0_1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841fe94856_0_146"/>
          <p:cNvSpPr txBox="1"/>
          <p:nvPr/>
        </p:nvSpPr>
        <p:spPr>
          <a:xfrm>
            <a:off x="520350" y="830550"/>
            <a:ext cx="5903400" cy="2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Instrucciones: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Responsive Design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○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Agregá media queries para que la galería se adapte a distintos dispositivos: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tablets (pantallas medianas), reorganizá el diseño en 2 columnas.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móviles (pantallas pequeñas), reorganizá el diseño en 1 sola columna</a:t>
            </a:r>
            <a:r>
              <a:rPr lang="es" sz="900">
                <a:solidFill>
                  <a:schemeClr val="dk1"/>
                </a:solidFill>
              </a:rPr>
              <a:t>.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188038"/>
              </a:solidFill>
              <a:highlight>
                <a:srgbClr val="E8E7E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g3841fe94856_0_146"/>
          <p:cNvSpPr txBox="1"/>
          <p:nvPr/>
        </p:nvSpPr>
        <p:spPr>
          <a:xfrm>
            <a:off x="949450" y="27252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9" name="Google Shape;269;g3841fe94856_0_1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841fe94856_0_146"/>
          <p:cNvSpPr txBox="1"/>
          <p:nvPr/>
        </p:nvSpPr>
        <p:spPr>
          <a:xfrm>
            <a:off x="476250" y="2866300"/>
            <a:ext cx="5903400" cy="20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💡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Tips de práctica: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Verifica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la galería en distintos tamaños de pantalla para confirmar que el responsive funcione correctamente.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🌐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Accesibilidad: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asegúrate de que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imágenes tengan un atributo </a:t>
            </a:r>
            <a:r>
              <a:rPr b="1"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alt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descriptivo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de modo que los lectores de pantalla puedan interpretar el contenido correctamente y las páginas sean más inclusivas.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15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277" name="Google Shape;277;p1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8" name="Google Shape;278;p15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9" name="Google Shape;279;p15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s" sz="5000" u="none" cap="none" strike="noStrike">
                <a:solidFill>
                  <a:srgbClr val="E8E7E3"/>
                </a:solidFill>
                <a:latin typeface="Arial"/>
                <a:ea typeface="Arial"/>
                <a:cs typeface="Arial"/>
                <a:sym typeface="Arial"/>
              </a:rPr>
              <a:t>☕</a:t>
            </a:r>
            <a:endParaRPr b="0" i="0" sz="5000" u="none" cap="none" strike="noStrike">
              <a:solidFill>
                <a:srgbClr val="E8E7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b="1" i="0" sz="4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6" name="Google Shape;286;p18"/>
          <p:cNvSpPr txBox="1"/>
          <p:nvPr/>
        </p:nvSpPr>
        <p:spPr>
          <a:xfrm>
            <a:off x="2809200" y="2971950"/>
            <a:ext cx="35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¡En unos minutos volvemos!</a:t>
            </a:r>
            <a:endParaRPr b="0" i="0" sz="2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g3841fe94856_0_18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292" name="Google Shape;292;g3841fe94856_0_1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3" name="Google Shape;293;g3841fe94856_0_18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4" name="Google Shape;294;g3841fe94856_0_18"/>
          <p:cNvSpPr txBox="1"/>
          <p:nvPr/>
        </p:nvSpPr>
        <p:spPr>
          <a:xfrm>
            <a:off x="1461300" y="22086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Responsive </a:t>
            </a: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Design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5" name="Google Shape;295;g3841fe94856_0_18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6" name="Google Shape;296;g3841fe94856_0_18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97" name="Google Shape;297;g3841fe94856_0_18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98" name="Google Shape;298;g3841fe94856_0_18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25" y="0"/>
            <a:ext cx="37194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14"/>
          <p:cNvGrpSpPr/>
          <p:nvPr/>
        </p:nvGrpSpPr>
        <p:grpSpPr>
          <a:xfrm>
            <a:off x="457347" y="468298"/>
            <a:ext cx="431074" cy="431074"/>
            <a:chOff x="974706" y="2467173"/>
            <a:chExt cx="738900" cy="738900"/>
          </a:xfrm>
        </p:grpSpPr>
        <p:sp>
          <p:nvSpPr>
            <p:cNvPr id="305" name="Google Shape;305;p1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6" name="Google Shape;306;p14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" name="Google Shape;307;p14"/>
          <p:cNvSpPr txBox="1"/>
          <p:nvPr/>
        </p:nvSpPr>
        <p:spPr>
          <a:xfrm>
            <a:off x="501450" y="1081750"/>
            <a:ext cx="4056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Responsive Design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8" name="Google Shape;3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4"/>
          <p:cNvSpPr txBox="1"/>
          <p:nvPr/>
        </p:nvSpPr>
        <p:spPr>
          <a:xfrm>
            <a:off x="501450" y="2505200"/>
            <a:ext cx="4127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Adaptar a responsive (mobile, tablet, desktop) el index.html y otra página de tu proyecto, aplicando media queries y buenas prácticas.</a:t>
            </a:r>
            <a:endParaRPr b="0" i="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11" name="Google Shape;3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4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95959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Amza Andrei</a:t>
            </a:r>
            <a:endParaRPr b="0" i="0" sz="1100" u="none" cap="none" strike="noStrike">
              <a:solidFill>
                <a:srgbClr val="59595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g3841fe94856_0_44"/>
          <p:cNvGrpSpPr/>
          <p:nvPr/>
        </p:nvGrpSpPr>
        <p:grpSpPr>
          <a:xfrm>
            <a:off x="476247" y="272550"/>
            <a:ext cx="431074" cy="431074"/>
            <a:chOff x="974706" y="2467173"/>
            <a:chExt cx="738900" cy="738900"/>
          </a:xfrm>
        </p:grpSpPr>
        <p:sp>
          <p:nvSpPr>
            <p:cNvPr id="318" name="Google Shape;318;g3841fe94856_0_4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9" name="Google Shape;319;g3841fe94856_0_44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0" name="Google Shape;320;g3841fe94856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841fe94856_0_44"/>
          <p:cNvSpPr txBox="1"/>
          <p:nvPr/>
        </p:nvSpPr>
        <p:spPr>
          <a:xfrm>
            <a:off x="396675" y="779000"/>
            <a:ext cx="5728200" cy="3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Instrucciones:</a:t>
            </a:r>
            <a:endParaRPr b="1"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Partí del layout existente (el de la Actividad 1 o el de tu proyecto) y adaptalo de forma responsive utilizando CSS Grid y Flexbox.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s" sz="1100">
                <a:solidFill>
                  <a:schemeClr val="dk1"/>
                </a:solidFill>
              </a:rPr>
              <a:t>En lugar de definir estilos base para escritorio y “achicar” con </a:t>
            </a: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max-width</a:t>
            </a:r>
            <a:r>
              <a:rPr lang="es" sz="1100">
                <a:solidFill>
                  <a:schemeClr val="dk1"/>
                </a:solidFill>
              </a:rPr>
              <a:t>, vamos a </a:t>
            </a:r>
            <a:r>
              <a:rPr b="1" lang="es" sz="1100">
                <a:solidFill>
                  <a:schemeClr val="dk1"/>
                </a:solidFill>
              </a:rPr>
              <a:t>partir desde mobile</a:t>
            </a:r>
            <a:r>
              <a:rPr lang="es" sz="1100">
                <a:solidFill>
                  <a:schemeClr val="dk1"/>
                </a:solidFill>
              </a:rPr>
              <a:t> y escalar hacia pantallas más grandes con </a:t>
            </a: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min-width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@media (min-width: 600px) { … 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○"/>
            </a:pP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@media (min-width: 1024px) { … 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👉 Este enfoque permite mantener un CSS más limpio y predecible, ya que las reglas se </a:t>
            </a:r>
            <a:r>
              <a:rPr b="1" lang="es" sz="1100">
                <a:solidFill>
                  <a:schemeClr val="dk1"/>
                </a:solidFill>
              </a:rPr>
              <a:t>van sumando</a:t>
            </a:r>
            <a:r>
              <a:rPr lang="es" sz="1100">
                <a:solidFill>
                  <a:schemeClr val="dk1"/>
                </a:solidFill>
              </a:rPr>
              <a:t> a medida que aumenta el tamaño de pantalla.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2" name="Google Shape;322;g3841fe94856_0_44"/>
          <p:cNvSpPr txBox="1"/>
          <p:nvPr/>
        </p:nvSpPr>
        <p:spPr>
          <a:xfrm>
            <a:off x="949450" y="27252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23" name="Google Shape;323;g3841fe94856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841fe94856_0_44"/>
          <p:cNvSpPr txBox="1"/>
          <p:nvPr/>
        </p:nvSpPr>
        <p:spPr>
          <a:xfrm>
            <a:off x="6588650" y="924200"/>
            <a:ext cx="2504100" cy="4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💡Tips rápidos: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Agrupa cambios coherentes dentro de los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mismos breakpoints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evitando micro media queries aisladas que fragmenten el código.</a:t>
            </a:r>
            <a:b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Preferí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unidades fluidas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fr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%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rem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minmax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clamp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) para reducir la cantidad de media queries necesarias.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g38e24b0dad2_0_2"/>
          <p:cNvGrpSpPr/>
          <p:nvPr/>
        </p:nvGrpSpPr>
        <p:grpSpPr>
          <a:xfrm>
            <a:off x="476247" y="272550"/>
            <a:ext cx="431074" cy="431074"/>
            <a:chOff x="974706" y="2467173"/>
            <a:chExt cx="738900" cy="738900"/>
          </a:xfrm>
        </p:grpSpPr>
        <p:sp>
          <p:nvSpPr>
            <p:cNvPr id="330" name="Google Shape;330;g38e24b0dad2_0_2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1" name="Google Shape;331;g38e24b0dad2_0_2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g38e24b0dad2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8e24b0dad2_0_2"/>
          <p:cNvSpPr txBox="1"/>
          <p:nvPr/>
        </p:nvSpPr>
        <p:spPr>
          <a:xfrm>
            <a:off x="396675" y="779000"/>
            <a:ext cx="5728200" cy="41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Instrucciones: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AutoNum type="arabicPeriod" startAt="3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Ajustes por breakpoint (en ambos documentos):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👉Grid: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reordená las áreas usando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grid-template-areas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ajustá el número de columnas y filas según el ancho: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○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 columna en mobile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○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 columnas en tablet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○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 columnas en desktop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Componentes internos: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utilizá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Flexbox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donde corresponda (por ejemplo: navbar, listas horizontales, tarjetas, botones alineados, etc.).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Box model: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afiná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gap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margin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padding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border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mantener buena legibilidad y “aire” entre los elementos en cada breakpoint.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AutoNum type="arabicPeriod" startAt="4"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Medios fluidos: asegurá img, video { max-width: 100%; height: auto; }.</a:t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4" name="Google Shape;334;g38e24b0dad2_0_2"/>
          <p:cNvSpPr txBox="1"/>
          <p:nvPr/>
        </p:nvSpPr>
        <p:spPr>
          <a:xfrm>
            <a:off x="949450" y="27252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35" name="Google Shape;335;g38e24b0dad2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8e24b0dad2_0_2"/>
          <p:cNvSpPr txBox="1"/>
          <p:nvPr/>
        </p:nvSpPr>
        <p:spPr>
          <a:xfrm>
            <a:off x="6588650" y="924200"/>
            <a:ext cx="2504100" cy="41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💡Tips rápidos: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Prueba las </a:t>
            </a:r>
            <a:r>
              <a:rPr b="1" lang="es" sz="1100">
                <a:solidFill>
                  <a:schemeClr val="dk1"/>
                </a:solidFill>
              </a:rPr>
              <a:t>transiciones de ancho manualmente</a:t>
            </a:r>
            <a:r>
              <a:rPr lang="es" sz="1100">
                <a:solidFill>
                  <a:schemeClr val="dk1"/>
                </a:solidFill>
              </a:rPr>
              <a:t> arrastrando la ventana y corregí “saltos” visuales o desbordes inesperados.</a:t>
            </a:r>
            <a:endParaRPr sz="11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Sostén la </a:t>
            </a:r>
            <a:r>
              <a:rPr b="1" lang="es" sz="1100">
                <a:solidFill>
                  <a:schemeClr val="dk1"/>
                </a:solidFill>
              </a:rPr>
              <a:t>misma estrategia responsive en ambos documentos</a:t>
            </a:r>
            <a:r>
              <a:rPr lang="es" sz="1100">
                <a:solidFill>
                  <a:schemeClr val="dk1"/>
                </a:solidFill>
              </a:rPr>
              <a:t>:</a:t>
            </a:r>
            <a:br>
              <a:rPr lang="e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</a:rPr>
              <a:t>Si usas </a:t>
            </a: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min-width</a:t>
            </a:r>
            <a:r>
              <a:rPr lang="es" sz="1100">
                <a:solidFill>
                  <a:schemeClr val="dk1"/>
                </a:solidFill>
              </a:rPr>
              <a:t> (mobile first), mantenlo en todas las hojas de estilo para asegurar coherencia y evitar comportamientos impredecibles.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41fe94856_0_96"/>
          <p:cNvSpPr txBox="1"/>
          <p:nvPr/>
        </p:nvSpPr>
        <p:spPr>
          <a:xfrm>
            <a:off x="1447300" y="8529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2" name="Google Shape;342;g3841fe94856_0_96"/>
          <p:cNvSpPr txBox="1"/>
          <p:nvPr/>
        </p:nvSpPr>
        <p:spPr>
          <a:xfrm>
            <a:off x="475500" y="1474850"/>
            <a:ext cx="7169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2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repasar cómo l</a:t>
            </a:r>
            <a:r>
              <a:rPr lang="es" sz="225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ograr la actividad anterior y como las</a:t>
            </a:r>
            <a:r>
              <a:rPr b="0" i="0" lang="es" sz="22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s" sz="22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media queries</a:t>
            </a:r>
            <a:r>
              <a:rPr b="0" i="0" lang="es" sz="22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 nos ayudan </a:t>
            </a:r>
            <a:r>
              <a:rPr lang="es" sz="225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a que </a:t>
            </a:r>
            <a:r>
              <a:rPr b="0" i="0" lang="es" sz="22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cualquier elemento se adapte a diferentes tamaños de pantalla.</a:t>
            </a:r>
            <a:endParaRPr b="0" i="0" sz="22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43" name="Google Shape;343;g3841fe94856_0_96"/>
          <p:cNvGrpSpPr/>
          <p:nvPr/>
        </p:nvGrpSpPr>
        <p:grpSpPr>
          <a:xfrm>
            <a:off x="475501" y="783623"/>
            <a:ext cx="738900" cy="738900"/>
            <a:chOff x="473351" y="619523"/>
            <a:chExt cx="738900" cy="738900"/>
          </a:xfrm>
        </p:grpSpPr>
        <p:sp>
          <p:nvSpPr>
            <p:cNvPr id="344" name="Google Shape;344;g3841fe94856_0_96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5" name="Google Shape;345;g3841fe94856_0_96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6" name="Google Shape;346;g3841fe94856_0_96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5/10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47" name="Google Shape;347;g3841fe94856_0_96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48" name="Google Shape;348;g3841fe94856_0_96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9" name="Google Shape;349;g3841fe94856_0_96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"/>
          <p:cNvSpPr txBox="1"/>
          <p:nvPr/>
        </p:nvSpPr>
        <p:spPr>
          <a:xfrm>
            <a:off x="1461300" y="14789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5" name="Google Shape;355;p31"/>
          <p:cNvSpPr txBox="1"/>
          <p:nvPr/>
        </p:nvSpPr>
        <p:spPr>
          <a:xfrm>
            <a:off x="2998200" y="2248575"/>
            <a:ext cx="314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 invitamos a abrir el micrófono y compartir tus dudas o ponerlas en el chat.</a:t>
            </a:r>
            <a:endParaRPr b="0" i="0" sz="2000" u="sng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/>
          <p:nvPr/>
        </p:nvSpPr>
        <p:spPr>
          <a:xfrm>
            <a:off x="2109143" y="2502363"/>
            <a:ext cx="49257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b="0" i="0" lang="es" sz="13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Propiedades de Grid</a:t>
            </a:r>
            <a:endParaRPr b="0" i="0" sz="135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b="0" i="0" lang="es" sz="13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Diseño responsive</a:t>
            </a:r>
            <a:endParaRPr b="0" i="0" sz="135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b="1" i="0" lang="es" sz="4000" u="none" cap="none" strike="noStrik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i="0" sz="4000" u="none" cap="none" strike="noStrik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b="0" i="0" sz="4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Opina y valora</a:t>
            </a:r>
            <a:r>
              <a:rPr b="1" i="0" lang="es" sz="4000" u="none" cap="none" strike="noStrik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i="0" sz="4000" u="none" cap="none" strike="noStrik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</a:t>
            </a:r>
            <a:endParaRPr b="1" i="0" sz="4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6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8044e0d7b2_0_150"/>
          <p:cNvSpPr txBox="1"/>
          <p:nvPr/>
        </p:nvSpPr>
        <p:spPr>
          <a:xfrm>
            <a:off x="1869450" y="1863750"/>
            <a:ext cx="5405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Educación digital</a:t>
            </a:r>
            <a:endParaRPr b="1" i="0" sz="40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para el mundo real</a:t>
            </a:r>
            <a:r>
              <a:rPr b="1" i="0" lang="e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b="1" i="0" sz="40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